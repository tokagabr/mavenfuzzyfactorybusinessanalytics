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Montserrat Bold" charset="1" panose="00000800000000000000"/>
      <p:regular r:id="rId26"/>
    </p:embeddedFont>
    <p:embeddedFont>
      <p:font typeface="Noto Serif Ethiopic Condensed" charset="1" panose="02020502060505020204"/>
      <p:regular r:id="rId27"/>
    </p:embeddedFont>
    <p:embeddedFont>
      <p:font typeface="Montserrat" charset="1" panose="00000500000000000000"/>
      <p:regular r:id="rId28"/>
    </p:embeddedFont>
    <p:embeddedFont>
      <p:font typeface="Work Sans Semi-Bold" charset="1" panose="00000000000000000000"/>
      <p:regular r:id="rId29"/>
    </p:embeddedFont>
    <p:embeddedFont>
      <p:font typeface="DM Sans Bold" charset="1" panose="00000000000000000000"/>
      <p:regular r:id="rId30"/>
    </p:embeddedFont>
    <p:embeddedFont>
      <p:font typeface="DM Sans" charset="1" panose="00000000000000000000"/>
      <p:regular r:id="rId31"/>
    </p:embeddedFont>
    <p:embeddedFont>
      <p:font typeface="Work Sans Bold" charset="1" panose="00000000000000000000"/>
      <p:regular r:id="rId32"/>
    </p:embeddedFont>
    <p:embeddedFont>
      <p:font typeface="Canva Sans Bold" charset="1" panose="020B0803030501040103"/>
      <p:regular r:id="rId33"/>
    </p:embeddedFont>
    <p:embeddedFont>
      <p:font typeface="Montserrat Heavy" charset="1" panose="00000A00000000000000"/>
      <p:regular r:id="rId34"/>
    </p:embeddedFont>
    <p:embeddedFont>
      <p:font typeface="Work Sans" charset="1" panose="00000000000000000000"/>
      <p:regular r:id="rId35"/>
    </p:embeddedFont>
    <p:embeddedFont>
      <p:font typeface="Canva Sans" charset="1" panose="020B0503030501040103"/>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embeddings/oleObject3.bin" Type="http://schemas.openxmlformats.org/officeDocument/2006/relationships/oleObject"/><Relationship Id="rId4"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embeddings/oleObject4.bin" Type="http://schemas.openxmlformats.org/officeDocument/2006/relationships/oleObject"/><Relationship Id="rId4"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embeddings/oleObject5.bin" Type="http://schemas.openxmlformats.org/officeDocument/2006/relationships/oleObject"/><Relationship Id="rId4"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embeddings/oleObject6.bin" Type="http://schemas.openxmlformats.org/officeDocument/2006/relationships/oleObjec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embeddings/oleObject7.bin" Type="http://schemas.openxmlformats.org/officeDocument/2006/relationships/oleObject"/><Relationship Id="rId4" Target="../media/image4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svg" Type="http://schemas.openxmlformats.org/officeDocument/2006/relationships/image"/><Relationship Id="rId4" Target="../media/image4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999" r="0" b="-8999"/>
            </a:stretch>
          </a:blipFill>
        </p:spPr>
      </p:sp>
      <p:sp>
        <p:nvSpPr>
          <p:cNvPr name="Freeform 3" id="3"/>
          <p:cNvSpPr/>
          <p:nvPr/>
        </p:nvSpPr>
        <p:spPr>
          <a:xfrm flipH="false" flipV="false" rot="0">
            <a:off x="14095674" y="0"/>
            <a:ext cx="4850445" cy="2454956"/>
          </a:xfrm>
          <a:custGeom>
            <a:avLst/>
            <a:gdLst/>
            <a:ahLst/>
            <a:cxnLst/>
            <a:rect r="r" b="b" t="t" l="l"/>
            <a:pathLst>
              <a:path h="2454956" w="4850445">
                <a:moveTo>
                  <a:pt x="0" y="0"/>
                </a:moveTo>
                <a:lnTo>
                  <a:pt x="4850445" y="0"/>
                </a:lnTo>
                <a:lnTo>
                  <a:pt x="4850445" y="2454956"/>
                </a:lnTo>
                <a:lnTo>
                  <a:pt x="0" y="2454956"/>
                </a:lnTo>
                <a:lnTo>
                  <a:pt x="0" y="0"/>
                </a:lnTo>
                <a:close/>
              </a:path>
            </a:pathLst>
          </a:custGeom>
          <a:blipFill>
            <a:blip r:embed="rId3"/>
            <a:stretch>
              <a:fillRect l="0" t="0" r="0" b="-11415"/>
            </a:stretch>
          </a:blipFill>
        </p:spPr>
      </p:sp>
      <p:sp>
        <p:nvSpPr>
          <p:cNvPr name="Freeform 4" id="4"/>
          <p:cNvSpPr/>
          <p:nvPr/>
        </p:nvSpPr>
        <p:spPr>
          <a:xfrm flipH="false" flipV="false" rot="0">
            <a:off x="444742" y="2454956"/>
            <a:ext cx="11301259" cy="3446884"/>
          </a:xfrm>
          <a:custGeom>
            <a:avLst/>
            <a:gdLst/>
            <a:ahLst/>
            <a:cxnLst/>
            <a:rect r="r" b="b" t="t" l="l"/>
            <a:pathLst>
              <a:path h="3446884" w="11301259">
                <a:moveTo>
                  <a:pt x="0" y="0"/>
                </a:moveTo>
                <a:lnTo>
                  <a:pt x="11301259" y="0"/>
                </a:lnTo>
                <a:lnTo>
                  <a:pt x="11301259" y="3446884"/>
                </a:lnTo>
                <a:lnTo>
                  <a:pt x="0" y="3446884"/>
                </a:lnTo>
                <a:lnTo>
                  <a:pt x="0" y="0"/>
                </a:lnTo>
                <a:close/>
              </a:path>
            </a:pathLst>
          </a:custGeom>
          <a:blipFill>
            <a:blip r:embed="rId4"/>
            <a:stretch>
              <a:fillRect l="0" t="0" r="0" b="0"/>
            </a:stretch>
          </a:blipFill>
        </p:spPr>
      </p:sp>
      <p:sp>
        <p:nvSpPr>
          <p:cNvPr name="TextBox 5" id="5"/>
          <p:cNvSpPr txBox="true"/>
          <p:nvPr/>
        </p:nvSpPr>
        <p:spPr>
          <a:xfrm rot="0">
            <a:off x="801866" y="5770303"/>
            <a:ext cx="9725558" cy="863829"/>
          </a:xfrm>
          <a:prstGeom prst="rect">
            <a:avLst/>
          </a:prstGeom>
        </p:spPr>
        <p:txBody>
          <a:bodyPr anchor="t" rtlCol="false" tIns="0" lIns="0" bIns="0" rIns="0">
            <a:spAutoFit/>
          </a:bodyPr>
          <a:lstStyle/>
          <a:p>
            <a:pPr algn="l">
              <a:lnSpc>
                <a:spcPts val="6395"/>
              </a:lnSpc>
            </a:pPr>
            <a:r>
              <a:rPr lang="en-US" sz="6951" b="true">
                <a:solidFill>
                  <a:srgbClr val="FFFFFF"/>
                </a:solidFill>
                <a:latin typeface="Montserrat Bold"/>
                <a:ea typeface="Montserrat Bold"/>
                <a:cs typeface="Montserrat Bold"/>
                <a:sym typeface="Montserrat Bold"/>
              </a:rPr>
              <a:t>MavenFuzzyFactory</a:t>
            </a:r>
          </a:p>
        </p:txBody>
      </p:sp>
      <p:sp>
        <p:nvSpPr>
          <p:cNvPr name="TextBox 6" id="6"/>
          <p:cNvSpPr txBox="true"/>
          <p:nvPr/>
        </p:nvSpPr>
        <p:spPr>
          <a:xfrm rot="0">
            <a:off x="6018602" y="6473795"/>
            <a:ext cx="8857274" cy="1610292"/>
          </a:xfrm>
          <a:prstGeom prst="rect">
            <a:avLst/>
          </a:prstGeom>
        </p:spPr>
        <p:txBody>
          <a:bodyPr anchor="t" rtlCol="false" tIns="0" lIns="0" bIns="0" rIns="0">
            <a:spAutoFit/>
          </a:bodyPr>
          <a:lstStyle/>
          <a:p>
            <a:pPr algn="l">
              <a:lnSpc>
                <a:spcPts val="11843"/>
              </a:lnSpc>
            </a:pPr>
            <a:r>
              <a:rPr lang="en-US" sz="12873">
                <a:solidFill>
                  <a:srgbClr val="6EC6FF"/>
                </a:solidFill>
                <a:latin typeface="Noto Serif Ethiopic Condensed"/>
                <a:ea typeface="Noto Serif Ethiopic Condensed"/>
                <a:cs typeface="Noto Serif Ethiopic Condensed"/>
                <a:sym typeface="Noto Serif Ethiopic Condensed"/>
              </a:rPr>
              <a:t>Analysis</a:t>
            </a:r>
          </a:p>
        </p:txBody>
      </p:sp>
      <p:sp>
        <p:nvSpPr>
          <p:cNvPr name="TextBox 7" id="7"/>
          <p:cNvSpPr txBox="true"/>
          <p:nvPr/>
        </p:nvSpPr>
        <p:spPr>
          <a:xfrm rot="0">
            <a:off x="3447255" y="9328833"/>
            <a:ext cx="10316047" cy="684758"/>
          </a:xfrm>
          <a:prstGeom prst="rect">
            <a:avLst/>
          </a:prstGeom>
        </p:spPr>
        <p:txBody>
          <a:bodyPr anchor="t" rtlCol="false" tIns="0" lIns="0" bIns="0" rIns="0">
            <a:spAutoFit/>
          </a:bodyPr>
          <a:lstStyle/>
          <a:p>
            <a:pPr algn="l">
              <a:lnSpc>
                <a:spcPts val="2736"/>
              </a:lnSpc>
            </a:pPr>
            <a:r>
              <a:rPr lang="en-US" sz="2379" spc="-130">
                <a:solidFill>
                  <a:srgbClr val="FFFFFF"/>
                </a:solidFill>
                <a:latin typeface="Montserrat"/>
                <a:ea typeface="Montserrat"/>
                <a:cs typeface="Montserrat"/>
                <a:sym typeface="Montserrat"/>
              </a:rPr>
              <a:t>Presented by  : Zeina Ahmed, Toka Gabr,  Omar El Yemani, Saleh Hossam</a:t>
            </a:r>
          </a:p>
          <a:p>
            <a:pPr algn="l">
              <a:lnSpc>
                <a:spcPts val="2736"/>
              </a:lnSpc>
            </a:pPr>
          </a:p>
        </p:txBody>
      </p:sp>
      <p:sp>
        <p:nvSpPr>
          <p:cNvPr name="TextBox 8" id="8"/>
          <p:cNvSpPr txBox="true"/>
          <p:nvPr/>
        </p:nvSpPr>
        <p:spPr>
          <a:xfrm rot="0">
            <a:off x="871433" y="6700807"/>
            <a:ext cx="9586425" cy="406684"/>
          </a:xfrm>
          <a:prstGeom prst="rect">
            <a:avLst/>
          </a:prstGeom>
        </p:spPr>
        <p:txBody>
          <a:bodyPr anchor="t" rtlCol="false" tIns="0" lIns="0" bIns="0" rIns="0">
            <a:spAutoFit/>
          </a:bodyPr>
          <a:lstStyle/>
          <a:p>
            <a:pPr algn="l" marL="0" indent="0" lvl="0">
              <a:lnSpc>
                <a:spcPts val="2966"/>
              </a:lnSpc>
            </a:pPr>
            <a:r>
              <a:rPr lang="en-US" b="true" sz="3122" spc="-171">
                <a:solidFill>
                  <a:srgbClr val="F0F2F5"/>
                </a:solidFill>
                <a:latin typeface="Work Sans Semi-Bold"/>
                <a:ea typeface="Work Sans Semi-Bold"/>
                <a:cs typeface="Work Sans Semi-Bold"/>
                <a:sym typeface="Work Sans Semi-Bold"/>
              </a:rPr>
              <a:t>Busin</a:t>
            </a:r>
            <a:r>
              <a:rPr lang="en-US" b="true" sz="3122" spc="-171">
                <a:solidFill>
                  <a:srgbClr val="F0F2F5"/>
                </a:solidFill>
                <a:latin typeface="Work Sans Semi-Bold"/>
                <a:ea typeface="Work Sans Semi-Bold"/>
                <a:cs typeface="Work Sans Semi-Bold"/>
                <a:sym typeface="Work Sans Semi-Bold"/>
              </a:rPr>
              <a:t>ess analytics hackathon </a:t>
            </a:r>
          </a:p>
        </p:txBody>
      </p:sp>
      <p:sp>
        <p:nvSpPr>
          <p:cNvPr name="TextBox 9" id="9"/>
          <p:cNvSpPr txBox="true"/>
          <p:nvPr/>
        </p:nvSpPr>
        <p:spPr>
          <a:xfrm rot="0">
            <a:off x="871433" y="7069390"/>
            <a:ext cx="5223939" cy="439631"/>
          </a:xfrm>
          <a:prstGeom prst="rect">
            <a:avLst/>
          </a:prstGeom>
        </p:spPr>
        <p:txBody>
          <a:bodyPr anchor="t" rtlCol="false" tIns="0" lIns="0" bIns="0" rIns="0">
            <a:spAutoFit/>
          </a:bodyPr>
          <a:lstStyle/>
          <a:p>
            <a:pPr algn="ctr">
              <a:lnSpc>
                <a:spcPts val="3694"/>
              </a:lnSpc>
              <a:spcBef>
                <a:spcPct val="0"/>
              </a:spcBef>
            </a:pPr>
            <a:r>
              <a:rPr lang="en-US" b="true" sz="2638">
                <a:solidFill>
                  <a:srgbClr val="FFFFFF"/>
                </a:solidFill>
                <a:latin typeface="DM Sans Bold"/>
                <a:ea typeface="DM Sans Bold"/>
                <a:cs typeface="DM Sans Bold"/>
                <a:sym typeface="DM Sans Bold"/>
              </a:rPr>
              <a:t>E-Commerce Growth Challenge </a:t>
            </a:r>
          </a:p>
        </p:txBody>
      </p:sp>
      <p:sp>
        <p:nvSpPr>
          <p:cNvPr name="TextBox 10" id="10"/>
          <p:cNvSpPr txBox="true"/>
          <p:nvPr/>
        </p:nvSpPr>
        <p:spPr>
          <a:xfrm rot="0">
            <a:off x="7151447" y="9647399"/>
            <a:ext cx="1992553" cy="224277"/>
          </a:xfrm>
          <a:prstGeom prst="rect">
            <a:avLst/>
          </a:prstGeom>
        </p:spPr>
        <p:txBody>
          <a:bodyPr anchor="t" rtlCol="false" tIns="0" lIns="0" bIns="0" rIns="0">
            <a:spAutoFit/>
          </a:bodyPr>
          <a:lstStyle/>
          <a:p>
            <a:pPr algn="ctr">
              <a:lnSpc>
                <a:spcPts val="1888"/>
              </a:lnSpc>
              <a:spcBef>
                <a:spcPct val="0"/>
              </a:spcBef>
            </a:pPr>
            <a:r>
              <a:rPr lang="en-US" sz="1348">
                <a:solidFill>
                  <a:srgbClr val="FFFFFF"/>
                </a:solidFill>
                <a:latin typeface="DM Sans"/>
                <a:ea typeface="DM Sans"/>
                <a:cs typeface="DM Sans"/>
                <a:sym typeface="DM Sans"/>
              </a:rPr>
              <a:t>Zesto Team | March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grpSp>
        <p:nvGrpSpPr>
          <p:cNvPr name="Group 5" id="5"/>
          <p:cNvGrpSpPr/>
          <p:nvPr/>
        </p:nvGrpSpPr>
        <p:grpSpPr>
          <a:xfrm rot="0">
            <a:off x="6407962" y="2682025"/>
            <a:ext cx="5166505" cy="2741957"/>
            <a:chOff x="0" y="0"/>
            <a:chExt cx="1208134" cy="641178"/>
          </a:xfrm>
        </p:grpSpPr>
        <p:sp>
          <p:nvSpPr>
            <p:cNvPr name="Freeform 6" id="6"/>
            <p:cNvSpPr/>
            <p:nvPr/>
          </p:nvSpPr>
          <p:spPr>
            <a:xfrm flipH="false" flipV="false" rot="0">
              <a:off x="0" y="0"/>
              <a:ext cx="1208134" cy="641178"/>
            </a:xfrm>
            <a:custGeom>
              <a:avLst/>
              <a:gdLst/>
              <a:ahLst/>
              <a:cxnLst/>
              <a:rect r="r" b="b" t="t" l="l"/>
              <a:pathLst>
                <a:path h="641178" w="1208134">
                  <a:moveTo>
                    <a:pt x="40459" y="0"/>
                  </a:moveTo>
                  <a:lnTo>
                    <a:pt x="1167675" y="0"/>
                  </a:lnTo>
                  <a:cubicBezTo>
                    <a:pt x="1178405" y="0"/>
                    <a:pt x="1188696" y="4263"/>
                    <a:pt x="1196283" y="11850"/>
                  </a:cubicBezTo>
                  <a:cubicBezTo>
                    <a:pt x="1203871" y="19438"/>
                    <a:pt x="1208134" y="29729"/>
                    <a:pt x="1208134" y="40459"/>
                  </a:cubicBezTo>
                  <a:lnTo>
                    <a:pt x="1208134" y="600719"/>
                  </a:lnTo>
                  <a:cubicBezTo>
                    <a:pt x="1208134" y="611450"/>
                    <a:pt x="1203871" y="621741"/>
                    <a:pt x="1196283" y="629328"/>
                  </a:cubicBezTo>
                  <a:cubicBezTo>
                    <a:pt x="1188696" y="636916"/>
                    <a:pt x="1178405" y="641178"/>
                    <a:pt x="1167675" y="641178"/>
                  </a:cubicBezTo>
                  <a:lnTo>
                    <a:pt x="40459" y="641178"/>
                  </a:lnTo>
                  <a:cubicBezTo>
                    <a:pt x="29729" y="641178"/>
                    <a:pt x="19438" y="636916"/>
                    <a:pt x="11850" y="629328"/>
                  </a:cubicBezTo>
                  <a:cubicBezTo>
                    <a:pt x="4263" y="621741"/>
                    <a:pt x="0" y="611450"/>
                    <a:pt x="0" y="600719"/>
                  </a:cubicBezTo>
                  <a:lnTo>
                    <a:pt x="0" y="40459"/>
                  </a:lnTo>
                  <a:cubicBezTo>
                    <a:pt x="0" y="29729"/>
                    <a:pt x="4263" y="19438"/>
                    <a:pt x="11850" y="11850"/>
                  </a:cubicBezTo>
                  <a:cubicBezTo>
                    <a:pt x="19438" y="4263"/>
                    <a:pt x="29729" y="0"/>
                    <a:pt x="40459" y="0"/>
                  </a:cubicBezTo>
                  <a:close/>
                </a:path>
              </a:pathLst>
            </a:custGeom>
            <a:solidFill>
              <a:srgbClr val="B7E6F3"/>
            </a:solidFill>
            <a:ln w="19050" cap="rnd">
              <a:solidFill>
                <a:srgbClr val="FFFFFF"/>
              </a:solidFill>
              <a:prstDash val="solid"/>
              <a:round/>
            </a:ln>
          </p:spPr>
        </p:sp>
        <p:sp>
          <p:nvSpPr>
            <p:cNvPr name="TextBox 7" id="7"/>
            <p:cNvSpPr txBox="true"/>
            <p:nvPr/>
          </p:nvSpPr>
          <p:spPr>
            <a:xfrm>
              <a:off x="0" y="47625"/>
              <a:ext cx="1208134" cy="593553"/>
            </a:xfrm>
            <a:prstGeom prst="rect">
              <a:avLst/>
            </a:prstGeom>
          </p:spPr>
          <p:txBody>
            <a:bodyPr anchor="ctr" rtlCol="false" tIns="50800" lIns="50800" bIns="50800" rIns="50800"/>
            <a:lstStyle/>
            <a:p>
              <a:pPr algn="ctr">
                <a:lnSpc>
                  <a:spcPts val="1924"/>
                </a:lnSpc>
              </a:pPr>
            </a:p>
          </p:txBody>
        </p:sp>
      </p:grpSp>
      <p:grpSp>
        <p:nvGrpSpPr>
          <p:cNvPr name="Group 8" id="8"/>
          <p:cNvGrpSpPr/>
          <p:nvPr/>
        </p:nvGrpSpPr>
        <p:grpSpPr>
          <a:xfrm rot="0">
            <a:off x="11574467" y="2931100"/>
            <a:ext cx="5166505" cy="2320530"/>
            <a:chOff x="0" y="0"/>
            <a:chExt cx="1208134" cy="542632"/>
          </a:xfrm>
        </p:grpSpPr>
        <p:sp>
          <p:nvSpPr>
            <p:cNvPr name="Freeform 9" id="9"/>
            <p:cNvSpPr/>
            <p:nvPr/>
          </p:nvSpPr>
          <p:spPr>
            <a:xfrm flipH="false" flipV="false" rot="0">
              <a:off x="0" y="0"/>
              <a:ext cx="1208134" cy="542632"/>
            </a:xfrm>
            <a:custGeom>
              <a:avLst/>
              <a:gdLst/>
              <a:ahLst/>
              <a:cxnLst/>
              <a:rect r="r" b="b" t="t" l="l"/>
              <a:pathLst>
                <a:path h="542632" w="1208134">
                  <a:moveTo>
                    <a:pt x="40459" y="0"/>
                  </a:moveTo>
                  <a:lnTo>
                    <a:pt x="1167675" y="0"/>
                  </a:lnTo>
                  <a:cubicBezTo>
                    <a:pt x="1178405" y="0"/>
                    <a:pt x="1188696" y="4263"/>
                    <a:pt x="1196283" y="11850"/>
                  </a:cubicBezTo>
                  <a:cubicBezTo>
                    <a:pt x="1203871" y="19438"/>
                    <a:pt x="1208134" y="29729"/>
                    <a:pt x="1208134" y="40459"/>
                  </a:cubicBezTo>
                  <a:lnTo>
                    <a:pt x="1208134" y="502173"/>
                  </a:lnTo>
                  <a:cubicBezTo>
                    <a:pt x="1208134" y="512903"/>
                    <a:pt x="1203871" y="523194"/>
                    <a:pt x="1196283" y="530782"/>
                  </a:cubicBezTo>
                  <a:cubicBezTo>
                    <a:pt x="1188696" y="538369"/>
                    <a:pt x="1178405" y="542632"/>
                    <a:pt x="1167675" y="542632"/>
                  </a:cubicBezTo>
                  <a:lnTo>
                    <a:pt x="40459" y="542632"/>
                  </a:lnTo>
                  <a:cubicBezTo>
                    <a:pt x="29729" y="542632"/>
                    <a:pt x="19438" y="538369"/>
                    <a:pt x="11850" y="530782"/>
                  </a:cubicBezTo>
                  <a:cubicBezTo>
                    <a:pt x="4263" y="523194"/>
                    <a:pt x="0" y="512903"/>
                    <a:pt x="0" y="502173"/>
                  </a:cubicBezTo>
                  <a:lnTo>
                    <a:pt x="0" y="40459"/>
                  </a:lnTo>
                  <a:cubicBezTo>
                    <a:pt x="0" y="29729"/>
                    <a:pt x="4263" y="19438"/>
                    <a:pt x="11850" y="11850"/>
                  </a:cubicBezTo>
                  <a:cubicBezTo>
                    <a:pt x="19438" y="4263"/>
                    <a:pt x="29729" y="0"/>
                    <a:pt x="40459" y="0"/>
                  </a:cubicBezTo>
                  <a:close/>
                </a:path>
              </a:pathLst>
            </a:custGeom>
            <a:ln w="19050" cap="rnd">
              <a:solidFill>
                <a:srgbClr val="FFFFFF"/>
              </a:solidFill>
              <a:prstDash val="solid"/>
              <a:round/>
            </a:ln>
          </p:spPr>
        </p:sp>
        <p:sp>
          <p:nvSpPr>
            <p:cNvPr name="TextBox 10" id="10"/>
            <p:cNvSpPr txBox="true"/>
            <p:nvPr/>
          </p:nvSpPr>
          <p:spPr>
            <a:xfrm>
              <a:off x="0" y="47625"/>
              <a:ext cx="1208134" cy="495007"/>
            </a:xfrm>
            <a:prstGeom prst="rect">
              <a:avLst/>
            </a:prstGeom>
          </p:spPr>
          <p:txBody>
            <a:bodyPr anchor="ctr" rtlCol="false" tIns="50800" lIns="50800" bIns="50800" rIns="50800"/>
            <a:lstStyle/>
            <a:p>
              <a:pPr algn="ctr">
                <a:lnSpc>
                  <a:spcPts val="1924"/>
                </a:lnSpc>
              </a:pPr>
            </a:p>
          </p:txBody>
        </p:sp>
      </p:grpSp>
      <p:sp>
        <p:nvSpPr>
          <p:cNvPr name="Freeform 11" id="11"/>
          <p:cNvSpPr/>
          <p:nvPr/>
        </p:nvSpPr>
        <p:spPr>
          <a:xfrm flipH="false" flipV="false" rot="0">
            <a:off x="13601700" y="-795842"/>
            <a:ext cx="7315200" cy="3136392"/>
          </a:xfrm>
          <a:custGeom>
            <a:avLst/>
            <a:gdLst/>
            <a:ahLst/>
            <a:cxnLst/>
            <a:rect r="r" b="b" t="t" l="l"/>
            <a:pathLst>
              <a:path h="3136392" w="7315200">
                <a:moveTo>
                  <a:pt x="0" y="0"/>
                </a:moveTo>
                <a:lnTo>
                  <a:pt x="7315200" y="0"/>
                </a:lnTo>
                <a:lnTo>
                  <a:pt x="7315200" y="3136392"/>
                </a:lnTo>
                <a:lnTo>
                  <a:pt x="0" y="3136392"/>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401486" y="896179"/>
            <a:ext cx="9994673" cy="1147728"/>
          </a:xfrm>
          <a:prstGeom prst="rect">
            <a:avLst/>
          </a:prstGeom>
        </p:spPr>
        <p:txBody>
          <a:bodyPr anchor="t" rtlCol="false" tIns="0" lIns="0" bIns="0" rIns="0">
            <a:spAutoFit/>
          </a:bodyPr>
          <a:lstStyle/>
          <a:p>
            <a:pPr algn="ctr">
              <a:lnSpc>
                <a:spcPts val="4366"/>
              </a:lnSpc>
            </a:pPr>
            <a:r>
              <a:rPr lang="en-US" sz="4746" b="true">
                <a:solidFill>
                  <a:srgbClr val="FFFFFF"/>
                </a:solidFill>
                <a:latin typeface="Montserrat Bold"/>
                <a:ea typeface="Montserrat Bold"/>
                <a:cs typeface="Montserrat Bold"/>
                <a:sym typeface="Montserrat Bold"/>
              </a:rPr>
              <a:t> Executive Summary </a:t>
            </a:r>
          </a:p>
          <a:p>
            <a:pPr algn="ctr">
              <a:lnSpc>
                <a:spcPts val="4366"/>
              </a:lnSpc>
            </a:pPr>
            <a:r>
              <a:rPr lang="en-US" sz="4746" b="true">
                <a:solidFill>
                  <a:srgbClr val="FFFFFF"/>
                </a:solidFill>
                <a:latin typeface="Montserrat Bold"/>
                <a:ea typeface="Montserrat Bold"/>
                <a:cs typeface="Montserrat Bold"/>
                <a:sym typeface="Montserrat Bold"/>
              </a:rPr>
              <a:t>3 Key Findings for Investors</a:t>
            </a:r>
          </a:p>
        </p:txBody>
      </p:sp>
      <p:sp>
        <p:nvSpPr>
          <p:cNvPr name="Freeform 13" id="13"/>
          <p:cNvSpPr/>
          <p:nvPr/>
        </p:nvSpPr>
        <p:spPr>
          <a:xfrm flipH="false" flipV="false" rot="0">
            <a:off x="-3391378" y="0"/>
            <a:ext cx="7315200" cy="3136392"/>
          </a:xfrm>
          <a:custGeom>
            <a:avLst/>
            <a:gdLst/>
            <a:ahLst/>
            <a:cxnLst/>
            <a:rect r="r" b="b" t="t" l="l"/>
            <a:pathLst>
              <a:path h="3136392" w="7315200">
                <a:moveTo>
                  <a:pt x="0" y="0"/>
                </a:moveTo>
                <a:lnTo>
                  <a:pt x="7315200" y="0"/>
                </a:lnTo>
                <a:lnTo>
                  <a:pt x="7315200" y="3136392"/>
                </a:lnTo>
                <a:lnTo>
                  <a:pt x="0" y="3136392"/>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6395815" y="2703110"/>
            <a:ext cx="5190799" cy="948429"/>
            <a:chOff x="0" y="0"/>
            <a:chExt cx="1208134" cy="220742"/>
          </a:xfrm>
        </p:grpSpPr>
        <p:sp>
          <p:nvSpPr>
            <p:cNvPr name="Freeform 15" id="15"/>
            <p:cNvSpPr/>
            <p:nvPr/>
          </p:nvSpPr>
          <p:spPr>
            <a:xfrm flipH="false" flipV="false" rot="0">
              <a:off x="0" y="0"/>
              <a:ext cx="1208134" cy="220742"/>
            </a:xfrm>
            <a:custGeom>
              <a:avLst/>
              <a:gdLst/>
              <a:ahLst/>
              <a:cxnLst/>
              <a:rect r="r" b="b" t="t" l="l"/>
              <a:pathLst>
                <a:path h="220742" w="1208134">
                  <a:moveTo>
                    <a:pt x="40270" y="0"/>
                  </a:moveTo>
                  <a:lnTo>
                    <a:pt x="1167864" y="0"/>
                  </a:lnTo>
                  <a:cubicBezTo>
                    <a:pt x="1190104" y="0"/>
                    <a:pt x="1208134" y="18029"/>
                    <a:pt x="1208134" y="40270"/>
                  </a:cubicBezTo>
                  <a:lnTo>
                    <a:pt x="1208134" y="180473"/>
                  </a:lnTo>
                  <a:cubicBezTo>
                    <a:pt x="1208134" y="191153"/>
                    <a:pt x="1203891" y="201395"/>
                    <a:pt x="1196339" y="208948"/>
                  </a:cubicBezTo>
                  <a:cubicBezTo>
                    <a:pt x="1188787" y="216500"/>
                    <a:pt x="1178544" y="220742"/>
                    <a:pt x="1167864" y="220742"/>
                  </a:cubicBezTo>
                  <a:lnTo>
                    <a:pt x="40270" y="220742"/>
                  </a:lnTo>
                  <a:cubicBezTo>
                    <a:pt x="29590" y="220742"/>
                    <a:pt x="19347" y="216500"/>
                    <a:pt x="11795" y="208948"/>
                  </a:cubicBezTo>
                  <a:cubicBezTo>
                    <a:pt x="4243" y="201395"/>
                    <a:pt x="0" y="191153"/>
                    <a:pt x="0" y="180473"/>
                  </a:cubicBezTo>
                  <a:lnTo>
                    <a:pt x="0" y="40270"/>
                  </a:lnTo>
                  <a:cubicBezTo>
                    <a:pt x="0" y="29590"/>
                    <a:pt x="4243" y="19347"/>
                    <a:pt x="11795" y="11795"/>
                  </a:cubicBezTo>
                  <a:cubicBezTo>
                    <a:pt x="19347" y="4243"/>
                    <a:pt x="29590" y="0"/>
                    <a:pt x="40270"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6" id="16"/>
            <p:cNvSpPr txBox="true"/>
            <p:nvPr/>
          </p:nvSpPr>
          <p:spPr>
            <a:xfrm>
              <a:off x="0" y="47625"/>
              <a:ext cx="1208134" cy="173117"/>
            </a:xfrm>
            <a:prstGeom prst="rect">
              <a:avLst/>
            </a:prstGeom>
          </p:spPr>
          <p:txBody>
            <a:bodyPr anchor="ctr" rtlCol="false" tIns="50800" lIns="50800" bIns="50800" rIns="50800"/>
            <a:lstStyle/>
            <a:p>
              <a:pPr algn="ctr">
                <a:lnSpc>
                  <a:spcPts val="1924"/>
                </a:lnSpc>
              </a:pPr>
            </a:p>
          </p:txBody>
        </p:sp>
      </p:grpSp>
      <p:sp>
        <p:nvSpPr>
          <p:cNvPr name="TextBox 17" id="17"/>
          <p:cNvSpPr txBox="true"/>
          <p:nvPr/>
        </p:nvSpPr>
        <p:spPr>
          <a:xfrm rot="0">
            <a:off x="1925228" y="3137189"/>
            <a:ext cx="4034097" cy="514350"/>
          </a:xfrm>
          <a:prstGeom prst="rect">
            <a:avLst/>
          </a:prstGeom>
        </p:spPr>
        <p:txBody>
          <a:bodyPr anchor="t" rtlCol="false" tIns="0" lIns="0" bIns="0" rIns="0">
            <a:spAutoFit/>
          </a:bodyPr>
          <a:lstStyle/>
          <a:p>
            <a:pPr algn="ctr" marL="0" indent="0" lvl="0">
              <a:lnSpc>
                <a:spcPts val="3948"/>
              </a:lnSpc>
              <a:spcBef>
                <a:spcPct val="0"/>
              </a:spcBef>
            </a:pPr>
            <a:r>
              <a:rPr lang="en-US" b="true" sz="3290" spc="-180" strike="noStrike" u="none">
                <a:solidFill>
                  <a:srgbClr val="F0F2F5"/>
                </a:solidFill>
                <a:latin typeface="Work Sans Bold"/>
                <a:ea typeface="Work Sans Bold"/>
                <a:cs typeface="Work Sans Bold"/>
                <a:sym typeface="Work Sans Bold"/>
              </a:rPr>
              <a:t>RESILIENCE</a:t>
            </a:r>
          </a:p>
        </p:txBody>
      </p:sp>
      <p:grpSp>
        <p:nvGrpSpPr>
          <p:cNvPr name="Group 18" id="18"/>
          <p:cNvGrpSpPr/>
          <p:nvPr/>
        </p:nvGrpSpPr>
        <p:grpSpPr>
          <a:xfrm rot="0">
            <a:off x="1241457" y="2931100"/>
            <a:ext cx="5166505" cy="2320530"/>
            <a:chOff x="0" y="0"/>
            <a:chExt cx="1208134" cy="542632"/>
          </a:xfrm>
        </p:grpSpPr>
        <p:sp>
          <p:nvSpPr>
            <p:cNvPr name="Freeform 19" id="19"/>
            <p:cNvSpPr/>
            <p:nvPr/>
          </p:nvSpPr>
          <p:spPr>
            <a:xfrm flipH="false" flipV="false" rot="0">
              <a:off x="0" y="0"/>
              <a:ext cx="1208134" cy="542632"/>
            </a:xfrm>
            <a:custGeom>
              <a:avLst/>
              <a:gdLst/>
              <a:ahLst/>
              <a:cxnLst/>
              <a:rect r="r" b="b" t="t" l="l"/>
              <a:pathLst>
                <a:path h="542632" w="1208134">
                  <a:moveTo>
                    <a:pt x="40459" y="0"/>
                  </a:moveTo>
                  <a:lnTo>
                    <a:pt x="1167675" y="0"/>
                  </a:lnTo>
                  <a:cubicBezTo>
                    <a:pt x="1178405" y="0"/>
                    <a:pt x="1188696" y="4263"/>
                    <a:pt x="1196283" y="11850"/>
                  </a:cubicBezTo>
                  <a:cubicBezTo>
                    <a:pt x="1203871" y="19438"/>
                    <a:pt x="1208134" y="29729"/>
                    <a:pt x="1208134" y="40459"/>
                  </a:cubicBezTo>
                  <a:lnTo>
                    <a:pt x="1208134" y="502173"/>
                  </a:lnTo>
                  <a:cubicBezTo>
                    <a:pt x="1208134" y="512903"/>
                    <a:pt x="1203871" y="523194"/>
                    <a:pt x="1196283" y="530782"/>
                  </a:cubicBezTo>
                  <a:cubicBezTo>
                    <a:pt x="1188696" y="538369"/>
                    <a:pt x="1178405" y="542632"/>
                    <a:pt x="1167675" y="542632"/>
                  </a:cubicBezTo>
                  <a:lnTo>
                    <a:pt x="40459" y="542632"/>
                  </a:lnTo>
                  <a:cubicBezTo>
                    <a:pt x="29729" y="542632"/>
                    <a:pt x="19438" y="538369"/>
                    <a:pt x="11850" y="530782"/>
                  </a:cubicBezTo>
                  <a:cubicBezTo>
                    <a:pt x="4263" y="523194"/>
                    <a:pt x="0" y="512903"/>
                    <a:pt x="0" y="502173"/>
                  </a:cubicBezTo>
                  <a:lnTo>
                    <a:pt x="0" y="40459"/>
                  </a:lnTo>
                  <a:cubicBezTo>
                    <a:pt x="0" y="29729"/>
                    <a:pt x="4263" y="19438"/>
                    <a:pt x="11850" y="11850"/>
                  </a:cubicBezTo>
                  <a:cubicBezTo>
                    <a:pt x="19438" y="4263"/>
                    <a:pt x="29729" y="0"/>
                    <a:pt x="40459" y="0"/>
                  </a:cubicBezTo>
                  <a:close/>
                </a:path>
              </a:pathLst>
            </a:custGeom>
            <a:ln w="19050" cap="rnd">
              <a:solidFill>
                <a:srgbClr val="FFFFFF"/>
              </a:solidFill>
              <a:prstDash val="solid"/>
              <a:round/>
            </a:ln>
          </p:spPr>
        </p:sp>
        <p:sp>
          <p:nvSpPr>
            <p:cNvPr name="TextBox 20" id="20"/>
            <p:cNvSpPr txBox="true"/>
            <p:nvPr/>
          </p:nvSpPr>
          <p:spPr>
            <a:xfrm>
              <a:off x="0" y="47625"/>
              <a:ext cx="1208134" cy="495007"/>
            </a:xfrm>
            <a:prstGeom prst="rect">
              <a:avLst/>
            </a:prstGeom>
          </p:spPr>
          <p:txBody>
            <a:bodyPr anchor="ctr" rtlCol="false" tIns="50800" lIns="50800" bIns="50800" rIns="50800"/>
            <a:lstStyle/>
            <a:p>
              <a:pPr algn="ctr">
                <a:lnSpc>
                  <a:spcPts val="1924"/>
                </a:lnSpc>
              </a:pPr>
            </a:p>
          </p:txBody>
        </p:sp>
      </p:grpSp>
      <p:graphicFrame>
        <p:nvGraphicFramePr>
          <p:cNvPr name="Table 21" id="21"/>
          <p:cNvGraphicFramePr>
            <a:graphicFrameLocks noGrp="true"/>
          </p:cNvGraphicFramePr>
          <p:nvPr/>
        </p:nvGraphicFramePr>
        <p:xfrm>
          <a:off x="1028700" y="5833557"/>
          <a:ext cx="16570475" cy="3325728"/>
        </p:xfrm>
        <a:graphic>
          <a:graphicData uri="http://schemas.openxmlformats.org/drawingml/2006/table">
            <a:tbl>
              <a:tblPr/>
              <a:tblGrid>
                <a:gridCol w="2607195"/>
                <a:gridCol w="13963280"/>
              </a:tblGrid>
              <a:tr h="817953">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b="true" sz="1700">
                          <a:solidFill>
                            <a:srgbClr val="FFFFFF"/>
                          </a:solidFill>
                          <a:latin typeface="Canva Sans Bold"/>
                          <a:ea typeface="Canva Sans Bold"/>
                          <a:cs typeface="Canva Sans Bold"/>
                          <a:sym typeface="Canva Sans Bold"/>
                        </a:rPr>
                        <a:t>Sessions grew significantly (1,879 → 72,048), and orders scaled from 59 to 5,681. Revenue per session improved ~220% from $1.57 to $5.03.</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975449">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b="true" sz="1700">
                          <a:solidFill>
                            <a:srgbClr val="FFFFFF"/>
                          </a:solidFill>
                          <a:latin typeface="Canva Sans Bold"/>
                          <a:ea typeface="Canva Sans Bold"/>
                          <a:cs typeface="Canva Sans Bold"/>
                          <a:sym typeface="Canva Sans Bold"/>
                        </a:rPr>
                        <a:t>The business did not just get bigger — it became dramatically more efficient. Each visitor generates 3.4x more revenue than at launch, while 33.5% of orders now require zero paid acquisition spend.</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598">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 </a:t>
                      </a:r>
                      <a:r>
                        <a:rPr lang="en-US" b="true" sz="1700">
                          <a:solidFill>
                            <a:srgbClr val="FFFFFF"/>
                          </a:solidFill>
                          <a:latin typeface="Canva Sans Bold"/>
                          <a:ea typeface="Canva Sans Bold"/>
                          <a:cs typeface="Canva Sans Bold"/>
                          <a:sym typeface="Canva Sans Bold"/>
                        </a:rPr>
                        <a:t>Use these three numbers as the opening anchor for every investor conversation: scale (100x), efficiency (+237%), and resilience (33.5% free channel share).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38728">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KPI: maintain quarterly session-to-order conversion rate above 8%. Track monthly. Benchmark: Q4 2014 = 7.89%.</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sp>
        <p:nvSpPr>
          <p:cNvPr name="TextBox 22" id="22"/>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23" id="23"/>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24" id="24"/>
          <p:cNvSpPr txBox="true"/>
          <p:nvPr/>
        </p:nvSpPr>
        <p:spPr>
          <a:xfrm rot="0">
            <a:off x="16536172" y="9600589"/>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page  02</a:t>
            </a:r>
          </a:p>
        </p:txBody>
      </p:sp>
      <p:sp>
        <p:nvSpPr>
          <p:cNvPr name="TextBox 25" id="25"/>
          <p:cNvSpPr txBox="true"/>
          <p:nvPr/>
        </p:nvSpPr>
        <p:spPr>
          <a:xfrm rot="0">
            <a:off x="7473795" y="2889539"/>
            <a:ext cx="2586201" cy="514350"/>
          </a:xfrm>
          <a:prstGeom prst="rect">
            <a:avLst/>
          </a:prstGeom>
        </p:spPr>
        <p:txBody>
          <a:bodyPr anchor="t" rtlCol="false" tIns="0" lIns="0" bIns="0" rIns="0">
            <a:spAutoFit/>
          </a:bodyPr>
          <a:lstStyle/>
          <a:p>
            <a:pPr algn="ctr">
              <a:lnSpc>
                <a:spcPts val="3948"/>
              </a:lnSpc>
              <a:spcBef>
                <a:spcPct val="0"/>
              </a:spcBef>
            </a:pPr>
            <a:r>
              <a:rPr lang="en-US" b="true" sz="3290" spc="-180">
                <a:solidFill>
                  <a:srgbClr val="F0F2F5"/>
                </a:solidFill>
                <a:latin typeface="Work Sans Bold"/>
                <a:ea typeface="Work Sans Bold"/>
                <a:cs typeface="Work Sans Bold"/>
                <a:sym typeface="Work Sans Bold"/>
              </a:rPr>
              <a:t>GROWTH</a:t>
            </a:r>
          </a:p>
        </p:txBody>
      </p:sp>
      <p:sp>
        <p:nvSpPr>
          <p:cNvPr name="TextBox 26" id="26"/>
          <p:cNvSpPr txBox="true"/>
          <p:nvPr/>
        </p:nvSpPr>
        <p:spPr>
          <a:xfrm rot="0">
            <a:off x="11971634" y="3137189"/>
            <a:ext cx="4034097" cy="514350"/>
          </a:xfrm>
          <a:prstGeom prst="rect">
            <a:avLst/>
          </a:prstGeom>
        </p:spPr>
        <p:txBody>
          <a:bodyPr anchor="t" rtlCol="false" tIns="0" lIns="0" bIns="0" rIns="0">
            <a:spAutoFit/>
          </a:bodyPr>
          <a:lstStyle/>
          <a:p>
            <a:pPr algn="ctr" marL="0" indent="0" lvl="0">
              <a:lnSpc>
                <a:spcPts val="3948"/>
              </a:lnSpc>
              <a:spcBef>
                <a:spcPct val="0"/>
              </a:spcBef>
            </a:pPr>
            <a:r>
              <a:rPr lang="en-US" b="true" sz="3290" spc="-180" strike="noStrike" u="none">
                <a:solidFill>
                  <a:srgbClr val="F0F2F5"/>
                </a:solidFill>
                <a:latin typeface="Work Sans Bold"/>
                <a:ea typeface="Work Sans Bold"/>
                <a:cs typeface="Work Sans Bold"/>
                <a:sym typeface="Work Sans Bold"/>
              </a:rPr>
              <a:t>EFFICIENCY</a:t>
            </a:r>
          </a:p>
        </p:txBody>
      </p:sp>
      <p:sp>
        <p:nvSpPr>
          <p:cNvPr name="TextBox 27" id="27"/>
          <p:cNvSpPr txBox="true"/>
          <p:nvPr/>
        </p:nvSpPr>
        <p:spPr>
          <a:xfrm rot="0">
            <a:off x="6580561" y="3935097"/>
            <a:ext cx="4748424" cy="1257300"/>
          </a:xfrm>
          <a:prstGeom prst="rect">
            <a:avLst/>
          </a:prstGeom>
        </p:spPr>
        <p:txBody>
          <a:bodyPr anchor="t" rtlCol="false" tIns="0" lIns="0" bIns="0" rIns="0">
            <a:spAutoFit/>
          </a:bodyPr>
          <a:lstStyle/>
          <a:p>
            <a:pPr algn="ctr" marL="0" indent="0" lvl="0">
              <a:lnSpc>
                <a:spcPts val="2483"/>
              </a:lnSpc>
              <a:spcBef>
                <a:spcPct val="0"/>
              </a:spcBef>
            </a:pPr>
            <a:r>
              <a:rPr lang="en-US" sz="2069" spc="-113" strike="noStrike" u="none">
                <a:solidFill>
                  <a:srgbClr val="1A3A5C"/>
                </a:solidFill>
                <a:latin typeface="Work Sans"/>
                <a:ea typeface="Work Sans"/>
                <a:cs typeface="Work Sans"/>
                <a:sym typeface="Work Sans"/>
              </a:rPr>
              <a:t>Order Growth 2012–2014</a:t>
            </a:r>
            <a:r>
              <a:rPr lang="en-US" sz="2069" spc="-113" strike="noStrike" u="none">
                <a:solidFill>
                  <a:srgbClr val="1A3A5C"/>
                </a:solidFill>
                <a:latin typeface="Work Sans"/>
                <a:ea typeface="Work Sans"/>
                <a:cs typeface="Work Sans"/>
                <a:sym typeface="Work Sans"/>
              </a:rPr>
              <a:t>:</a:t>
            </a:r>
            <a:r>
              <a:rPr lang="en-US" sz="2069" spc="-113" strike="noStrike" u="none">
                <a:solidFill>
                  <a:srgbClr val="1A3A5C"/>
                </a:solidFill>
                <a:latin typeface="Work Sans"/>
                <a:ea typeface="Work Sans"/>
                <a:cs typeface="Work Sans"/>
                <a:sym typeface="Work Sans"/>
              </a:rPr>
              <a:t> </a:t>
            </a:r>
            <a:r>
              <a:rPr lang="en-US" sz="2069" spc="-113" strike="noStrike" u="none">
                <a:solidFill>
                  <a:srgbClr val="1A3A5C"/>
                </a:solidFill>
                <a:latin typeface="Work Sans"/>
                <a:ea typeface="Work Sans"/>
                <a:cs typeface="Work Sans"/>
                <a:sym typeface="Work Sans"/>
              </a:rPr>
              <a:t>f</a:t>
            </a:r>
            <a:r>
              <a:rPr lang="en-US" sz="2069" spc="-113" strike="noStrike" u="none">
                <a:solidFill>
                  <a:srgbClr val="1A3A5C"/>
                </a:solidFill>
                <a:latin typeface="Work Sans"/>
                <a:ea typeface="Work Sans"/>
                <a:cs typeface="Work Sans"/>
                <a:sym typeface="Work Sans"/>
              </a:rPr>
              <a:t>rom 59 orders (Q1 2012) to 5,</a:t>
            </a:r>
            <a:r>
              <a:rPr lang="en-US" sz="2069" spc="-113" strike="noStrike" u="none">
                <a:solidFill>
                  <a:srgbClr val="1A3A5C"/>
                </a:solidFill>
                <a:latin typeface="Work Sans"/>
                <a:ea typeface="Work Sans"/>
                <a:cs typeface="Work Sans"/>
                <a:sym typeface="Work Sans"/>
              </a:rPr>
              <a:t>6</a:t>
            </a:r>
            <a:r>
              <a:rPr lang="en-US" sz="2069" spc="-113" strike="noStrike" u="none">
                <a:solidFill>
                  <a:srgbClr val="1A3A5C"/>
                </a:solidFill>
                <a:latin typeface="Work Sans"/>
                <a:ea typeface="Work Sans"/>
                <a:cs typeface="Work Sans"/>
                <a:sym typeface="Work Sans"/>
              </a:rPr>
              <a:t>8</a:t>
            </a:r>
            <a:r>
              <a:rPr lang="en-US" sz="2069" spc="-113" strike="noStrike" u="none">
                <a:solidFill>
                  <a:srgbClr val="1A3A5C"/>
                </a:solidFill>
                <a:latin typeface="Work Sans"/>
                <a:ea typeface="Work Sans"/>
                <a:cs typeface="Work Sans"/>
                <a:sym typeface="Work Sans"/>
              </a:rPr>
              <a:t>1</a:t>
            </a:r>
            <a:r>
              <a:rPr lang="en-US" sz="2069" spc="-113" strike="noStrike" u="none">
                <a:solidFill>
                  <a:srgbClr val="1A3A5C"/>
                </a:solidFill>
                <a:latin typeface="Work Sans"/>
                <a:ea typeface="Work Sans"/>
                <a:cs typeface="Work Sans"/>
                <a:sym typeface="Work Sans"/>
              </a:rPr>
              <a:t> (Q4 2014)</a:t>
            </a:r>
          </a:p>
          <a:p>
            <a:pPr algn="ctr" marL="0" indent="0" lvl="0">
              <a:lnSpc>
                <a:spcPts val="2483"/>
              </a:lnSpc>
              <a:spcBef>
                <a:spcPct val="0"/>
              </a:spcBef>
            </a:pPr>
            <a:r>
              <a:rPr lang="en-US" sz="2069" spc="-113" strike="noStrike" u="none">
                <a:solidFill>
                  <a:srgbClr val="1A3A5C"/>
                </a:solidFill>
                <a:latin typeface="Work Sans"/>
                <a:ea typeface="Work Sans"/>
                <a:cs typeface="Work Sans"/>
                <a:sym typeface="Work Sans"/>
              </a:rPr>
              <a:t> Sessions grew </a:t>
            </a:r>
            <a:r>
              <a:rPr lang="en-US" sz="2069" spc="-113" strike="noStrike" u="none">
                <a:solidFill>
                  <a:srgbClr val="1A3A5C"/>
                </a:solidFill>
                <a:latin typeface="Work Sans"/>
                <a:ea typeface="Work Sans"/>
                <a:cs typeface="Work Sans"/>
                <a:sym typeface="Work Sans"/>
              </a:rPr>
              <a:t>from 1,879 to 72,</a:t>
            </a:r>
            <a:r>
              <a:rPr lang="en-US" sz="2069" spc="-113" strike="noStrike" u="none">
                <a:solidFill>
                  <a:srgbClr val="1A3A5C"/>
                </a:solidFill>
                <a:latin typeface="Work Sans"/>
                <a:ea typeface="Work Sans"/>
                <a:cs typeface="Work Sans"/>
                <a:sym typeface="Work Sans"/>
              </a:rPr>
              <a:t>0</a:t>
            </a:r>
            <a:r>
              <a:rPr lang="en-US" sz="2069" spc="-113" strike="noStrike" u="none">
                <a:solidFill>
                  <a:srgbClr val="1A3A5C"/>
                </a:solidFill>
                <a:latin typeface="Work Sans"/>
                <a:ea typeface="Work Sans"/>
                <a:cs typeface="Work Sans"/>
                <a:sym typeface="Work Sans"/>
              </a:rPr>
              <a:t>48</a:t>
            </a:r>
            <a:r>
              <a:rPr lang="en-US" sz="2069" spc="-113" strike="noStrike" u="none">
                <a:solidFill>
                  <a:srgbClr val="1A3A5C"/>
                </a:solidFill>
                <a:latin typeface="Work Sans"/>
                <a:ea typeface="Work Sans"/>
                <a:cs typeface="Work Sans"/>
                <a:sym typeface="Work Sans"/>
              </a:rPr>
              <a:t> </a:t>
            </a:r>
            <a:r>
              <a:rPr lang="en-US" sz="2069" spc="-113" strike="noStrike" u="none">
                <a:solidFill>
                  <a:srgbClr val="1A3A5C"/>
                </a:solidFill>
                <a:latin typeface="Work Sans"/>
                <a:ea typeface="Work Sans"/>
                <a:cs typeface="Work Sans"/>
                <a:sym typeface="Work Sans"/>
              </a:rPr>
              <a:t>over</a:t>
            </a:r>
            <a:r>
              <a:rPr lang="en-US" sz="2069" spc="-113" strike="noStrike" u="none">
                <a:solidFill>
                  <a:srgbClr val="1A3A5C"/>
                </a:solidFill>
                <a:latin typeface="Work Sans"/>
                <a:ea typeface="Work Sans"/>
                <a:cs typeface="Work Sans"/>
                <a:sym typeface="Work Sans"/>
              </a:rPr>
              <a:t> the same period</a:t>
            </a:r>
          </a:p>
        </p:txBody>
      </p:sp>
      <p:sp>
        <p:nvSpPr>
          <p:cNvPr name="TextBox 28" id="28"/>
          <p:cNvSpPr txBox="true"/>
          <p:nvPr/>
        </p:nvSpPr>
        <p:spPr>
          <a:xfrm rot="0">
            <a:off x="11755442" y="3935097"/>
            <a:ext cx="4793372" cy="942975"/>
          </a:xfrm>
          <a:prstGeom prst="rect">
            <a:avLst/>
          </a:prstGeom>
        </p:spPr>
        <p:txBody>
          <a:bodyPr anchor="t" rtlCol="false" tIns="0" lIns="0" bIns="0" rIns="0">
            <a:spAutoFit/>
          </a:bodyPr>
          <a:lstStyle/>
          <a:p>
            <a:pPr algn="ctr" marL="0" indent="0" lvl="0">
              <a:lnSpc>
                <a:spcPts val="2483"/>
              </a:lnSpc>
              <a:spcBef>
                <a:spcPct val="0"/>
              </a:spcBef>
            </a:pPr>
            <a:r>
              <a:rPr lang="en-US" sz="2069" spc="-113" strike="noStrike" u="none">
                <a:solidFill>
                  <a:srgbClr val="FFFFFF"/>
                </a:solidFill>
                <a:latin typeface="Work Sans"/>
                <a:ea typeface="Work Sans"/>
                <a:cs typeface="Work Sans"/>
                <a:sym typeface="Work Sans"/>
              </a:rPr>
              <a:t>Revenue Per Session Lift $1.57 per visitor at launch </a:t>
            </a:r>
            <a:r>
              <a:rPr lang="en-US" sz="2069" spc="-113" strike="noStrike" u="none">
                <a:solidFill>
                  <a:srgbClr val="FFFFFF"/>
                </a:solidFill>
                <a:latin typeface="Work Sans"/>
                <a:ea typeface="Work Sans"/>
                <a:cs typeface="Work Sans"/>
                <a:sym typeface="Work Sans"/>
              </a:rPr>
              <a:t>→ </a:t>
            </a:r>
            <a:r>
              <a:rPr lang="en-US" sz="2069" spc="-113" strike="noStrike" u="none">
                <a:solidFill>
                  <a:srgbClr val="FFFFFF"/>
                </a:solidFill>
                <a:latin typeface="Work Sans"/>
                <a:ea typeface="Work Sans"/>
                <a:cs typeface="Work Sans"/>
                <a:sym typeface="Work Sans"/>
              </a:rPr>
              <a:t>$5.0</a:t>
            </a:r>
            <a:r>
              <a:rPr lang="en-US" sz="2069" spc="-113" strike="noStrike" u="none">
                <a:solidFill>
                  <a:srgbClr val="FFFFFF"/>
                </a:solidFill>
                <a:latin typeface="Work Sans"/>
                <a:ea typeface="Work Sans"/>
                <a:cs typeface="Work Sans"/>
                <a:sym typeface="Work Sans"/>
              </a:rPr>
              <a:t>3</a:t>
            </a:r>
            <a:r>
              <a:rPr lang="en-US" sz="2069" spc="-113" strike="noStrike" u="none">
                <a:solidFill>
                  <a:srgbClr val="FFFFFF"/>
                </a:solidFill>
                <a:latin typeface="Work Sans"/>
                <a:ea typeface="Work Sans"/>
                <a:cs typeface="Work Sans"/>
                <a:sym typeface="Work Sans"/>
              </a:rPr>
              <a:t> per visitor </a:t>
            </a:r>
            <a:r>
              <a:rPr lang="en-US" sz="2069" spc="-113" strike="noStrike" u="none">
                <a:solidFill>
                  <a:srgbClr val="FFFFFF"/>
                </a:solidFill>
                <a:latin typeface="Work Sans"/>
                <a:ea typeface="Work Sans"/>
                <a:cs typeface="Work Sans"/>
                <a:sym typeface="Work Sans"/>
              </a:rPr>
              <a:t>in Q4 2014</a:t>
            </a:r>
            <a:r>
              <a:rPr lang="en-US" sz="2069" spc="-113" strike="noStrike" u="none">
                <a:solidFill>
                  <a:srgbClr val="FFFFFF"/>
                </a:solidFill>
                <a:latin typeface="Work Sans"/>
                <a:ea typeface="Work Sans"/>
                <a:cs typeface="Work Sans"/>
                <a:sym typeface="Work Sans"/>
              </a:rPr>
              <a:t> </a:t>
            </a:r>
            <a:r>
              <a:rPr lang="en-US" sz="2069" spc="-113" strike="noStrike" u="none">
                <a:solidFill>
                  <a:srgbClr val="FFFFFF"/>
                </a:solidFill>
                <a:latin typeface="Work Sans"/>
                <a:ea typeface="Work Sans"/>
                <a:cs typeface="Work Sans"/>
                <a:sym typeface="Work Sans"/>
              </a:rPr>
              <a:t>(</a:t>
            </a:r>
            <a:r>
              <a:rPr lang="en-US" sz="2069" spc="-113" strike="noStrike" u="none">
                <a:solidFill>
                  <a:srgbClr val="FFFFFF"/>
                </a:solidFill>
                <a:latin typeface="Work Sans"/>
                <a:ea typeface="Work Sans"/>
                <a:cs typeface="Work Sans"/>
                <a:sym typeface="Work Sans"/>
              </a:rPr>
              <a:t>+2</a:t>
            </a:r>
            <a:r>
              <a:rPr lang="en-US" sz="2069" spc="-113" strike="noStrike" u="none">
                <a:solidFill>
                  <a:srgbClr val="FFFFFF"/>
                </a:solidFill>
                <a:latin typeface="Work Sans"/>
                <a:ea typeface="Work Sans"/>
                <a:cs typeface="Work Sans"/>
                <a:sym typeface="Work Sans"/>
              </a:rPr>
              <a:t>20</a:t>
            </a:r>
            <a:r>
              <a:rPr lang="en-US" sz="2069" spc="-113" strike="noStrike" u="none">
                <a:solidFill>
                  <a:srgbClr val="FFFFFF"/>
                </a:solidFill>
                <a:latin typeface="Work Sans"/>
                <a:ea typeface="Work Sans"/>
                <a:cs typeface="Work Sans"/>
                <a:sym typeface="Work Sans"/>
              </a:rPr>
              <a:t>%</a:t>
            </a:r>
            <a:r>
              <a:rPr lang="en-US" sz="2069" spc="-113" strike="noStrike" u="none">
                <a:solidFill>
                  <a:srgbClr val="FFFFFF"/>
                </a:solidFill>
                <a:latin typeface="Work Sans"/>
                <a:ea typeface="Work Sans"/>
                <a:cs typeface="Work Sans"/>
                <a:sym typeface="Work Sans"/>
              </a:rPr>
              <a:t>)</a:t>
            </a:r>
          </a:p>
        </p:txBody>
      </p:sp>
      <p:sp>
        <p:nvSpPr>
          <p:cNvPr name="TextBox 29" id="29"/>
          <p:cNvSpPr txBox="true"/>
          <p:nvPr/>
        </p:nvSpPr>
        <p:spPr>
          <a:xfrm rot="0">
            <a:off x="1479010" y="3935097"/>
            <a:ext cx="4480314" cy="942975"/>
          </a:xfrm>
          <a:prstGeom prst="rect">
            <a:avLst/>
          </a:prstGeom>
        </p:spPr>
        <p:txBody>
          <a:bodyPr anchor="t" rtlCol="false" tIns="0" lIns="0" bIns="0" rIns="0">
            <a:spAutoFit/>
          </a:bodyPr>
          <a:lstStyle/>
          <a:p>
            <a:pPr algn="ctr" marL="0" indent="0" lvl="0">
              <a:lnSpc>
                <a:spcPts val="2483"/>
              </a:lnSpc>
              <a:spcBef>
                <a:spcPct val="0"/>
              </a:spcBef>
            </a:pPr>
            <a:r>
              <a:rPr lang="en-US" sz="2069" spc="-113" strike="noStrike" u="none">
                <a:solidFill>
                  <a:srgbClr val="FFFFFF"/>
                </a:solidFill>
                <a:latin typeface="Work Sans"/>
                <a:ea typeface="Work Sans"/>
                <a:cs typeface="Work Sans"/>
                <a:sym typeface="Work Sans"/>
              </a:rPr>
              <a:t>Orders From Free Channels 1 in 3 orders now costs nothing to acquire Built from 0% at launch 33.5%</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sp>
        <p:nvSpPr>
          <p:cNvPr name="TextBox 5" id="5"/>
          <p:cNvSpPr txBox="true"/>
          <p:nvPr/>
        </p:nvSpPr>
        <p:spPr>
          <a:xfrm rot="0">
            <a:off x="16386816" y="9600570"/>
            <a:ext cx="2662837"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C01-page  03</a:t>
            </a:r>
          </a:p>
        </p:txBody>
      </p:sp>
      <p:sp>
        <p:nvSpPr>
          <p:cNvPr name="TextBox 6" id="6"/>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7" id="7"/>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8" id="8"/>
          <p:cNvSpPr txBox="true"/>
          <p:nvPr/>
        </p:nvSpPr>
        <p:spPr>
          <a:xfrm rot="0">
            <a:off x="971759" y="396906"/>
            <a:ext cx="5809314" cy="752476"/>
          </a:xfrm>
          <a:prstGeom prst="rect">
            <a:avLst/>
          </a:prstGeom>
        </p:spPr>
        <p:txBody>
          <a:bodyPr anchor="t" rtlCol="false" tIns="0" lIns="0" bIns="0" rIns="0">
            <a:spAutoFit/>
          </a:bodyPr>
          <a:lstStyle/>
          <a:p>
            <a:pPr algn="l" marL="0" indent="0" lvl="0">
              <a:lnSpc>
                <a:spcPts val="3999"/>
              </a:lnSpc>
            </a:pPr>
            <a:r>
              <a:rPr lang="en-US" b="true" sz="3999" spc="-219">
                <a:solidFill>
                  <a:srgbClr val="F0F2F5"/>
                </a:solidFill>
                <a:latin typeface="Work Sans Semi-Bold"/>
                <a:ea typeface="Work Sans Semi-Bold"/>
                <a:cs typeface="Work Sans Semi-Bold"/>
                <a:sym typeface="Work Sans Semi-Bold"/>
              </a:rPr>
              <a:t>DATA</a:t>
            </a:r>
            <a:r>
              <a:rPr lang="en-US" b="true" sz="3999" spc="-219" strike="noStrike" u="none">
                <a:solidFill>
                  <a:srgbClr val="F0F2F5"/>
                </a:solidFill>
                <a:latin typeface="Work Sans Semi-Bold"/>
                <a:ea typeface="Work Sans Semi-Bold"/>
                <a:cs typeface="Work Sans Semi-Bold"/>
                <a:sym typeface="Work Sans Semi-Bold"/>
              </a:rPr>
              <a:t> QUALITY REPORT</a:t>
            </a:r>
          </a:p>
          <a:p>
            <a:pPr algn="l" marL="0" indent="0" lvl="0">
              <a:lnSpc>
                <a:spcPts val="2000"/>
              </a:lnSpc>
            </a:pPr>
            <a:r>
              <a:rPr lang="en-US" b="true" sz="2000" spc="-110" strike="noStrike" u="none">
                <a:solidFill>
                  <a:srgbClr val="F0F2F5"/>
                </a:solidFill>
                <a:latin typeface="Work Sans Semi-Bold"/>
                <a:ea typeface="Work Sans Semi-Bold"/>
                <a:cs typeface="Work Sans Semi-Bold"/>
                <a:sym typeface="Work Sans Semi-Bold"/>
              </a:rPr>
              <a:t> Is Our Data Fit for Purpose?</a:t>
            </a:r>
          </a:p>
        </p:txBody>
      </p:sp>
      <p:graphicFrame>
        <p:nvGraphicFramePr>
          <p:cNvPr name="Table 9" id="9"/>
          <p:cNvGraphicFramePr>
            <a:graphicFrameLocks noGrp="true"/>
          </p:cNvGraphicFramePr>
          <p:nvPr/>
        </p:nvGraphicFramePr>
        <p:xfrm>
          <a:off x="1028700" y="1492282"/>
          <a:ext cx="12806171" cy="3651218"/>
        </p:xfrm>
        <a:graphic>
          <a:graphicData uri="http://schemas.openxmlformats.org/drawingml/2006/table">
            <a:tbl>
              <a:tblPr/>
              <a:tblGrid>
                <a:gridCol w="3299839"/>
                <a:gridCol w="1202088"/>
                <a:gridCol w="2156313"/>
                <a:gridCol w="6147931"/>
              </a:tblGrid>
              <a:tr h="583048">
                <a:tc>
                  <a:txBody>
                    <a:bodyPr anchor="t" rtlCol="false"/>
                    <a:lstStyle/>
                    <a:p>
                      <a:pPr algn="l">
                        <a:lnSpc>
                          <a:spcPts val="2660"/>
                        </a:lnSpc>
                        <a:defRPr/>
                      </a:pPr>
                      <a:r>
                        <a:rPr lang="en-US" sz="1900" b="true">
                          <a:solidFill>
                            <a:srgbClr val="FFFFFF"/>
                          </a:solidFill>
                          <a:latin typeface="Canva Sans Bold"/>
                          <a:ea typeface="Canva Sans Bold"/>
                          <a:cs typeface="Canva Sans Bold"/>
                          <a:sym typeface="Canva Sans Bold"/>
                        </a:rPr>
                        <a:t>Issue Category</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660"/>
                        </a:lnSpc>
                        <a:defRPr/>
                      </a:pPr>
                      <a:r>
                        <a:rPr lang="en-US" sz="1900" b="true">
                          <a:solidFill>
                            <a:srgbClr val="FFFFFF"/>
                          </a:solidFill>
                          <a:latin typeface="Canva Sans Bold"/>
                          <a:ea typeface="Canva Sans Bold"/>
                          <a:cs typeface="Canva Sans Bold"/>
                          <a:sym typeface="Canva Sans Bold"/>
                        </a:rPr>
                        <a:t>Count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940"/>
                        </a:lnSpc>
                        <a:defRPr/>
                      </a:pPr>
                      <a:r>
                        <a:rPr lang="en-US" sz="2100" b="true">
                          <a:solidFill>
                            <a:srgbClr val="FFFFFF"/>
                          </a:solidFill>
                          <a:latin typeface="Canva Sans Bold"/>
                          <a:ea typeface="Canva Sans Bold"/>
                          <a:cs typeface="Canva Sans Bold"/>
                          <a:sym typeface="Canva Sans Bold"/>
                        </a:rPr>
                        <a:t>% of Dataset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800"/>
                        </a:lnSpc>
                        <a:defRPr/>
                      </a:pPr>
                      <a:r>
                        <a:rPr lang="en-US" sz="2000" b="true">
                          <a:solidFill>
                            <a:srgbClr val="FFFFFF"/>
                          </a:solidFill>
                          <a:latin typeface="Canva Sans Bold"/>
                          <a:ea typeface="Canva Sans Bold"/>
                          <a:cs typeface="Canva Sans Bold"/>
                          <a:sym typeface="Canva Sans Bold"/>
                        </a:rPr>
                        <a:t>Action Taken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r>
              <a:tr h="525699">
                <a:tc>
                  <a:txBody>
                    <a:bodyPr anchor="t" rtlCol="false"/>
                    <a:lstStyle/>
                    <a:p>
                      <a:pPr algn="l">
                        <a:lnSpc>
                          <a:spcPts val="2380"/>
                        </a:lnSpc>
                        <a:defRPr/>
                      </a:pPr>
                      <a:r>
                        <a:rPr lang="en-US" sz="1700">
                          <a:solidFill>
                            <a:srgbClr val="000000"/>
                          </a:solidFill>
                          <a:latin typeface="Canva Sans"/>
                          <a:ea typeface="Canva Sans"/>
                          <a:cs typeface="Canva Sans"/>
                          <a:sym typeface="Canva Sans"/>
                        </a:rPr>
                        <a:t>Duplicate sessions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EBF3F8"/>
                    </a:solidFill>
                  </a:tcPr>
                </a:tc>
                <a:tc>
                  <a:txBody>
                    <a:bodyPr anchor="t" rtlCol="false"/>
                    <a:lstStyle/>
                    <a:p>
                      <a:pPr algn="r">
                        <a:lnSpc>
                          <a:spcPts val="2520"/>
                        </a:lnSpc>
                        <a:defRPr/>
                      </a:pPr>
                      <a:r>
                        <a:rPr lang="en-US" sz="1800">
                          <a:solidFill>
                            <a:srgbClr val="000000"/>
                          </a:solidFill>
                          <a:latin typeface="Canva Sans"/>
                          <a:ea typeface="Canva Sans"/>
                          <a:cs typeface="Canva Sans"/>
                          <a:sym typeface="Canva Sans"/>
                        </a:rPr>
                        <a:t>1</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EBF3F8"/>
                    </a:solidFill>
                  </a:tcPr>
                </a:tc>
                <a:tc>
                  <a:txBody>
                    <a:bodyPr anchor="t" rtlCol="false"/>
                    <a:lstStyle/>
                    <a:p>
                      <a:pPr algn="r">
                        <a:lnSpc>
                          <a:spcPts val="2240"/>
                        </a:lnSpc>
                        <a:defRPr/>
                      </a:pPr>
                      <a:r>
                        <a:rPr lang="en-US" sz="1600">
                          <a:solidFill>
                            <a:srgbClr val="000000"/>
                          </a:solidFill>
                          <a:latin typeface="Canva Sans"/>
                          <a:ea typeface="Canva Sans"/>
                          <a:cs typeface="Canva Sans"/>
                          <a:sym typeface="Canva Sans"/>
                        </a:rPr>
                        <a:t>0.000%</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EBF3F8"/>
                    </a:solidFill>
                  </a:tcPr>
                </a:tc>
                <a:tc>
                  <a:txBody>
                    <a:bodyPr anchor="t" rtlCol="false"/>
                    <a:lstStyle/>
                    <a:p>
                      <a:pPr algn="l">
                        <a:lnSpc>
                          <a:spcPts val="2380"/>
                        </a:lnSpc>
                        <a:defRPr/>
                      </a:pPr>
                      <a:r>
                        <a:rPr lang="en-US" sz="1700">
                          <a:solidFill>
                            <a:srgbClr val="000000"/>
                          </a:solidFill>
                          <a:latin typeface="Canva Sans"/>
                          <a:ea typeface="Canva Sans"/>
                          <a:cs typeface="Canva Sans"/>
                          <a:sym typeface="Canva Sans"/>
                        </a:rPr>
                        <a:t>Excluded — identical user_id + timestamp</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EBF3F8"/>
                    </a:solidFill>
                  </a:tcPr>
                </a:tc>
              </a:tr>
              <a:tr h="497024">
                <a:tc>
                  <a:txBody>
                    <a:bodyPr anchor="t" rtlCol="false"/>
                    <a:lstStyle/>
                    <a:p>
                      <a:pPr algn="l">
                        <a:lnSpc>
                          <a:spcPts val="2240"/>
                        </a:lnSpc>
                        <a:defRPr/>
                      </a:pPr>
                      <a:r>
                        <a:rPr lang="en-US" sz="1600">
                          <a:solidFill>
                            <a:srgbClr val="000000"/>
                          </a:solidFill>
                          <a:latin typeface="Canva Sans"/>
                          <a:ea typeface="Canva Sans"/>
                          <a:cs typeface="Canva Sans"/>
                          <a:sym typeface="Canva Sans"/>
                        </a:rPr>
                        <a:t>Bad price orders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c>
                  <a:txBody>
                    <a:bodyPr anchor="t" rtlCol="false"/>
                    <a:lstStyle/>
                    <a:p>
                      <a:pPr algn="r">
                        <a:lnSpc>
                          <a:spcPts val="2240"/>
                        </a:lnSpc>
                        <a:defRPr/>
                      </a:pPr>
                      <a:r>
                        <a:rPr lang="en-US" sz="1600">
                          <a:solidFill>
                            <a:srgbClr val="000000"/>
                          </a:solidFill>
                          <a:latin typeface="Canva Sans"/>
                          <a:ea typeface="Canva Sans"/>
                          <a:cs typeface="Canva Sans"/>
                          <a:sym typeface="Canva Sans"/>
                        </a:rPr>
                        <a:t>8</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c>
                  <a:txBody>
                    <a:bodyPr anchor="t" rtlCol="false"/>
                    <a:lstStyle/>
                    <a:p>
                      <a:pPr algn="r">
                        <a:lnSpc>
                          <a:spcPts val="2380"/>
                        </a:lnSpc>
                        <a:defRPr/>
                      </a:pPr>
                      <a:r>
                        <a:rPr lang="en-US" sz="1700">
                          <a:solidFill>
                            <a:srgbClr val="000000"/>
                          </a:solidFill>
                          <a:latin typeface="Canva Sans"/>
                          <a:ea typeface="Canva Sans"/>
                          <a:cs typeface="Canva Sans"/>
                          <a:sym typeface="Canva Sans"/>
                        </a:rPr>
                        <a:t>0.001%</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c>
                  <a:txBody>
                    <a:bodyPr anchor="t" rtlCol="false"/>
                    <a:lstStyle/>
                    <a:p>
                      <a:pPr algn="l">
                        <a:lnSpc>
                          <a:spcPts val="2380"/>
                        </a:lnSpc>
                        <a:defRPr/>
                      </a:pPr>
                      <a:r>
                        <a:rPr lang="en-US" sz="1700">
                          <a:solidFill>
                            <a:srgbClr val="000000"/>
                          </a:solidFill>
                          <a:latin typeface="Canva Sans"/>
                          <a:ea typeface="Canva Sans"/>
                          <a:cs typeface="Canva Sans"/>
                          <a:sym typeface="Canva Sans"/>
                        </a:rPr>
                        <a:t>Excluded — price_usd = 0 or negative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r>
              <a:tr h="497024">
                <a:tc>
                  <a:txBody>
                    <a:bodyPr anchor="t" rtlCol="false"/>
                    <a:lstStyle/>
                    <a:p>
                      <a:pPr algn="l">
                        <a:lnSpc>
                          <a:spcPts val="2240"/>
                        </a:lnSpc>
                        <a:defRPr/>
                      </a:pPr>
                      <a:r>
                        <a:rPr lang="en-US" sz="1600">
                          <a:solidFill>
                            <a:srgbClr val="000000"/>
                          </a:solidFill>
                          <a:latin typeface="Canva Sans"/>
                          <a:ea typeface="Canva Sans"/>
                          <a:cs typeface="Canva Sans"/>
                          <a:sym typeface="Canva Sans"/>
                        </a:rPr>
                        <a:t>Impossible pageviews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EBF3F8"/>
                    </a:solidFill>
                  </a:tcPr>
                </a:tc>
                <a:tc>
                  <a:txBody>
                    <a:bodyPr anchor="t" rtlCol="false"/>
                    <a:lstStyle/>
                    <a:p>
                      <a:pPr algn="r">
                        <a:lnSpc>
                          <a:spcPts val="2240"/>
                        </a:lnSpc>
                        <a:defRPr/>
                      </a:pPr>
                      <a:r>
                        <a:rPr lang="en-US" sz="1600">
                          <a:solidFill>
                            <a:srgbClr val="000000"/>
                          </a:solidFill>
                          <a:latin typeface="Canva Sans"/>
                          <a:ea typeface="Canva Sans"/>
                          <a:cs typeface="Canva Sans"/>
                          <a:sym typeface="Canva Sans"/>
                        </a:rPr>
                        <a:t>10</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EBF3F8"/>
                    </a:solidFill>
                  </a:tcPr>
                </a:tc>
                <a:tc>
                  <a:txBody>
                    <a:bodyPr anchor="t" rtlCol="false"/>
                    <a:lstStyle/>
                    <a:p>
                      <a:pPr algn="r">
                        <a:lnSpc>
                          <a:spcPts val="2380"/>
                        </a:lnSpc>
                        <a:defRPr/>
                      </a:pPr>
                      <a:r>
                        <a:rPr lang="en-US" sz="1700">
                          <a:solidFill>
                            <a:srgbClr val="000000"/>
                          </a:solidFill>
                          <a:latin typeface="Canva Sans"/>
                          <a:ea typeface="Canva Sans"/>
                          <a:cs typeface="Canva Sans"/>
                          <a:sym typeface="Canva Sans"/>
                        </a:rPr>
                        <a:t>0.001%</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EBF3F8"/>
                    </a:solidFill>
                  </a:tcPr>
                </a:tc>
                <a:tc>
                  <a:txBody>
                    <a:bodyPr anchor="t" rtlCol="false"/>
                    <a:lstStyle/>
                    <a:p>
                      <a:pPr algn="l">
                        <a:lnSpc>
                          <a:spcPts val="2240"/>
                        </a:lnSpc>
                        <a:defRPr/>
                      </a:pPr>
                      <a:r>
                        <a:rPr lang="en-US" sz="1600">
                          <a:solidFill>
                            <a:srgbClr val="000000"/>
                          </a:solidFill>
                          <a:latin typeface="Canva Sans"/>
                          <a:ea typeface="Canva Sans"/>
                          <a:cs typeface="Canva Sans"/>
                          <a:sym typeface="Canva Sans"/>
                        </a:rPr>
                        <a:t>Excluded — pageview timestamp before session timestamp</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EBF3F8"/>
                    </a:solidFill>
                  </a:tcPr>
                </a:tc>
              </a:tr>
              <a:tr h="497024">
                <a:tc>
                  <a:txBody>
                    <a:bodyPr anchor="t" rtlCol="false"/>
                    <a:lstStyle/>
                    <a:p>
                      <a:pPr algn="l">
                        <a:lnSpc>
                          <a:spcPts val="2100"/>
                        </a:lnSpc>
                        <a:defRPr/>
                      </a:pPr>
                      <a:r>
                        <a:rPr lang="en-US" sz="1500">
                          <a:solidFill>
                            <a:srgbClr val="000000"/>
                          </a:solidFill>
                          <a:latin typeface="Canva Sans"/>
                          <a:ea typeface="Canva Sans"/>
                          <a:cs typeface="Canva Sans"/>
                          <a:sym typeface="Canva Sans"/>
                        </a:rPr>
                        <a:t>Orphan product items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c>
                  <a:txBody>
                    <a:bodyPr anchor="t" rtlCol="false"/>
                    <a:lstStyle/>
                    <a:p>
                      <a:pPr algn="r">
                        <a:lnSpc>
                          <a:spcPts val="2380"/>
                        </a:lnSpc>
                        <a:defRPr/>
                      </a:pPr>
                      <a:r>
                        <a:rPr lang="en-US" sz="1700">
                          <a:solidFill>
                            <a:srgbClr val="000000"/>
                          </a:solidFill>
                          <a:latin typeface="Canva Sans"/>
                          <a:ea typeface="Canva Sans"/>
                          <a:cs typeface="Canva Sans"/>
                          <a:sym typeface="Canva Sans"/>
                        </a:rPr>
                        <a:t>15</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c>
                  <a:txBody>
                    <a:bodyPr anchor="t" rtlCol="false"/>
                    <a:lstStyle/>
                    <a:p>
                      <a:pPr algn="r">
                        <a:lnSpc>
                          <a:spcPts val="2380"/>
                        </a:lnSpc>
                        <a:defRPr/>
                      </a:pPr>
                      <a:r>
                        <a:rPr lang="en-US" sz="1700">
                          <a:solidFill>
                            <a:srgbClr val="000000"/>
                          </a:solidFill>
                          <a:latin typeface="Canva Sans"/>
                          <a:ea typeface="Canva Sans"/>
                          <a:cs typeface="Canva Sans"/>
                          <a:sym typeface="Canva Sans"/>
                        </a:rPr>
                        <a:t>0.001%</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c>
                  <a:txBody>
                    <a:bodyPr anchor="t" rtlCol="false"/>
                    <a:lstStyle/>
                    <a:p>
                      <a:pPr algn="l">
                        <a:lnSpc>
                          <a:spcPts val="2240"/>
                        </a:lnSpc>
                        <a:defRPr/>
                      </a:pPr>
                      <a:r>
                        <a:rPr lang="en-US" sz="1600">
                          <a:solidFill>
                            <a:srgbClr val="000000"/>
                          </a:solidFill>
                          <a:latin typeface="Canva Sans"/>
                          <a:ea typeface="Canva Sans"/>
                          <a:cs typeface="Canva Sans"/>
                          <a:sym typeface="Canva Sans"/>
                        </a:rPr>
                        <a:t>Excluded — product_id = 99, not in products table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r>
              <a:tr h="525699">
                <a:tc>
                  <a:txBody>
                    <a:bodyPr anchor="t" rtlCol="false"/>
                    <a:lstStyle/>
                    <a:p>
                      <a:pPr algn="l">
                        <a:lnSpc>
                          <a:spcPts val="2240"/>
                        </a:lnSpc>
                        <a:defRPr/>
                      </a:pPr>
                      <a:r>
                        <a:rPr lang="en-US" sz="1600">
                          <a:solidFill>
                            <a:srgbClr val="000000"/>
                          </a:solidFill>
                          <a:latin typeface="Canva Sans"/>
                          <a:ea typeface="Canva Sans"/>
                          <a:cs typeface="Canva Sans"/>
                          <a:sym typeface="Canva Sans"/>
                        </a:rPr>
                        <a:t>TOTAL HARD EXCLUSIONS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DECEA"/>
                    </a:solidFill>
                  </a:tcPr>
                </a:tc>
                <a:tc>
                  <a:txBody>
                    <a:bodyPr anchor="t" rtlCol="false"/>
                    <a:lstStyle/>
                    <a:p>
                      <a:pPr algn="r">
                        <a:lnSpc>
                          <a:spcPts val="2380"/>
                        </a:lnSpc>
                        <a:defRPr/>
                      </a:pPr>
                      <a:r>
                        <a:rPr lang="en-US" sz="1700">
                          <a:solidFill>
                            <a:srgbClr val="000000"/>
                          </a:solidFill>
                          <a:latin typeface="Canva Sans"/>
                          <a:ea typeface="Canva Sans"/>
                          <a:cs typeface="Canva Sans"/>
                          <a:sym typeface="Canva Sans"/>
                        </a:rPr>
                        <a:t>34</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DECEA"/>
                    </a:solidFill>
                  </a:tcPr>
                </a:tc>
                <a:tc>
                  <a:txBody>
                    <a:bodyPr anchor="t" rtlCol="false"/>
                    <a:lstStyle/>
                    <a:p>
                      <a:pPr algn="r">
                        <a:lnSpc>
                          <a:spcPts val="2380"/>
                        </a:lnSpc>
                        <a:defRPr/>
                      </a:pPr>
                      <a:r>
                        <a:rPr lang="en-US" sz="1700">
                          <a:solidFill>
                            <a:srgbClr val="000000"/>
                          </a:solidFill>
                          <a:latin typeface="Canva Sans"/>
                          <a:ea typeface="Canva Sans"/>
                          <a:cs typeface="Canva Sans"/>
                          <a:sym typeface="Canva Sans"/>
                        </a:rPr>
                        <a:t>0.002%</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DECEA"/>
                    </a:solidFill>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Dataset is clean — every metric is fully defensible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DECEA"/>
                    </a:solidFill>
                  </a:tcPr>
                </a:tc>
              </a:tr>
              <a:tr h="525699">
                <a:tc>
                  <a:txBody>
                    <a:bodyPr anchor="t" rtlCol="false"/>
                    <a:lstStyle/>
                    <a:p>
                      <a:pPr algn="l">
                        <a:lnSpc>
                          <a:spcPts val="2520"/>
                        </a:lnSpc>
                        <a:defRPr/>
                      </a:pPr>
                      <a:r>
                        <a:rPr lang="en-US" sz="1800">
                          <a:solidFill>
                            <a:srgbClr val="000000"/>
                          </a:solidFill>
                          <a:latin typeface="Canva Sans"/>
                          <a:ea typeface="Canva Sans"/>
                          <a:cs typeface="Canva Sans"/>
                          <a:sym typeface="Canva Sans"/>
                        </a:rPr>
                        <a:t>Case/spacing issues fixed</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c>
                  <a:txBody>
                    <a:bodyPr anchor="t" rtlCol="false"/>
                    <a:lstStyle/>
                    <a:p>
                      <a:pPr algn="r">
                        <a:lnSpc>
                          <a:spcPts val="2380"/>
                        </a:lnSpc>
                        <a:defRPr/>
                      </a:pPr>
                      <a:r>
                        <a:rPr lang="en-US" sz="1700">
                          <a:solidFill>
                            <a:srgbClr val="000000"/>
                          </a:solidFill>
                          <a:latin typeface="Canva Sans"/>
                          <a:ea typeface="Canva Sans"/>
                          <a:cs typeface="Canva Sans"/>
                          <a:sym typeface="Canva Sans"/>
                        </a:rPr>
                        <a:t>89+</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c>
                  <a:txBody>
                    <a:bodyPr anchor="t" rtlCol="false"/>
                    <a:lstStyle/>
                    <a:p>
                      <a:pPr algn="r">
                        <a:lnSpc>
                          <a:spcPts val="2380"/>
                        </a:lnSpc>
                        <a:defRPr/>
                      </a:pPr>
                      <a:r>
                        <a:rPr lang="en-US" sz="1700">
                          <a:solidFill>
                            <a:srgbClr val="000000"/>
                          </a:solidFill>
                          <a:latin typeface="Canva Sans"/>
                          <a:ea typeface="Canva Sans"/>
                          <a:cs typeface="Canva Sans"/>
                          <a:sym typeface="Canva Sans"/>
                        </a:rPr>
                        <a:t>n/a</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c>
                  <a:txBody>
                    <a:bodyPr anchor="t" rtlCol="false"/>
                    <a:lstStyle/>
                    <a:p>
                      <a:pPr algn="l">
                        <a:lnSpc>
                          <a:spcPts val="2240"/>
                        </a:lnSpc>
                        <a:defRPr/>
                      </a:pPr>
                      <a:r>
                        <a:rPr lang="en-US" sz="1600">
                          <a:solidFill>
                            <a:srgbClr val="000000"/>
                          </a:solidFill>
                          <a:latin typeface="Canva Sans"/>
                          <a:ea typeface="Canva Sans"/>
                          <a:cs typeface="Canva Sans"/>
                          <a:sym typeface="Canva Sans"/>
                        </a:rPr>
                        <a:t>LOWER(TRIM()) applied to all text fields — not excluded</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FFFFFF"/>
                    </a:solidFill>
                  </a:tcPr>
                </a:tc>
              </a:tr>
            </a:tbl>
          </a:graphicData>
        </a:graphic>
      </p:graphicFrame>
      <p:sp>
        <p:nvSpPr>
          <p:cNvPr name="TextBox 10" id="10"/>
          <p:cNvSpPr txBox="true"/>
          <p:nvPr/>
        </p:nvSpPr>
        <p:spPr>
          <a:xfrm rot="0">
            <a:off x="14007580" y="2092301"/>
            <a:ext cx="3251720" cy="2759639"/>
          </a:xfrm>
          <a:prstGeom prst="rect">
            <a:avLst/>
          </a:prstGeom>
        </p:spPr>
        <p:txBody>
          <a:bodyPr anchor="t" rtlCol="false" tIns="0" lIns="0" bIns="0" rIns="0">
            <a:spAutoFit/>
          </a:bodyPr>
          <a:lstStyle/>
          <a:p>
            <a:pPr algn="l">
              <a:lnSpc>
                <a:spcPts val="2243"/>
              </a:lnSpc>
              <a:spcBef>
                <a:spcPct val="0"/>
              </a:spcBef>
            </a:pPr>
            <a:r>
              <a:rPr lang="en-US" b="true" sz="1602">
                <a:solidFill>
                  <a:srgbClr val="FFFFFF"/>
                </a:solidFill>
                <a:latin typeface="DM Sans Bold"/>
                <a:ea typeface="DM Sans Bold"/>
                <a:cs typeface="DM Sans Bold"/>
                <a:sym typeface="DM Sans Bold"/>
              </a:rPr>
              <a:t>3</a:t>
            </a:r>
            <a:r>
              <a:rPr lang="en-US" b="true" sz="1602">
                <a:solidFill>
                  <a:srgbClr val="FFFFFF"/>
                </a:solidFill>
                <a:latin typeface="DM Sans Bold"/>
                <a:ea typeface="DM Sans Bold"/>
                <a:cs typeface="DM Sans Bold"/>
                <a:sym typeface="DM Sans Bold"/>
              </a:rPr>
              <a:t>-Step Data Governance Recommendation:</a:t>
            </a:r>
          </a:p>
          <a:p>
            <a:pPr algn="l" marL="346042" indent="-173021" lvl="1">
              <a:lnSpc>
                <a:spcPts val="2243"/>
              </a:lnSpc>
              <a:buFont typeface="Arial"/>
              <a:buChar char="•"/>
            </a:pPr>
            <a:r>
              <a:rPr lang="en-US" sz="1602">
                <a:solidFill>
                  <a:srgbClr val="FFFFFF"/>
                </a:solidFill>
                <a:latin typeface="DM Sans"/>
                <a:ea typeface="DM Sans"/>
                <a:cs typeface="DM Sans"/>
                <a:sym typeface="DM Sans"/>
              </a:rPr>
              <a:t>Referential integrity check on all foreign keys before export</a:t>
            </a:r>
          </a:p>
          <a:p>
            <a:pPr algn="l" marL="346042" indent="-173021" lvl="1">
              <a:lnSpc>
                <a:spcPts val="2243"/>
              </a:lnSpc>
              <a:buFont typeface="Arial"/>
              <a:buChar char="•"/>
            </a:pPr>
            <a:r>
              <a:rPr lang="en-US" sz="1602">
                <a:solidFill>
                  <a:srgbClr val="FFFFFF"/>
                </a:solidFill>
                <a:latin typeface="DM Sans"/>
                <a:ea typeface="DM Sans"/>
                <a:cs typeface="DM Sans"/>
                <a:sym typeface="DM Sans"/>
              </a:rPr>
              <a:t>Auto-reject price ≤ 0 at database write layer</a:t>
            </a:r>
          </a:p>
          <a:p>
            <a:pPr algn="l" marL="346042" indent="-173021" lvl="1">
              <a:lnSpc>
                <a:spcPts val="2243"/>
              </a:lnSpc>
              <a:buFont typeface="Arial"/>
              <a:buChar char="•"/>
            </a:pPr>
            <a:r>
              <a:rPr lang="en-US" sz="1602">
                <a:solidFill>
                  <a:srgbClr val="FFFFFF"/>
                </a:solidFill>
                <a:latin typeface="DM Sans"/>
                <a:ea typeface="DM Sans"/>
                <a:cs typeface="DM Sans"/>
                <a:sym typeface="DM Sans"/>
              </a:rPr>
              <a:t>Timestamp constraint — pageview cannot pre-date its own session</a:t>
            </a:r>
          </a:p>
          <a:p>
            <a:pPr algn="l">
              <a:lnSpc>
                <a:spcPts val="2243"/>
              </a:lnSpc>
              <a:spcBef>
                <a:spcPct val="0"/>
              </a:spcBef>
            </a:pPr>
          </a:p>
        </p:txBody>
      </p:sp>
      <p:graphicFrame>
        <p:nvGraphicFramePr>
          <p:cNvPr name="Table 11" id="11"/>
          <p:cNvGraphicFramePr>
            <a:graphicFrameLocks noGrp="true"/>
          </p:cNvGraphicFramePr>
          <p:nvPr/>
        </p:nvGraphicFramePr>
        <p:xfrm>
          <a:off x="1028700" y="5833557"/>
          <a:ext cx="16570475" cy="3325728"/>
        </p:xfrm>
        <a:graphic>
          <a:graphicData uri="http://schemas.openxmlformats.org/drawingml/2006/table">
            <a:tbl>
              <a:tblPr/>
              <a:tblGrid>
                <a:gridCol w="2607195"/>
                <a:gridCol w="13963280"/>
              </a:tblGrid>
              <a:tr h="793598">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34 r</a:t>
                      </a:r>
                      <a:r>
                        <a:rPr lang="en-US" b="true" sz="1700">
                          <a:solidFill>
                            <a:srgbClr val="FFFFFF"/>
                          </a:solidFill>
                          <a:latin typeface="Canva Sans Bold"/>
                          <a:ea typeface="Canva Sans Bold"/>
                          <a:cs typeface="Canva Sans Bold"/>
                          <a:sym typeface="Canva Sans Bold"/>
                        </a:rPr>
                        <a:t>ecords excluded out of 472,871 total — just 0.002% of the dataset. Issues found: duplicates, zero-price orders, impossible timestamps, and orphan product IDs.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999804">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b="true" sz="1700">
                          <a:solidFill>
                            <a:srgbClr val="FFFFFF"/>
                          </a:solidFill>
                          <a:latin typeface="Canva Sans Bold"/>
                          <a:ea typeface="Canva Sans Bold"/>
                          <a:cs typeface="Canva Sans Bold"/>
                          <a:sym typeface="Canva Sans Bold"/>
                        </a:rPr>
                        <a:t>The data is structurally sound. Every metric in this deck is fully defensible. Dirty data leads to wrong decisions — wrong decisions in front of investors can be fatal.</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598">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 Impl</a:t>
                      </a:r>
                      <a:r>
                        <a:rPr lang="en-US" b="true" sz="1700">
                          <a:solidFill>
                            <a:srgbClr val="FFFFFF"/>
                          </a:solidFill>
                          <a:latin typeface="Canva Sans Bold"/>
                          <a:ea typeface="Canva Sans Bold"/>
                          <a:cs typeface="Canva Sans Bold"/>
                          <a:sym typeface="Canva Sans Bold"/>
                        </a:rPr>
                        <a:t>ement the 3-step validation process immediately at the engineering level to prevent these issues from reaching the analyst team in future exports.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38728">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Zero data exclusions in future analysis cycles. KPI: data error rate per export — target 0%.</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graphicFrame>
        <p:nvGraphicFramePr>
          <p:cNvPr name="Table 5" id="5"/>
          <p:cNvGraphicFramePr>
            <a:graphicFrameLocks noGrp="true"/>
          </p:cNvGraphicFramePr>
          <p:nvPr/>
        </p:nvGraphicFramePr>
        <p:xfrm>
          <a:off x="688825" y="5937734"/>
          <a:ext cx="16570475" cy="3320566"/>
        </p:xfrm>
        <a:graphic>
          <a:graphicData uri="http://schemas.openxmlformats.org/drawingml/2006/table">
            <a:tbl>
              <a:tblPr/>
              <a:tblGrid>
                <a:gridCol w="2607195"/>
                <a:gridCol w="13963280"/>
              </a:tblGrid>
              <a:tr h="733550">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S</a:t>
                      </a:r>
                      <a:r>
                        <a:rPr lang="en-US" b="true" sz="1700">
                          <a:solidFill>
                            <a:srgbClr val="FFFFFF"/>
                          </a:solidFill>
                          <a:latin typeface="Canva Sans Bold"/>
                          <a:ea typeface="Canva Sans Bold"/>
                          <a:cs typeface="Canva Sans Bold"/>
                          <a:sym typeface="Canva Sans Bold"/>
                        </a:rPr>
                        <a:t>essions grew 38x (1,879 → 72,048) and orders grew 96x (59 → 5,681) between Q1 2012 and Q4 2014.</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999810">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Ord</a:t>
                      </a:r>
                      <a:r>
                        <a:rPr lang="en-US" b="true" sz="1700">
                          <a:solidFill>
                            <a:srgbClr val="FFFFFF"/>
                          </a:solidFill>
                          <a:latin typeface="Canva Sans Bold"/>
                          <a:ea typeface="Canva Sans Bold"/>
                          <a:cs typeface="Canva Sans Bold"/>
                          <a:sym typeface="Canva Sans Bold"/>
                        </a:rPr>
                        <a:t>ers outpaced sessions — meaning the business converted traffic more efficiently as it scaled, not less. Volume and efficiency improved simultaneously.</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603">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Co</a:t>
                      </a:r>
                      <a:r>
                        <a:rPr lang="en-US" b="true" sz="1700">
                          <a:solidFill>
                            <a:srgbClr val="FFFFFF"/>
                          </a:solidFill>
                          <a:latin typeface="Canva Sans Bold"/>
                          <a:ea typeface="Canva Sans Bold"/>
                          <a:cs typeface="Canva Sans Bold"/>
                          <a:sym typeface="Canva Sans Bold"/>
                        </a:rPr>
                        <a:t>ntinue investing in the three proven growth levers: website conversion testing, product portfolio expansion, and channel diversification.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603">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KPI: quarterly order growth rate must remain above session growth rate — confirming compounding efficiency. Benchmark: orders grew 2.5x faster than sessions over the full lifecycle.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sp>
        <p:nvSpPr>
          <p:cNvPr name="Freeform 6" id="6"/>
          <p:cNvSpPr/>
          <p:nvPr/>
        </p:nvSpPr>
        <p:spPr>
          <a:xfrm flipH="false" flipV="false" rot="0">
            <a:off x="7166907" y="1197592"/>
            <a:ext cx="10405994" cy="5033900"/>
          </a:xfrm>
          <a:custGeom>
            <a:avLst/>
            <a:gdLst/>
            <a:ahLst/>
            <a:cxnLst/>
            <a:rect r="r" b="b" t="t" l="l"/>
            <a:pathLst>
              <a:path h="5033900" w="10405994">
                <a:moveTo>
                  <a:pt x="0" y="0"/>
                </a:moveTo>
                <a:lnTo>
                  <a:pt x="10405995" y="0"/>
                </a:lnTo>
                <a:lnTo>
                  <a:pt x="10405995" y="5033900"/>
                </a:lnTo>
                <a:lnTo>
                  <a:pt x="0" y="5033900"/>
                </a:lnTo>
                <a:lnTo>
                  <a:pt x="0" y="0"/>
                </a:lnTo>
                <a:close/>
              </a:path>
            </a:pathLst>
          </a:custGeom>
          <a:blipFill>
            <a:blip r:embed="rId2"/>
            <a:stretch>
              <a:fillRect l="0" t="0" r="0" b="0"/>
            </a:stretch>
          </a:blipFill>
        </p:spPr>
      </p:sp>
      <p:sp>
        <p:nvSpPr>
          <p:cNvPr name="TextBox 7" id="7"/>
          <p:cNvSpPr txBox="true"/>
          <p:nvPr/>
        </p:nvSpPr>
        <p:spPr>
          <a:xfrm rot="0">
            <a:off x="16429181" y="9532442"/>
            <a:ext cx="3424513" cy="200263"/>
          </a:xfrm>
          <a:prstGeom prst="rect">
            <a:avLst/>
          </a:prstGeom>
        </p:spPr>
        <p:txBody>
          <a:bodyPr anchor="t" rtlCol="false" tIns="0" lIns="0" bIns="0" rIns="0">
            <a:spAutoFit/>
          </a:bodyPr>
          <a:lstStyle/>
          <a:p>
            <a:pPr algn="l" marL="0" indent="0" lvl="0">
              <a:lnSpc>
                <a:spcPts val="1409"/>
              </a:lnSpc>
              <a:spcBef>
                <a:spcPct val="0"/>
              </a:spcBef>
            </a:pPr>
            <a:r>
              <a:rPr lang="en-US" sz="1531" strike="noStrike" u="none">
                <a:solidFill>
                  <a:srgbClr val="FFFFFF"/>
                </a:solidFill>
                <a:latin typeface="Montserrat"/>
                <a:ea typeface="Montserrat"/>
                <a:cs typeface="Montserrat"/>
                <a:sym typeface="Montserrat"/>
              </a:rPr>
              <a:t>C02-page  04</a:t>
            </a:r>
          </a:p>
        </p:txBody>
      </p:sp>
      <p:sp>
        <p:nvSpPr>
          <p:cNvPr name="TextBox 8" id="8"/>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9" id="9"/>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10" id="10"/>
          <p:cNvSpPr txBox="true"/>
          <p:nvPr/>
        </p:nvSpPr>
        <p:spPr>
          <a:xfrm rot="0">
            <a:off x="688825" y="445117"/>
            <a:ext cx="9261872" cy="752475"/>
          </a:xfrm>
          <a:prstGeom prst="rect">
            <a:avLst/>
          </a:prstGeom>
        </p:spPr>
        <p:txBody>
          <a:bodyPr anchor="t" rtlCol="false" tIns="0" lIns="0" bIns="0" rIns="0">
            <a:spAutoFit/>
          </a:bodyPr>
          <a:lstStyle/>
          <a:p>
            <a:pPr algn="l" marL="0" indent="0" lvl="0">
              <a:lnSpc>
                <a:spcPts val="3999"/>
              </a:lnSpc>
              <a:spcBef>
                <a:spcPct val="0"/>
              </a:spcBef>
            </a:pPr>
            <a:r>
              <a:rPr lang="en-US" b="true" sz="3999" spc="-219" strike="noStrike" u="none">
                <a:solidFill>
                  <a:srgbClr val="F0F2F5"/>
                </a:solidFill>
                <a:latin typeface="Work Sans Semi-Bold"/>
                <a:ea typeface="Work Sans Semi-Bold"/>
                <a:cs typeface="Work Sans Semi-Bold"/>
                <a:sym typeface="Work Sans Semi-Bold"/>
              </a:rPr>
              <a:t>OVERALL BUSINESS GROWTH</a:t>
            </a:r>
          </a:p>
          <a:p>
            <a:pPr algn="l" marL="0" indent="0" lvl="0">
              <a:lnSpc>
                <a:spcPts val="2000"/>
              </a:lnSpc>
              <a:spcBef>
                <a:spcPct val="0"/>
              </a:spcBef>
            </a:pPr>
            <a:r>
              <a:rPr lang="en-US" b="true" sz="2000" spc="-110" strike="noStrike" u="none">
                <a:solidFill>
                  <a:srgbClr val="F0F2F5"/>
                </a:solidFill>
                <a:latin typeface="Work Sans Semi-Bold"/>
                <a:ea typeface="Work Sans Semi-Bold"/>
                <a:cs typeface="Work Sans Semi-Bold"/>
                <a:sym typeface="Work Sans Semi-Bold"/>
              </a:rPr>
              <a:t>How Big Have We Become? Sessions &amp; Orders by Quarter — Full Business Lifecycle</a:t>
            </a:r>
          </a:p>
        </p:txBody>
      </p:sp>
      <p:sp>
        <p:nvSpPr>
          <p:cNvPr name="TextBox 11" id="11"/>
          <p:cNvSpPr txBox="true"/>
          <p:nvPr/>
        </p:nvSpPr>
        <p:spPr>
          <a:xfrm rot="0">
            <a:off x="628050" y="1910685"/>
            <a:ext cx="6661974" cy="2966287"/>
          </a:xfrm>
          <a:prstGeom prst="rect">
            <a:avLst/>
          </a:prstGeom>
        </p:spPr>
        <p:txBody>
          <a:bodyPr anchor="t" rtlCol="false" tIns="0" lIns="0" bIns="0" rIns="0">
            <a:spAutoFit/>
          </a:bodyPr>
          <a:lstStyle/>
          <a:p>
            <a:pPr algn="l">
              <a:lnSpc>
                <a:spcPts val="2928"/>
              </a:lnSpc>
              <a:spcBef>
                <a:spcPct val="0"/>
              </a:spcBef>
            </a:pPr>
            <a:r>
              <a:rPr lang="en-US" b="true" sz="2092">
                <a:solidFill>
                  <a:srgbClr val="FFFFFF"/>
                </a:solidFill>
                <a:latin typeface="DM Sans Bold"/>
                <a:ea typeface="DM Sans Bold"/>
                <a:cs typeface="DM Sans Bold"/>
                <a:sym typeface="DM Sans Bold"/>
              </a:rPr>
              <a:t>3 Inflection Points:</a:t>
            </a:r>
          </a:p>
          <a:p>
            <a:pPr algn="l">
              <a:lnSpc>
                <a:spcPts val="2928"/>
              </a:lnSpc>
              <a:spcBef>
                <a:spcPct val="0"/>
              </a:spcBef>
            </a:pPr>
            <a:r>
              <a:rPr lang="en-US" b="true" sz="2092">
                <a:solidFill>
                  <a:srgbClr val="FFFFFF"/>
                </a:solidFill>
                <a:latin typeface="DM Sans Bold"/>
                <a:ea typeface="DM Sans Bold"/>
                <a:cs typeface="DM Sans Bold"/>
                <a:sym typeface="DM Sans Bold"/>
              </a:rPr>
              <a:t> 🔴 Q4 2012 — Conversion improvements (landing + billing tests) + holiday demand drove sharp spike</a:t>
            </a:r>
          </a:p>
          <a:p>
            <a:pPr algn="l">
              <a:lnSpc>
                <a:spcPts val="2928"/>
              </a:lnSpc>
              <a:spcBef>
                <a:spcPct val="0"/>
              </a:spcBef>
            </a:pPr>
            <a:r>
              <a:rPr lang="en-US" b="true" sz="2092">
                <a:solidFill>
                  <a:srgbClr val="FFFFFF"/>
                </a:solidFill>
                <a:latin typeface="DM Sans Bold"/>
                <a:ea typeface="DM Sans Bold"/>
                <a:cs typeface="DM Sans Bold"/>
                <a:sym typeface="DM Sans Bold"/>
              </a:rPr>
              <a:t> 🟡 Q1  2013 — Love Bear launch + increasing bsearch contribution established higher baseline</a:t>
            </a:r>
          </a:p>
          <a:p>
            <a:pPr algn="l">
              <a:lnSpc>
                <a:spcPts val="2928"/>
              </a:lnSpc>
              <a:spcBef>
                <a:spcPct val="0"/>
              </a:spcBef>
            </a:pPr>
            <a:r>
              <a:rPr lang="en-US" b="true" sz="2092">
                <a:solidFill>
                  <a:srgbClr val="FFFFFF"/>
                </a:solidFill>
                <a:latin typeface="DM Sans Bold"/>
                <a:ea typeface="DM Sans Bold"/>
                <a:cs typeface="DM Sans Bold"/>
                <a:sym typeface="DM Sans Bold"/>
              </a:rPr>
              <a:t> 🟢 2013–2014 — Product expansion + scaled bsearch channel → sustained, compounding growth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graphicFrame>
        <p:nvGraphicFramePr>
          <p:cNvPr name="Table 5" id="5"/>
          <p:cNvGraphicFramePr>
            <a:graphicFrameLocks noGrp="true"/>
          </p:cNvGraphicFramePr>
          <p:nvPr/>
        </p:nvGraphicFramePr>
        <p:xfrm>
          <a:off x="858762" y="5877911"/>
          <a:ext cx="16570475" cy="3380389"/>
        </p:xfrm>
        <a:graphic>
          <a:graphicData uri="http://schemas.openxmlformats.org/drawingml/2006/table">
            <a:tbl>
              <a:tblPr/>
              <a:tblGrid>
                <a:gridCol w="2607195"/>
                <a:gridCol w="13963280"/>
              </a:tblGrid>
              <a:tr h="79354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At launch th</a:t>
                      </a:r>
                      <a:r>
                        <a:rPr lang="en-US" b="true" sz="1700">
                          <a:solidFill>
                            <a:srgbClr val="FFFFFF"/>
                          </a:solidFill>
                          <a:latin typeface="Canva Sans Bold"/>
                          <a:ea typeface="Canva Sans Bold"/>
                          <a:cs typeface="Canva Sans Bold"/>
                          <a:sym typeface="Canva Sans Bold"/>
                        </a:rPr>
                        <a:t>e business had one single paid channel. By Q4 2014 it had four meaningful traffic sources, with brand and free channels growing the fastest.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999742">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Brand s</a:t>
                      </a:r>
                      <a:r>
                        <a:rPr lang="en-US" b="true" sz="1700">
                          <a:solidFill>
                            <a:srgbClr val="FFFFFF"/>
                          </a:solidFill>
                          <a:latin typeface="Canva Sans Bold"/>
                          <a:ea typeface="Canva Sans Bold"/>
                          <a:cs typeface="Canva Sans Bold"/>
                          <a:sym typeface="Canva Sans Bold"/>
                        </a:rPr>
                        <a:t>earch growth from 0.4% to 15% means customers are actively searching the company name — that is not paid discovery, that is earned brand awareness. It grew with zero SEO investment.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54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Formal</a:t>
                      </a:r>
                      <a:r>
                        <a:rPr lang="en-US" b="true" sz="1700">
                          <a:solidFill>
                            <a:srgbClr val="FFFFFF"/>
                          </a:solidFill>
                          <a:latin typeface="Canva Sans Bold"/>
                          <a:ea typeface="Canva Sans Bold"/>
                          <a:cs typeface="Canva Sans Bold"/>
                          <a:sym typeface="Canva Sans Bold"/>
                        </a:rPr>
                        <a:t>ise the organic growth with a lightweight content and referral program. The audience is already arriving — invest modestly to earn more of it.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54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KPI: free + brand share of total orders — currently 33.5%. Target: 40% within 12 months. Every order shifted from paid to free is direct margin improvement.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sp>
        <p:nvSpPr>
          <p:cNvPr name="Freeform 6" id="6"/>
          <p:cNvSpPr/>
          <p:nvPr/>
        </p:nvSpPr>
        <p:spPr>
          <a:xfrm flipH="false" flipV="false" rot="0">
            <a:off x="8108459" y="790374"/>
            <a:ext cx="9320778" cy="4928361"/>
          </a:xfrm>
          <a:custGeom>
            <a:avLst/>
            <a:gdLst/>
            <a:ahLst/>
            <a:cxnLst/>
            <a:rect r="r" b="b" t="t" l="l"/>
            <a:pathLst>
              <a:path h="4928361" w="9320778">
                <a:moveTo>
                  <a:pt x="0" y="0"/>
                </a:moveTo>
                <a:lnTo>
                  <a:pt x="9320779" y="0"/>
                </a:lnTo>
                <a:lnTo>
                  <a:pt x="9320779" y="4928361"/>
                </a:lnTo>
                <a:lnTo>
                  <a:pt x="0" y="4928361"/>
                </a:lnTo>
                <a:lnTo>
                  <a:pt x="0" y="0"/>
                </a:lnTo>
                <a:close/>
              </a:path>
            </a:pathLst>
          </a:custGeom>
          <a:blipFill>
            <a:blip r:embed="rId2"/>
            <a:stretch>
              <a:fillRect l="0" t="0" r="0" b="0"/>
            </a:stretch>
          </a:blipFill>
        </p:spPr>
      </p:sp>
      <p:sp>
        <p:nvSpPr>
          <p:cNvPr name="TextBox 7" id="7"/>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8" id="8"/>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9" id="9"/>
          <p:cNvSpPr txBox="true"/>
          <p:nvPr/>
        </p:nvSpPr>
        <p:spPr>
          <a:xfrm rot="0">
            <a:off x="436479" y="396906"/>
            <a:ext cx="9829634" cy="752476"/>
          </a:xfrm>
          <a:prstGeom prst="rect">
            <a:avLst/>
          </a:prstGeom>
        </p:spPr>
        <p:txBody>
          <a:bodyPr anchor="t" rtlCol="false" tIns="0" lIns="0" bIns="0" rIns="0">
            <a:spAutoFit/>
          </a:bodyPr>
          <a:lstStyle/>
          <a:p>
            <a:pPr algn="l" marL="0" indent="0" lvl="0">
              <a:lnSpc>
                <a:spcPts val="3999"/>
              </a:lnSpc>
            </a:pPr>
            <a:r>
              <a:rPr lang="en-US" b="true" sz="3999" spc="-219" strike="noStrike" u="none">
                <a:solidFill>
                  <a:srgbClr val="F0F2F5"/>
                </a:solidFill>
                <a:latin typeface="Work Sans Semi-Bold"/>
                <a:ea typeface="Work Sans Semi-Bold"/>
                <a:cs typeface="Work Sans Semi-Bold"/>
                <a:sym typeface="Work Sans Semi-Bold"/>
              </a:rPr>
              <a:t>CHANNEL MIX &amp; TRAFFIC TRENDS</a:t>
            </a:r>
          </a:p>
          <a:p>
            <a:pPr algn="l" marL="0" indent="0" lvl="0">
              <a:lnSpc>
                <a:spcPts val="2000"/>
              </a:lnSpc>
            </a:pPr>
            <a:r>
              <a:rPr lang="en-US" b="true" sz="2000" spc="-110" strike="noStrike" u="none">
                <a:solidFill>
                  <a:srgbClr val="F0F2F5"/>
                </a:solidFill>
                <a:latin typeface="Work Sans Semi-Bold"/>
                <a:ea typeface="Work Sans Semi-Bold"/>
                <a:cs typeface="Work Sans Semi-Bold"/>
                <a:sym typeface="Work Sans Semi-Bold"/>
              </a:rPr>
              <a:t>Are</a:t>
            </a:r>
            <a:r>
              <a:rPr lang="en-US" b="true" sz="2000" spc="-110" strike="noStrike" u="none">
                <a:solidFill>
                  <a:srgbClr val="F0F2F5"/>
                </a:solidFill>
                <a:latin typeface="Work Sans Semi-Bold"/>
                <a:ea typeface="Work Sans Semi-Bold"/>
                <a:cs typeface="Work Sans Semi-Bold"/>
                <a:sym typeface="Work Sans Semi-Bold"/>
              </a:rPr>
              <a:t> We Over-Reliant on One Channel? Traffic Source Breakdown — 2012 to 2015</a:t>
            </a:r>
          </a:p>
        </p:txBody>
      </p:sp>
      <p:sp>
        <p:nvSpPr>
          <p:cNvPr name="TextBox 10" id="10"/>
          <p:cNvSpPr txBox="true"/>
          <p:nvPr/>
        </p:nvSpPr>
        <p:spPr>
          <a:xfrm rot="0">
            <a:off x="628050" y="2379584"/>
            <a:ext cx="7316491" cy="1702316"/>
          </a:xfrm>
          <a:prstGeom prst="rect">
            <a:avLst/>
          </a:prstGeom>
        </p:spPr>
        <p:txBody>
          <a:bodyPr anchor="t" rtlCol="false" tIns="0" lIns="0" bIns="0" rIns="0">
            <a:spAutoFit/>
          </a:bodyPr>
          <a:lstStyle/>
          <a:p>
            <a:pPr algn="l">
              <a:lnSpc>
                <a:spcPts val="3382"/>
              </a:lnSpc>
              <a:spcBef>
                <a:spcPct val="0"/>
              </a:spcBef>
            </a:pPr>
            <a:r>
              <a:rPr lang="en-US" b="true" sz="2416">
                <a:solidFill>
                  <a:srgbClr val="FFFFFF"/>
                </a:solidFill>
                <a:latin typeface="DM Sans Bold"/>
                <a:ea typeface="DM Sans Bold"/>
                <a:cs typeface="DM Sans Bold"/>
                <a:sym typeface="DM Sans Bold"/>
              </a:rPr>
              <a:t>Key Numbers:</a:t>
            </a:r>
          </a:p>
          <a:p>
            <a:pPr algn="l" marL="521632" indent="-260816" lvl="1">
              <a:lnSpc>
                <a:spcPts val="3382"/>
              </a:lnSpc>
              <a:buFont typeface="Arial"/>
              <a:buChar char="•"/>
            </a:pPr>
            <a:r>
              <a:rPr lang="en-US" sz="2416">
                <a:solidFill>
                  <a:srgbClr val="FFFFFF"/>
                </a:solidFill>
                <a:latin typeface="DM Sans"/>
                <a:ea typeface="DM Sans"/>
                <a:cs typeface="DM Sans"/>
                <a:sym typeface="DM Sans"/>
              </a:rPr>
              <a:t>Brand search: 0.4% → 15% of Google traffic</a:t>
            </a:r>
          </a:p>
          <a:p>
            <a:pPr algn="l" marL="521632" indent="-260816" lvl="1">
              <a:lnSpc>
                <a:spcPts val="3382"/>
              </a:lnSpc>
              <a:buFont typeface="Arial"/>
              <a:buChar char="•"/>
            </a:pPr>
            <a:r>
              <a:rPr lang="en-US" sz="2416">
                <a:solidFill>
                  <a:srgbClr val="FFFFFF"/>
                </a:solidFill>
                <a:latin typeface="DM Sans"/>
                <a:ea typeface="DM Sans"/>
                <a:cs typeface="DM Sans"/>
                <a:sym typeface="DM Sans"/>
              </a:rPr>
              <a:t>Free + brand orders: 0% → 33.5% of total orders</a:t>
            </a:r>
          </a:p>
          <a:p>
            <a:pPr algn="l" marL="521632" indent="-260816" lvl="1">
              <a:lnSpc>
                <a:spcPts val="3382"/>
              </a:lnSpc>
              <a:buFont typeface="Arial"/>
              <a:buChar char="•"/>
            </a:pPr>
            <a:r>
              <a:rPr lang="en-US" sz="2416">
                <a:solidFill>
                  <a:srgbClr val="FFFFFF"/>
                </a:solidFill>
                <a:latin typeface="DM Sans"/>
                <a:ea typeface="DM Sans"/>
                <a:cs typeface="DM Sans"/>
                <a:sym typeface="DM Sans"/>
              </a:rPr>
              <a:t>Channels at launch: 1 → Channels today: 4</a:t>
            </a:r>
          </a:p>
        </p:txBody>
      </p:sp>
      <p:sp>
        <p:nvSpPr>
          <p:cNvPr name="TextBox 11" id="11"/>
          <p:cNvSpPr txBox="true"/>
          <p:nvPr/>
        </p:nvSpPr>
        <p:spPr>
          <a:xfrm rot="0">
            <a:off x="15467862" y="9600570"/>
            <a:ext cx="4128372"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C02 + C04 - page  05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graphicFrame>
        <p:nvGraphicFramePr>
          <p:cNvPr name="Table 5" id="5"/>
          <p:cNvGraphicFramePr>
            <a:graphicFrameLocks noGrp="true"/>
          </p:cNvGraphicFramePr>
          <p:nvPr/>
        </p:nvGraphicFramePr>
        <p:xfrm>
          <a:off x="337128" y="6113955"/>
          <a:ext cx="16570475" cy="3320566"/>
        </p:xfrm>
        <a:graphic>
          <a:graphicData uri="http://schemas.openxmlformats.org/drawingml/2006/table">
            <a:tbl>
              <a:tblPr/>
              <a:tblGrid>
                <a:gridCol w="2607195"/>
                <a:gridCol w="13963280"/>
              </a:tblGrid>
              <a:tr h="733550">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Conv</a:t>
                      </a:r>
                      <a:r>
                        <a:rPr lang="en-US" b="true" sz="1700">
                          <a:solidFill>
                            <a:srgbClr val="FFFFFF"/>
                          </a:solidFill>
                          <a:latin typeface="Canva Sans Bold"/>
                          <a:ea typeface="Canva Sans Bold"/>
                          <a:cs typeface="Canva Sans Bold"/>
                          <a:sym typeface="Canva Sans Bold"/>
                        </a:rPr>
                        <a:t>ersion rate increased from 3.14% to 7.89%. Revenue per session grew ~220% from $1.57 to $5.03.</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999810">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Every singl</a:t>
                      </a:r>
                      <a:r>
                        <a:rPr lang="en-US" b="true" sz="1700">
                          <a:solidFill>
                            <a:srgbClr val="FFFFFF"/>
                          </a:solidFill>
                          <a:latin typeface="Canva Sans Bold"/>
                          <a:ea typeface="Canva Sans Bold"/>
                          <a:cs typeface="Canva Sans Bold"/>
                          <a:sym typeface="Canva Sans Bold"/>
                        </a:rPr>
                        <a:t>e improvement traces to a specific, tested, evidence-backed decision. This business did not get lucky — it got smarter, methodically, over three years.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603">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Cont</a:t>
                      </a:r>
                      <a:r>
                        <a:rPr lang="en-US" b="true" sz="1700">
                          <a:solidFill>
                            <a:srgbClr val="FFFFFF"/>
                          </a:solidFill>
                          <a:latin typeface="Canva Sans Bold"/>
                          <a:ea typeface="Canva Sans Bold"/>
                          <a:cs typeface="Canva Sans Bold"/>
                          <a:sym typeface="Canva Sans Bold"/>
                        </a:rPr>
                        <a:t>inue systematic A/B testing on remaining funnel steps. The product detail page is the next highest-leverage target — converting at only 43.4%.</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603">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KPI: revenue per session — currently $5.03. Each +1pp sitewide conversion improvement at Q4 2014 volumes generates ~$400–$500/month additional revenue. Target: $6.00 per session by Q4 2025.</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sp>
        <p:nvSpPr>
          <p:cNvPr name="Freeform 6" id="6"/>
          <p:cNvSpPr/>
          <p:nvPr/>
        </p:nvSpPr>
        <p:spPr>
          <a:xfrm flipH="false" flipV="false" rot="0">
            <a:off x="217002" y="1331111"/>
            <a:ext cx="12540807" cy="4147882"/>
          </a:xfrm>
          <a:custGeom>
            <a:avLst/>
            <a:gdLst/>
            <a:ahLst/>
            <a:cxnLst/>
            <a:rect r="r" b="b" t="t" l="l"/>
            <a:pathLst>
              <a:path h="4147882" w="12540807">
                <a:moveTo>
                  <a:pt x="0" y="0"/>
                </a:moveTo>
                <a:lnTo>
                  <a:pt x="12540807" y="0"/>
                </a:lnTo>
                <a:lnTo>
                  <a:pt x="12540807" y="4147882"/>
                </a:lnTo>
                <a:lnTo>
                  <a:pt x="0" y="4147882"/>
                </a:lnTo>
                <a:lnTo>
                  <a:pt x="0" y="0"/>
                </a:lnTo>
                <a:close/>
              </a:path>
            </a:pathLst>
          </a:custGeom>
          <a:blipFill>
            <a:blip r:embed="rId2"/>
            <a:stretch>
              <a:fillRect l="-2311" t="-28149" r="-676" b="-22478"/>
            </a:stretch>
          </a:blipFill>
        </p:spPr>
      </p:sp>
      <p:sp>
        <p:nvSpPr>
          <p:cNvPr name="TextBox 7" id="7"/>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8" id="8"/>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9" id="9"/>
          <p:cNvSpPr txBox="true"/>
          <p:nvPr/>
        </p:nvSpPr>
        <p:spPr>
          <a:xfrm rot="0">
            <a:off x="436479" y="396906"/>
            <a:ext cx="11651651" cy="752476"/>
          </a:xfrm>
          <a:prstGeom prst="rect">
            <a:avLst/>
          </a:prstGeom>
        </p:spPr>
        <p:txBody>
          <a:bodyPr anchor="t" rtlCol="false" tIns="0" lIns="0" bIns="0" rIns="0">
            <a:spAutoFit/>
          </a:bodyPr>
          <a:lstStyle/>
          <a:p>
            <a:pPr algn="l" marL="0" indent="0" lvl="0">
              <a:lnSpc>
                <a:spcPts val="3999"/>
              </a:lnSpc>
            </a:pPr>
            <a:r>
              <a:rPr lang="en-US" b="true" sz="3999" spc="-219">
                <a:solidFill>
                  <a:srgbClr val="F0F2F5"/>
                </a:solidFill>
                <a:latin typeface="Work Sans Semi-Bold"/>
                <a:ea typeface="Work Sans Semi-Bold"/>
                <a:cs typeface="Work Sans Semi-Bold"/>
                <a:sym typeface="Work Sans Semi-Bold"/>
              </a:rPr>
              <a:t>EFFI</a:t>
            </a:r>
            <a:r>
              <a:rPr lang="en-US" b="true" sz="3999" spc="-219" strike="noStrike" u="none">
                <a:solidFill>
                  <a:srgbClr val="F0F2F5"/>
                </a:solidFill>
                <a:latin typeface="Work Sans Semi-Bold"/>
                <a:ea typeface="Work Sans Semi-Bold"/>
                <a:cs typeface="Work Sans Semi-Bold"/>
                <a:sym typeface="Work Sans Semi-Bold"/>
              </a:rPr>
              <a:t>CIENCY METRICS</a:t>
            </a:r>
          </a:p>
          <a:p>
            <a:pPr algn="l" marL="0" indent="0" lvl="0">
              <a:lnSpc>
                <a:spcPts val="2000"/>
              </a:lnSpc>
            </a:pPr>
            <a:r>
              <a:rPr lang="en-US" sz="2000" spc="-110" strike="noStrike" u="none">
                <a:solidFill>
                  <a:srgbClr val="F0F2F5"/>
                </a:solidFill>
                <a:latin typeface="Work Sans"/>
                <a:ea typeface="Work Sans"/>
                <a:cs typeface="Work Sans"/>
                <a:sym typeface="Work Sans"/>
              </a:rPr>
              <a:t>Are</a:t>
            </a:r>
            <a:r>
              <a:rPr lang="en-US" sz="2000" spc="-110" strike="noStrike" u="none">
                <a:solidFill>
                  <a:srgbClr val="F0F2F5"/>
                </a:solidFill>
                <a:latin typeface="Work Sans"/>
                <a:ea typeface="Work Sans"/>
                <a:cs typeface="Work Sans"/>
                <a:sym typeface="Work Sans"/>
              </a:rPr>
              <a:t> We Getting Smarter With Every Sale? Conversion Rate · Revenue Per Session · Average Order Value</a:t>
            </a:r>
          </a:p>
        </p:txBody>
      </p:sp>
      <p:sp>
        <p:nvSpPr>
          <p:cNvPr name="TextBox 10" id="10"/>
          <p:cNvSpPr txBox="true"/>
          <p:nvPr/>
        </p:nvSpPr>
        <p:spPr>
          <a:xfrm rot="0">
            <a:off x="16117179" y="9566075"/>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C03 -page  06</a:t>
            </a:r>
          </a:p>
        </p:txBody>
      </p:sp>
      <p:sp>
        <p:nvSpPr>
          <p:cNvPr name="TextBox 11" id="11"/>
          <p:cNvSpPr txBox="true"/>
          <p:nvPr/>
        </p:nvSpPr>
        <p:spPr>
          <a:xfrm rot="0">
            <a:off x="13171515" y="1958700"/>
            <a:ext cx="4697492" cy="2398859"/>
          </a:xfrm>
          <a:prstGeom prst="rect">
            <a:avLst/>
          </a:prstGeom>
        </p:spPr>
        <p:txBody>
          <a:bodyPr anchor="t" rtlCol="false" tIns="0" lIns="0" bIns="0" rIns="0">
            <a:spAutoFit/>
          </a:bodyPr>
          <a:lstStyle/>
          <a:p>
            <a:pPr algn="l">
              <a:lnSpc>
                <a:spcPts val="2704"/>
              </a:lnSpc>
              <a:spcBef>
                <a:spcPct val="0"/>
              </a:spcBef>
            </a:pPr>
            <a:r>
              <a:rPr lang="en-US" b="true" sz="1931">
                <a:solidFill>
                  <a:srgbClr val="FFFFFF"/>
                </a:solidFill>
                <a:latin typeface="Montserrat Bold"/>
                <a:ea typeface="Montserrat Bold"/>
                <a:cs typeface="Montserrat Bold"/>
                <a:sym typeface="Montserrat Bold"/>
              </a:rPr>
              <a:t>What drove each jump:</a:t>
            </a:r>
          </a:p>
          <a:p>
            <a:pPr algn="l">
              <a:lnSpc>
                <a:spcPts val="2704"/>
              </a:lnSpc>
              <a:spcBef>
                <a:spcPct val="0"/>
              </a:spcBef>
            </a:pPr>
            <a:r>
              <a:rPr lang="en-US" sz="1931">
                <a:solidFill>
                  <a:srgbClr val="FFFFFF"/>
                </a:solidFill>
                <a:latin typeface="Montserrat"/>
                <a:ea typeface="Montserrat"/>
                <a:cs typeface="Montserrat"/>
                <a:sym typeface="Montserrat"/>
              </a:rPr>
              <a:t>🔴 Jun–Jul 2012 — Landing page A/B test → +0.88pp conversion lift</a:t>
            </a:r>
          </a:p>
          <a:p>
            <a:pPr algn="l">
              <a:lnSpc>
                <a:spcPts val="2704"/>
              </a:lnSpc>
              <a:spcBef>
                <a:spcPct val="0"/>
              </a:spcBef>
            </a:pPr>
            <a:r>
              <a:rPr lang="en-US" sz="1931">
                <a:solidFill>
                  <a:srgbClr val="FFFFFF"/>
                </a:solidFill>
                <a:latin typeface="Montserrat"/>
                <a:ea typeface="Montserrat"/>
                <a:cs typeface="Montserrat"/>
                <a:sym typeface="Montserrat"/>
              </a:rPr>
              <a:t>🟡 Sep–Nov 2012 — Billing page redesign → +17.18pp at billing step</a:t>
            </a:r>
          </a:p>
          <a:p>
            <a:pPr algn="l">
              <a:lnSpc>
                <a:spcPts val="2704"/>
              </a:lnSpc>
              <a:spcBef>
                <a:spcPct val="0"/>
              </a:spcBef>
            </a:pPr>
            <a:r>
              <a:rPr lang="en-US" sz="1931">
                <a:solidFill>
                  <a:srgbClr val="FFFFFF"/>
                </a:solidFill>
                <a:latin typeface="Montserrat"/>
                <a:ea typeface="Montserrat"/>
                <a:cs typeface="Montserrat"/>
                <a:sym typeface="Montserrat"/>
              </a:rPr>
              <a:t>🟢 2013–2014 — 4-product portfolio + cross-sell → AOV from $49.99 to $62.80</a:t>
            </a:r>
          </a:p>
        </p:txBody>
      </p:sp>
      <p:sp>
        <p:nvSpPr>
          <p:cNvPr name="TextBox 12" id="12"/>
          <p:cNvSpPr txBox="true"/>
          <p:nvPr/>
        </p:nvSpPr>
        <p:spPr>
          <a:xfrm rot="0">
            <a:off x="386803" y="5440893"/>
            <a:ext cx="17482204" cy="603714"/>
          </a:xfrm>
          <a:prstGeom prst="rect">
            <a:avLst/>
          </a:prstGeom>
        </p:spPr>
        <p:txBody>
          <a:bodyPr anchor="t" rtlCol="false" tIns="0" lIns="0" bIns="0" rIns="0">
            <a:spAutoFit/>
          </a:bodyPr>
          <a:lstStyle/>
          <a:p>
            <a:pPr algn="l">
              <a:lnSpc>
                <a:spcPts val="2424"/>
              </a:lnSpc>
              <a:spcBef>
                <a:spcPct val="0"/>
              </a:spcBef>
            </a:pPr>
            <a:r>
              <a:rPr lang="en-US" b="true" sz="1731">
                <a:solidFill>
                  <a:srgbClr val="FFFFFF"/>
                </a:solidFill>
                <a:latin typeface="Montserrat Bold"/>
                <a:ea typeface="Montserrat Bold"/>
                <a:cs typeface="Montserrat Bold"/>
                <a:sym typeface="Montserrat Bold"/>
              </a:rPr>
              <a:t>Investor Narrative:</a:t>
            </a:r>
            <a:r>
              <a:rPr lang="en-US" sz="1731">
                <a:solidFill>
                  <a:srgbClr val="FFFFFF"/>
                </a:solidFill>
                <a:latin typeface="Montserrat"/>
                <a:ea typeface="Montserrat"/>
                <a:cs typeface="Montserrat"/>
                <a:sym typeface="Montserrat"/>
              </a:rPr>
              <a:t> </a:t>
            </a:r>
          </a:p>
          <a:p>
            <a:pPr algn="ctr">
              <a:lnSpc>
                <a:spcPts val="2424"/>
              </a:lnSpc>
              <a:spcBef>
                <a:spcPct val="0"/>
              </a:spcBef>
            </a:pPr>
            <a:r>
              <a:rPr lang="en-US" sz="1731">
                <a:solidFill>
                  <a:srgbClr val="FFFFFF"/>
                </a:solidFill>
                <a:latin typeface="Montserrat"/>
                <a:ea typeface="Montserrat"/>
                <a:cs typeface="Montserrat"/>
                <a:sym typeface="Montserrat"/>
              </a:rPr>
              <a:t>"In March 2012, every visitor was worth $1.57. Today every visitor is worth $5.03 — about a 220% improvement — driven by evidence, not by spending more."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grpSp>
        <p:nvGrpSpPr>
          <p:cNvPr name="Group 5" id="5"/>
          <p:cNvGrpSpPr/>
          <p:nvPr/>
        </p:nvGrpSpPr>
        <p:grpSpPr>
          <a:xfrm rot="0">
            <a:off x="1608962" y="2298041"/>
            <a:ext cx="1578289" cy="915953"/>
            <a:chOff x="0" y="0"/>
            <a:chExt cx="415681" cy="241239"/>
          </a:xfrm>
        </p:grpSpPr>
        <p:sp>
          <p:nvSpPr>
            <p:cNvPr name="Freeform 6" id="6"/>
            <p:cNvSpPr/>
            <p:nvPr/>
          </p:nvSpPr>
          <p:spPr>
            <a:xfrm flipH="false" flipV="false" rot="0">
              <a:off x="0" y="0"/>
              <a:ext cx="415681" cy="241239"/>
            </a:xfrm>
            <a:custGeom>
              <a:avLst/>
              <a:gdLst/>
              <a:ahLst/>
              <a:cxnLst/>
              <a:rect r="r" b="b" t="t" l="l"/>
              <a:pathLst>
                <a:path h="241239" w="415681">
                  <a:moveTo>
                    <a:pt x="120619" y="0"/>
                  </a:moveTo>
                  <a:lnTo>
                    <a:pt x="295062" y="0"/>
                  </a:lnTo>
                  <a:cubicBezTo>
                    <a:pt x="327052" y="0"/>
                    <a:pt x="357732" y="12708"/>
                    <a:pt x="380352" y="35329"/>
                  </a:cubicBezTo>
                  <a:cubicBezTo>
                    <a:pt x="402973" y="57949"/>
                    <a:pt x="415681" y="88629"/>
                    <a:pt x="415681" y="120619"/>
                  </a:cubicBezTo>
                  <a:lnTo>
                    <a:pt x="415681" y="120619"/>
                  </a:lnTo>
                  <a:cubicBezTo>
                    <a:pt x="415681" y="187236"/>
                    <a:pt x="361678" y="241239"/>
                    <a:pt x="295062" y="241239"/>
                  </a:cubicBezTo>
                  <a:lnTo>
                    <a:pt x="120619" y="241239"/>
                  </a:lnTo>
                  <a:cubicBezTo>
                    <a:pt x="88629" y="241239"/>
                    <a:pt x="57949" y="228531"/>
                    <a:pt x="35329" y="205910"/>
                  </a:cubicBezTo>
                  <a:cubicBezTo>
                    <a:pt x="12708" y="183290"/>
                    <a:pt x="0" y="152610"/>
                    <a:pt x="0" y="120619"/>
                  </a:cubicBezTo>
                  <a:lnTo>
                    <a:pt x="0" y="120619"/>
                  </a:lnTo>
                  <a:cubicBezTo>
                    <a:pt x="0" y="88629"/>
                    <a:pt x="12708" y="57949"/>
                    <a:pt x="35329" y="35329"/>
                  </a:cubicBezTo>
                  <a:cubicBezTo>
                    <a:pt x="57949" y="12708"/>
                    <a:pt x="88629" y="0"/>
                    <a:pt x="120619"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7" id="7"/>
            <p:cNvSpPr txBox="true"/>
            <p:nvPr/>
          </p:nvSpPr>
          <p:spPr>
            <a:xfrm>
              <a:off x="0" y="47625"/>
              <a:ext cx="415681" cy="193614"/>
            </a:xfrm>
            <a:prstGeom prst="rect">
              <a:avLst/>
            </a:prstGeom>
          </p:spPr>
          <p:txBody>
            <a:bodyPr anchor="ctr" rtlCol="false" tIns="50800" lIns="50800" bIns="50800" rIns="50800"/>
            <a:lstStyle/>
            <a:p>
              <a:pPr algn="l">
                <a:lnSpc>
                  <a:spcPts val="1924"/>
                </a:lnSpc>
              </a:pPr>
            </a:p>
          </p:txBody>
        </p:sp>
      </p:grpSp>
      <p:graphicFrame>
        <p:nvGraphicFramePr>
          <p:cNvPr name="Table 8" id="8"/>
          <p:cNvGraphicFramePr>
            <a:graphicFrameLocks noGrp="true"/>
          </p:cNvGraphicFramePr>
          <p:nvPr/>
        </p:nvGraphicFramePr>
        <p:xfrm>
          <a:off x="628050" y="5877911"/>
          <a:ext cx="16570475" cy="3380389"/>
        </p:xfrm>
        <a:graphic>
          <a:graphicData uri="http://schemas.openxmlformats.org/drawingml/2006/table">
            <a:tbl>
              <a:tblPr/>
              <a:tblGrid>
                <a:gridCol w="2607195"/>
                <a:gridCol w="13963280"/>
              </a:tblGrid>
              <a:tr h="79354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1 </a:t>
                      </a:r>
                      <a:r>
                        <a:rPr lang="en-US" b="true" sz="1700">
                          <a:solidFill>
                            <a:srgbClr val="FFFFFF"/>
                          </a:solidFill>
                          <a:latin typeface="Canva Sans Bold"/>
                          <a:ea typeface="Canva Sans Bold"/>
                          <a:cs typeface="Canva Sans Bold"/>
                          <a:sym typeface="Canva Sans Bold"/>
                        </a:rPr>
                        <a:t>in 3 orders today costs nothing to acquire. The Channel Resilience Score reached 29.2% in 2014, up from 0% at launch, with zero investment in SEO or referral programs.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999742">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 Returning</a:t>
                      </a:r>
                      <a:r>
                        <a:rPr lang="en-US" b="true" sz="1700">
                          <a:solidFill>
                            <a:srgbClr val="FFFFFF"/>
                          </a:solidFill>
                          <a:latin typeface="Canva Sans Bold"/>
                          <a:ea typeface="Canva Sans Bold"/>
                          <a:cs typeface="Canva Sans Bold"/>
                          <a:sym typeface="Canva Sans Bold"/>
                        </a:rPr>
                        <a:t> customers never come back through a paid non-brand ad — not approximately zero, exactly zero. The company is not paying to bring these people back. They return on their own through organic, direct, and brand channels.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54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 Inv</a:t>
                      </a:r>
                      <a:r>
                        <a:rPr lang="en-US" b="true" sz="1700">
                          <a:solidFill>
                            <a:srgbClr val="FFFFFF"/>
                          </a:solidFill>
                          <a:latin typeface="Canva Sans Bold"/>
                          <a:ea typeface="Canva Sans Bold"/>
                          <a:cs typeface="Canva Sans Bold"/>
                          <a:sym typeface="Canva Sans Bold"/>
                        </a:rPr>
                        <a:t>est modestly in content and referral to accelerate what is already growing organically. Suppress existing customers from non-brand paid targeting — redirect that budget to new user acquisition only.</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54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 KPI: Channel Resilience Score — currently 29.2%. Target: 40% within 12 months. Every percentage point gained is permanent margin improvement.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sp>
        <p:nvSpPr>
          <p:cNvPr name="TextBox 9" id="9"/>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10" id="10"/>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11" id="11"/>
          <p:cNvSpPr txBox="true"/>
          <p:nvPr/>
        </p:nvSpPr>
        <p:spPr>
          <a:xfrm rot="0">
            <a:off x="16383386" y="9679034"/>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C04- page  07</a:t>
            </a:r>
          </a:p>
        </p:txBody>
      </p:sp>
      <p:sp>
        <p:nvSpPr>
          <p:cNvPr name="TextBox 12" id="12"/>
          <p:cNvSpPr txBox="true"/>
          <p:nvPr/>
        </p:nvSpPr>
        <p:spPr>
          <a:xfrm rot="0">
            <a:off x="436479" y="396906"/>
            <a:ext cx="5501543" cy="1000126"/>
          </a:xfrm>
          <a:prstGeom prst="rect">
            <a:avLst/>
          </a:prstGeom>
        </p:spPr>
        <p:txBody>
          <a:bodyPr anchor="t" rtlCol="false" tIns="0" lIns="0" bIns="0" rIns="0">
            <a:spAutoFit/>
          </a:bodyPr>
          <a:lstStyle/>
          <a:p>
            <a:pPr algn="l" marL="0" indent="0" lvl="0">
              <a:lnSpc>
                <a:spcPts val="3999"/>
              </a:lnSpc>
            </a:pPr>
            <a:r>
              <a:rPr lang="en-US" b="true" sz="3999" spc="-219">
                <a:solidFill>
                  <a:srgbClr val="F0F2F5"/>
                </a:solidFill>
                <a:latin typeface="Work Sans Semi-Bold"/>
                <a:ea typeface="Work Sans Semi-Bold"/>
                <a:cs typeface="Work Sans Semi-Bold"/>
                <a:sym typeface="Work Sans Semi-Bold"/>
              </a:rPr>
              <a:t>CHANNEL RESIL</a:t>
            </a:r>
            <a:r>
              <a:rPr lang="en-US" b="true" sz="3999" spc="-219" strike="noStrike" u="none">
                <a:solidFill>
                  <a:srgbClr val="F0F2F5"/>
                </a:solidFill>
                <a:latin typeface="Work Sans Semi-Bold"/>
                <a:ea typeface="Work Sans Semi-Bold"/>
                <a:cs typeface="Work Sans Semi-Bold"/>
                <a:sym typeface="Work Sans Semi-Bold"/>
              </a:rPr>
              <a:t>IENCE</a:t>
            </a:r>
          </a:p>
          <a:p>
            <a:pPr algn="l" marL="0" indent="0" lvl="0">
              <a:lnSpc>
                <a:spcPts val="2000"/>
              </a:lnSpc>
            </a:pPr>
            <a:r>
              <a:rPr lang="en-US" sz="2000" spc="-110" strike="noStrike" u="none">
                <a:solidFill>
                  <a:srgbClr val="F0F2F5"/>
                </a:solidFill>
                <a:latin typeface="Work Sans"/>
                <a:ea typeface="Work Sans"/>
                <a:cs typeface="Work Sans"/>
                <a:sym typeface="Work Sans"/>
              </a:rPr>
              <a:t> Have</a:t>
            </a:r>
            <a:r>
              <a:rPr lang="en-US" sz="2000" spc="-110" strike="noStrike" u="none">
                <a:solidFill>
                  <a:srgbClr val="F0F2F5"/>
                </a:solidFill>
                <a:latin typeface="Work Sans"/>
                <a:ea typeface="Work Sans"/>
                <a:cs typeface="Work Sans"/>
                <a:sym typeface="Work Sans"/>
              </a:rPr>
              <a:t> We Built a Resilient Revenue Base? Channel Resilience Score — 2014</a:t>
            </a:r>
          </a:p>
        </p:txBody>
      </p:sp>
      <p:sp>
        <p:nvSpPr>
          <p:cNvPr name="TextBox 13" id="13"/>
          <p:cNvSpPr txBox="true"/>
          <p:nvPr/>
        </p:nvSpPr>
        <p:spPr>
          <a:xfrm rot="0">
            <a:off x="1862841" y="2487283"/>
            <a:ext cx="1070530" cy="515904"/>
          </a:xfrm>
          <a:prstGeom prst="rect">
            <a:avLst/>
          </a:prstGeom>
        </p:spPr>
        <p:txBody>
          <a:bodyPr anchor="t" rtlCol="false" tIns="0" lIns="0" bIns="0" rIns="0">
            <a:spAutoFit/>
          </a:bodyPr>
          <a:lstStyle/>
          <a:p>
            <a:pPr algn="ctr">
              <a:lnSpc>
                <a:spcPts val="4222"/>
              </a:lnSpc>
              <a:spcBef>
                <a:spcPct val="0"/>
              </a:spcBef>
            </a:pPr>
            <a:r>
              <a:rPr lang="en-US" sz="3015">
                <a:solidFill>
                  <a:srgbClr val="FFFFFF"/>
                </a:solidFill>
                <a:latin typeface="Montserrat"/>
                <a:ea typeface="Montserrat"/>
                <a:cs typeface="Montserrat"/>
                <a:sym typeface="Montserrat"/>
              </a:rPr>
              <a:t>29.2%</a:t>
            </a:r>
          </a:p>
        </p:txBody>
      </p:sp>
      <p:sp>
        <p:nvSpPr>
          <p:cNvPr name="TextBox 14" id="14"/>
          <p:cNvSpPr txBox="true"/>
          <p:nvPr/>
        </p:nvSpPr>
        <p:spPr>
          <a:xfrm rot="0">
            <a:off x="1126658" y="3280669"/>
            <a:ext cx="2926500" cy="1213314"/>
          </a:xfrm>
          <a:prstGeom prst="rect">
            <a:avLst/>
          </a:prstGeom>
        </p:spPr>
        <p:txBody>
          <a:bodyPr anchor="t" rtlCol="false" tIns="0" lIns="0" bIns="0" rIns="0">
            <a:spAutoFit/>
          </a:bodyPr>
          <a:lstStyle/>
          <a:p>
            <a:pPr algn="ctr">
              <a:lnSpc>
                <a:spcPts val="2424"/>
              </a:lnSpc>
              <a:spcBef>
                <a:spcPct val="0"/>
              </a:spcBef>
            </a:pPr>
            <a:r>
              <a:rPr lang="en-US" sz="1731">
                <a:solidFill>
                  <a:srgbClr val="FFFFFF"/>
                </a:solidFill>
                <a:latin typeface="Montserrat"/>
                <a:ea typeface="Montserrat"/>
                <a:cs typeface="Montserrat"/>
                <a:sym typeface="Montserrat"/>
              </a:rPr>
              <a:t>Channel Resilience Score — Full Year 2014 Started at 0%. Built without a single dollar of SEO investment.</a:t>
            </a:r>
          </a:p>
        </p:txBody>
      </p:sp>
      <p:sp>
        <p:nvSpPr>
          <p:cNvPr name="TextBox 15" id="15"/>
          <p:cNvSpPr txBox="true"/>
          <p:nvPr/>
        </p:nvSpPr>
        <p:spPr>
          <a:xfrm rot="0">
            <a:off x="628050" y="5084457"/>
            <a:ext cx="16173548" cy="684359"/>
          </a:xfrm>
          <a:prstGeom prst="rect">
            <a:avLst/>
          </a:prstGeom>
        </p:spPr>
        <p:txBody>
          <a:bodyPr anchor="t" rtlCol="false" tIns="0" lIns="0" bIns="0" rIns="0">
            <a:spAutoFit/>
          </a:bodyPr>
          <a:lstStyle/>
          <a:p>
            <a:pPr algn="l">
              <a:lnSpc>
                <a:spcPts val="2704"/>
              </a:lnSpc>
              <a:spcBef>
                <a:spcPct val="0"/>
              </a:spcBef>
            </a:pPr>
            <a:r>
              <a:rPr lang="en-US" b="true" sz="1931">
                <a:solidFill>
                  <a:srgbClr val="FFFFFF"/>
                </a:solidFill>
                <a:latin typeface="Montserrat Bold"/>
                <a:ea typeface="Montserrat Bold"/>
                <a:cs typeface="Montserrat Bold"/>
                <a:sym typeface="Montserrat Bold"/>
              </a:rPr>
              <a:t>Investor Soundbite: </a:t>
            </a:r>
          </a:p>
          <a:p>
            <a:pPr algn="ctr">
              <a:lnSpc>
                <a:spcPts val="2704"/>
              </a:lnSpc>
              <a:spcBef>
                <a:spcPct val="0"/>
              </a:spcBef>
            </a:pPr>
            <a:r>
              <a:rPr lang="en-US" sz="1931">
                <a:solidFill>
                  <a:srgbClr val="FFFFFF"/>
                </a:solidFill>
                <a:latin typeface="Montserrat"/>
                <a:ea typeface="Montserrat"/>
                <a:cs typeface="Montserrat"/>
                <a:sym typeface="Montserrat"/>
              </a:rPr>
              <a:t>"If paid advertising stopped tomorrow, 29.2% of our traffic — and the revenue it generates — would be completely unaffected."</a:t>
            </a:r>
          </a:p>
        </p:txBody>
      </p:sp>
      <p:sp>
        <p:nvSpPr>
          <p:cNvPr name="Freeform 16" id="16"/>
          <p:cNvSpPr/>
          <p:nvPr/>
        </p:nvSpPr>
        <p:spPr>
          <a:xfrm flipH="false" flipV="false" rot="0">
            <a:off x="5703563" y="224341"/>
            <a:ext cx="11690486" cy="5140850"/>
          </a:xfrm>
          <a:custGeom>
            <a:avLst/>
            <a:gdLst/>
            <a:ahLst/>
            <a:cxnLst/>
            <a:rect r="r" b="b" t="t" l="l"/>
            <a:pathLst>
              <a:path h="5140850" w="11690486">
                <a:moveTo>
                  <a:pt x="0" y="0"/>
                </a:moveTo>
                <a:lnTo>
                  <a:pt x="11690486" y="0"/>
                </a:lnTo>
                <a:lnTo>
                  <a:pt x="11690486" y="5140849"/>
                </a:lnTo>
                <a:lnTo>
                  <a:pt x="0" y="5140849"/>
                </a:lnTo>
                <a:lnTo>
                  <a:pt x="0" y="0"/>
                </a:lnTo>
                <a:close/>
              </a:path>
            </a:pathLst>
          </a:custGeom>
          <a:blipFill>
            <a:blip r:embed="rId2"/>
            <a:stretch>
              <a:fillRect l="0" t="0" r="0" b="-10006"/>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grpSp>
        <p:nvGrpSpPr>
          <p:cNvPr name="Group 5" id="5"/>
          <p:cNvGrpSpPr/>
          <p:nvPr/>
        </p:nvGrpSpPr>
        <p:grpSpPr>
          <a:xfrm rot="0">
            <a:off x="8576297" y="6966735"/>
            <a:ext cx="1578289" cy="915953"/>
            <a:chOff x="0" y="0"/>
            <a:chExt cx="415681" cy="241239"/>
          </a:xfrm>
        </p:grpSpPr>
        <p:sp>
          <p:nvSpPr>
            <p:cNvPr name="Freeform 6" id="6"/>
            <p:cNvSpPr/>
            <p:nvPr/>
          </p:nvSpPr>
          <p:spPr>
            <a:xfrm flipH="false" flipV="false" rot="0">
              <a:off x="0" y="0"/>
              <a:ext cx="415681" cy="241239"/>
            </a:xfrm>
            <a:custGeom>
              <a:avLst/>
              <a:gdLst/>
              <a:ahLst/>
              <a:cxnLst/>
              <a:rect r="r" b="b" t="t" l="l"/>
              <a:pathLst>
                <a:path h="241239" w="415681">
                  <a:moveTo>
                    <a:pt x="120619" y="0"/>
                  </a:moveTo>
                  <a:lnTo>
                    <a:pt x="295062" y="0"/>
                  </a:lnTo>
                  <a:cubicBezTo>
                    <a:pt x="327052" y="0"/>
                    <a:pt x="357732" y="12708"/>
                    <a:pt x="380352" y="35329"/>
                  </a:cubicBezTo>
                  <a:cubicBezTo>
                    <a:pt x="402973" y="57949"/>
                    <a:pt x="415681" y="88629"/>
                    <a:pt x="415681" y="120619"/>
                  </a:cubicBezTo>
                  <a:lnTo>
                    <a:pt x="415681" y="120619"/>
                  </a:lnTo>
                  <a:cubicBezTo>
                    <a:pt x="415681" y="187236"/>
                    <a:pt x="361678" y="241239"/>
                    <a:pt x="295062" y="241239"/>
                  </a:cubicBezTo>
                  <a:lnTo>
                    <a:pt x="120619" y="241239"/>
                  </a:lnTo>
                  <a:cubicBezTo>
                    <a:pt x="88629" y="241239"/>
                    <a:pt x="57949" y="228531"/>
                    <a:pt x="35329" y="205910"/>
                  </a:cubicBezTo>
                  <a:cubicBezTo>
                    <a:pt x="12708" y="183290"/>
                    <a:pt x="0" y="152610"/>
                    <a:pt x="0" y="120619"/>
                  </a:cubicBezTo>
                  <a:lnTo>
                    <a:pt x="0" y="120619"/>
                  </a:lnTo>
                  <a:cubicBezTo>
                    <a:pt x="0" y="88629"/>
                    <a:pt x="12708" y="57949"/>
                    <a:pt x="35329" y="35329"/>
                  </a:cubicBezTo>
                  <a:cubicBezTo>
                    <a:pt x="57949" y="12708"/>
                    <a:pt x="88629" y="0"/>
                    <a:pt x="120619"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7" id="7"/>
            <p:cNvSpPr txBox="true"/>
            <p:nvPr/>
          </p:nvSpPr>
          <p:spPr>
            <a:xfrm>
              <a:off x="0" y="47625"/>
              <a:ext cx="415681" cy="193614"/>
            </a:xfrm>
            <a:prstGeom prst="rect">
              <a:avLst/>
            </a:prstGeom>
          </p:spPr>
          <p:txBody>
            <a:bodyPr anchor="ctr" rtlCol="false" tIns="50800" lIns="50800" bIns="50800" rIns="50800"/>
            <a:lstStyle/>
            <a:p>
              <a:pPr algn="l">
                <a:lnSpc>
                  <a:spcPts val="1924"/>
                </a:lnSpc>
              </a:pPr>
            </a:p>
          </p:txBody>
        </p:sp>
      </p:grpSp>
      <p:graphicFrame>
        <p:nvGraphicFramePr>
          <p:cNvPr name="Table 8" id="8"/>
          <p:cNvGraphicFramePr>
            <a:graphicFrameLocks noGrp="true"/>
          </p:cNvGraphicFramePr>
          <p:nvPr/>
        </p:nvGraphicFramePr>
        <p:xfrm>
          <a:off x="436479" y="1783544"/>
          <a:ext cx="9933815" cy="4401619"/>
        </p:xfrm>
        <a:graphic>
          <a:graphicData uri="http://schemas.openxmlformats.org/drawingml/2006/table">
            <a:tbl>
              <a:tblPr/>
              <a:tblGrid>
                <a:gridCol w="2666505"/>
                <a:gridCol w="7267310"/>
              </a:tblGrid>
              <a:tr h="1031669">
                <a:tc>
                  <a:txBody>
                    <a:bodyPr anchor="t" rtlCol="false"/>
                    <a:lstStyle/>
                    <a:p>
                      <a:pPr algn="ctr">
                        <a:lnSpc>
                          <a:spcPts val="2800"/>
                        </a:lnSpc>
                        <a:defRPr/>
                      </a:pPr>
                      <a:r>
                        <a:rPr lang="en-US" b="true" sz="20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240"/>
                        </a:lnSpc>
                        <a:defRPr/>
                      </a:pPr>
                      <a:r>
                        <a:rPr lang="en-US" sz="1600" b="true">
                          <a:solidFill>
                            <a:srgbClr val="FFFFFF"/>
                          </a:solidFill>
                          <a:latin typeface="Canva Sans Bold"/>
                          <a:ea typeface="Canva Sans Bold"/>
                          <a:cs typeface="Canva Sans Bold"/>
                          <a:sym typeface="Canva Sans Bold"/>
                        </a:rPr>
                        <a:t> The</a:t>
                      </a:r>
                      <a:r>
                        <a:rPr lang="en-US" b="true" sz="1600">
                          <a:solidFill>
                            <a:srgbClr val="FFFFFF"/>
                          </a:solidFill>
                          <a:latin typeface="Canva Sans Bold"/>
                          <a:ea typeface="Canva Sans Bold"/>
                          <a:cs typeface="Canva Sans Bold"/>
                          <a:sym typeface="Canva Sans Bold"/>
                        </a:rPr>
                        <a:t> product detail page converts at only 43.4% — the single worst step in the entire funnel. Every other major step exceeds 68%. 56.6% of interested visitors leave without adding to cart.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1031669">
                <a:tc>
                  <a:txBody>
                    <a:bodyPr anchor="t" rtlCol="false"/>
                    <a:lstStyle/>
                    <a:p>
                      <a:pPr algn="ctr" marL="0" indent="0" lvl="0">
                        <a:lnSpc>
                          <a:spcPts val="2800"/>
                        </a:lnSpc>
                        <a:spcBef>
                          <a:spcPct val="0"/>
                        </a:spcBef>
                        <a:defRPr/>
                      </a:pPr>
                      <a:r>
                        <a:rPr lang="en-US" b="true" sz="20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240"/>
                        </a:lnSpc>
                        <a:defRPr/>
                      </a:pPr>
                      <a:r>
                        <a:rPr lang="en-US" sz="1600" b="true">
                          <a:solidFill>
                            <a:srgbClr val="FFFFFF"/>
                          </a:solidFill>
                          <a:latin typeface="Canva Sans Bold"/>
                          <a:ea typeface="Canva Sans Bold"/>
                          <a:cs typeface="Canva Sans Bold"/>
                          <a:sym typeface="Canva Sans Bold"/>
                        </a:rPr>
                        <a:t>These are warm, already-interested</a:t>
                      </a:r>
                      <a:r>
                        <a:rPr lang="en-US" b="true" sz="1600">
                          <a:solidFill>
                            <a:srgbClr val="FFFFFF"/>
                          </a:solidFill>
                          <a:latin typeface="Canva Sans Bold"/>
                          <a:ea typeface="Canva Sans Bold"/>
                          <a:cs typeface="Canva Sans Bold"/>
                          <a:sym typeface="Canva Sans Bold"/>
                        </a:rPr>
                        <a:t> visitors — they clicked through to a product page. The failure is not at acquisition, it is at presentation. This is the highest-leverage fix in the entire business right now.</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1031669">
                <a:tc>
                  <a:txBody>
                    <a:bodyPr anchor="t" rtlCol="false"/>
                    <a:lstStyle/>
                    <a:p>
                      <a:pPr algn="ctr">
                        <a:lnSpc>
                          <a:spcPts val="2800"/>
                        </a:lnSpc>
                        <a:defRPr/>
                      </a:pPr>
                      <a:r>
                        <a:rPr lang="en-US" b="true" sz="20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240"/>
                        </a:lnSpc>
                        <a:defRPr/>
                      </a:pPr>
                      <a:r>
                        <a:rPr lang="en-US" sz="1600">
                          <a:solidFill>
                            <a:srgbClr val="FFFFFF"/>
                          </a:solidFill>
                          <a:latin typeface="Canva Sans"/>
                          <a:ea typeface="Canva Sans"/>
                          <a:cs typeface="Canva Sans"/>
                          <a:sym typeface="Canva Sans"/>
                        </a:rPr>
                        <a:t>Launch</a:t>
                      </a:r>
                      <a:r>
                        <a:rPr lang="en-US" sz="1600">
                          <a:solidFill>
                            <a:srgbClr val="FFFFFF"/>
                          </a:solidFill>
                          <a:latin typeface="Canva Sans"/>
                          <a:ea typeface="Canva Sans"/>
                          <a:cs typeface="Canva Sans"/>
                          <a:sym typeface="Canva Sans"/>
                        </a:rPr>
                        <a:t> a structured A/B test on the product detail page within 30 days. Test: lifestyle photography, customer review count, CTA button wording, and gift-use prompts.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1306611">
                <a:tc>
                  <a:txBody>
                    <a:bodyPr anchor="t" rtlCol="false"/>
                    <a:lstStyle/>
                    <a:p>
                      <a:pPr algn="ctr">
                        <a:lnSpc>
                          <a:spcPts val="2800"/>
                        </a:lnSpc>
                        <a:defRPr/>
                      </a:pPr>
                      <a:r>
                        <a:rPr lang="en-US" b="true" sz="20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240"/>
                        </a:lnSpc>
                        <a:defRPr/>
                      </a:pPr>
                      <a:r>
                        <a:rPr lang="en-US" sz="1600" b="true">
                          <a:solidFill>
                            <a:srgbClr val="FFFFFF"/>
                          </a:solidFill>
                          <a:latin typeface="Canva Sans Bold"/>
                          <a:ea typeface="Canva Sans Bold"/>
                          <a:cs typeface="Canva Sans Bold"/>
                          <a:sym typeface="Canva Sans Bold"/>
                        </a:rPr>
                        <a:t>KPI: product detail → cart conversion rate — currently 43.4%. Target: 53%+ within 90 days. A 10pp improvement generates $2,446 per month.</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sp>
        <p:nvSpPr>
          <p:cNvPr name="Freeform 9" id="9"/>
          <p:cNvSpPr/>
          <p:nvPr/>
        </p:nvSpPr>
        <p:spPr>
          <a:xfrm flipH="false" flipV="false" rot="0">
            <a:off x="9757975" y="1612691"/>
            <a:ext cx="9506093" cy="8674309"/>
          </a:xfrm>
          <a:custGeom>
            <a:avLst/>
            <a:gdLst/>
            <a:ahLst/>
            <a:cxnLst/>
            <a:rect r="r" b="b" t="t" l="l"/>
            <a:pathLst>
              <a:path h="8674309" w="9506093">
                <a:moveTo>
                  <a:pt x="0" y="0"/>
                </a:moveTo>
                <a:lnTo>
                  <a:pt x="9506092" y="0"/>
                </a:lnTo>
                <a:lnTo>
                  <a:pt x="9506092" y="8674309"/>
                </a:lnTo>
                <a:lnTo>
                  <a:pt x="0" y="8674309"/>
                </a:lnTo>
                <a:lnTo>
                  <a:pt x="0" y="0"/>
                </a:lnTo>
                <a:close/>
              </a:path>
            </a:pathLst>
          </a:custGeom>
          <a:blipFill>
            <a:blip r:embed="rId2"/>
            <a:stretch>
              <a:fillRect l="0" t="0" r="0" b="0"/>
            </a:stretch>
          </a:blipFill>
        </p:spPr>
      </p:sp>
      <p:sp>
        <p:nvSpPr>
          <p:cNvPr name="TextBox 10" id="10"/>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11" id="11"/>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12" id="12"/>
          <p:cNvSpPr txBox="true"/>
          <p:nvPr/>
        </p:nvSpPr>
        <p:spPr>
          <a:xfrm rot="0">
            <a:off x="16383386" y="9419483"/>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C05- page  08</a:t>
            </a:r>
          </a:p>
        </p:txBody>
      </p:sp>
      <p:sp>
        <p:nvSpPr>
          <p:cNvPr name="TextBox 13" id="13"/>
          <p:cNvSpPr txBox="true"/>
          <p:nvPr/>
        </p:nvSpPr>
        <p:spPr>
          <a:xfrm rot="0">
            <a:off x="436479" y="396906"/>
            <a:ext cx="11651651" cy="752476"/>
          </a:xfrm>
          <a:prstGeom prst="rect">
            <a:avLst/>
          </a:prstGeom>
        </p:spPr>
        <p:txBody>
          <a:bodyPr anchor="t" rtlCol="false" tIns="0" lIns="0" bIns="0" rIns="0">
            <a:spAutoFit/>
          </a:bodyPr>
          <a:lstStyle/>
          <a:p>
            <a:pPr algn="l" marL="0" indent="0" lvl="0">
              <a:lnSpc>
                <a:spcPts val="3999"/>
              </a:lnSpc>
            </a:pPr>
            <a:r>
              <a:rPr lang="en-US" b="true" sz="3999" spc="-219">
                <a:solidFill>
                  <a:srgbClr val="F0F2F5"/>
                </a:solidFill>
                <a:latin typeface="Work Sans Semi-Bold"/>
                <a:ea typeface="Work Sans Semi-Bold"/>
                <a:cs typeface="Work Sans Semi-Bold"/>
                <a:sym typeface="Work Sans Semi-Bold"/>
              </a:rPr>
              <a:t>THE CUSTOMER PURCHAS</a:t>
            </a:r>
            <a:r>
              <a:rPr lang="en-US" b="true" sz="3999" spc="-219" strike="noStrike" u="none">
                <a:solidFill>
                  <a:srgbClr val="F0F2F5"/>
                </a:solidFill>
                <a:latin typeface="Work Sans Semi-Bold"/>
                <a:ea typeface="Work Sans Semi-Bold"/>
                <a:cs typeface="Work Sans Semi-Bold"/>
                <a:sym typeface="Work Sans Semi-Bold"/>
              </a:rPr>
              <a:t>E FUNNEL</a:t>
            </a:r>
          </a:p>
          <a:p>
            <a:pPr algn="l" marL="0" indent="0" lvl="0">
              <a:lnSpc>
                <a:spcPts val="2000"/>
              </a:lnSpc>
            </a:pPr>
            <a:r>
              <a:rPr lang="en-US" sz="2000" spc="-110" strike="noStrike" u="none">
                <a:solidFill>
                  <a:srgbClr val="F0F2F5"/>
                </a:solidFill>
                <a:latin typeface="Work Sans"/>
                <a:ea typeface="Work Sans"/>
                <a:cs typeface="Work Sans"/>
                <a:sym typeface="Work Sans"/>
              </a:rPr>
              <a:t>Where Are</a:t>
            </a:r>
            <a:r>
              <a:rPr lang="en-US" sz="2000" spc="-110" strike="noStrike" u="none">
                <a:solidFill>
                  <a:srgbClr val="F0F2F5"/>
                </a:solidFill>
                <a:latin typeface="Work Sans"/>
                <a:ea typeface="Work Sans"/>
                <a:cs typeface="Work Sans"/>
                <a:sym typeface="Work Sans"/>
              </a:rPr>
              <a:t> We Losing Our Customers? Full Conversion Funnel — gsearch Nonbrand Traffic</a:t>
            </a:r>
          </a:p>
        </p:txBody>
      </p:sp>
      <p:sp>
        <p:nvSpPr>
          <p:cNvPr name="TextBox 14" id="14"/>
          <p:cNvSpPr txBox="true"/>
          <p:nvPr/>
        </p:nvSpPr>
        <p:spPr>
          <a:xfrm rot="0">
            <a:off x="386803" y="6773775"/>
            <a:ext cx="6637998" cy="1108912"/>
          </a:xfrm>
          <a:prstGeom prst="rect">
            <a:avLst/>
          </a:prstGeom>
        </p:spPr>
        <p:txBody>
          <a:bodyPr anchor="t" rtlCol="false" tIns="0" lIns="0" bIns="0" rIns="0">
            <a:spAutoFit/>
          </a:bodyPr>
          <a:lstStyle/>
          <a:p>
            <a:pPr algn="l">
              <a:lnSpc>
                <a:spcPts val="2928"/>
              </a:lnSpc>
              <a:spcBef>
                <a:spcPct val="0"/>
              </a:spcBef>
            </a:pPr>
            <a:r>
              <a:rPr lang="en-US" b="true" sz="2092">
                <a:solidFill>
                  <a:srgbClr val="E85D26"/>
                </a:solidFill>
                <a:latin typeface="DM Sans Bold"/>
                <a:ea typeface="DM Sans Bold"/>
                <a:cs typeface="DM Sans Bold"/>
                <a:sym typeface="DM Sans Bold"/>
              </a:rPr>
              <a:t>Product Detail </a:t>
            </a:r>
          </a:p>
          <a:p>
            <a:pPr algn="ctr">
              <a:lnSpc>
                <a:spcPts val="2928"/>
              </a:lnSpc>
              <a:spcBef>
                <a:spcPct val="0"/>
              </a:spcBef>
            </a:pPr>
            <a:r>
              <a:rPr lang="en-US" sz="2092">
                <a:solidFill>
                  <a:srgbClr val="FFFFFF"/>
                </a:solidFill>
                <a:latin typeface="DM Sans"/>
                <a:ea typeface="DM Sans"/>
                <a:cs typeface="DM Sans"/>
                <a:sym typeface="DM Sans"/>
              </a:rPr>
              <a:t>→ Cart Conversion Every other step converts at 68% or higher. This step is 25 points below the rest.</a:t>
            </a:r>
          </a:p>
        </p:txBody>
      </p:sp>
      <p:sp>
        <p:nvSpPr>
          <p:cNvPr name="TextBox 15" id="15"/>
          <p:cNvSpPr txBox="true"/>
          <p:nvPr/>
        </p:nvSpPr>
        <p:spPr>
          <a:xfrm rot="0">
            <a:off x="8716374" y="7114467"/>
            <a:ext cx="1298134" cy="563338"/>
          </a:xfrm>
          <a:prstGeom prst="rect">
            <a:avLst/>
          </a:prstGeom>
        </p:spPr>
        <p:txBody>
          <a:bodyPr anchor="t" rtlCol="false" tIns="0" lIns="0" bIns="0" rIns="0">
            <a:spAutoFit/>
          </a:bodyPr>
          <a:lstStyle/>
          <a:p>
            <a:pPr algn="ctr">
              <a:lnSpc>
                <a:spcPts val="4658"/>
              </a:lnSpc>
              <a:spcBef>
                <a:spcPct val="0"/>
              </a:spcBef>
            </a:pPr>
            <a:r>
              <a:rPr lang="en-US" b="true" sz="3327">
                <a:solidFill>
                  <a:srgbClr val="E85D26"/>
                </a:solidFill>
                <a:latin typeface="Montserrat Bold"/>
                <a:ea typeface="Montserrat Bold"/>
                <a:cs typeface="Montserrat Bold"/>
                <a:sym typeface="Montserrat Bold"/>
              </a:rPr>
              <a:t>43.4%</a:t>
            </a:r>
          </a:p>
        </p:txBody>
      </p:sp>
      <p:sp>
        <p:nvSpPr>
          <p:cNvPr name="TextBox 16" id="16"/>
          <p:cNvSpPr txBox="true"/>
          <p:nvPr/>
        </p:nvSpPr>
        <p:spPr>
          <a:xfrm rot="0">
            <a:off x="386803" y="8149388"/>
            <a:ext cx="8458542" cy="1108912"/>
          </a:xfrm>
          <a:prstGeom prst="rect">
            <a:avLst/>
          </a:prstGeom>
        </p:spPr>
        <p:txBody>
          <a:bodyPr anchor="t" rtlCol="false" tIns="0" lIns="0" bIns="0" rIns="0">
            <a:spAutoFit/>
          </a:bodyPr>
          <a:lstStyle/>
          <a:p>
            <a:pPr algn="l">
              <a:lnSpc>
                <a:spcPts val="2928"/>
              </a:lnSpc>
              <a:spcBef>
                <a:spcPct val="0"/>
              </a:spcBef>
            </a:pPr>
            <a:r>
              <a:rPr lang="en-US" b="true" sz="2092">
                <a:solidFill>
                  <a:srgbClr val="FFFFFF"/>
                </a:solidFill>
                <a:latin typeface="DM Sans Bold"/>
                <a:ea typeface="DM Sans Bold"/>
                <a:cs typeface="DM Sans Bold"/>
                <a:sym typeface="DM Sans Bold"/>
              </a:rPr>
              <a:t>Revenue Opportunity: </a:t>
            </a:r>
          </a:p>
          <a:p>
            <a:pPr algn="l" marL="451670" indent="-225835" lvl="1">
              <a:lnSpc>
                <a:spcPts val="2928"/>
              </a:lnSpc>
              <a:buFont typeface="Arial"/>
              <a:buChar char="•"/>
            </a:pPr>
            <a:r>
              <a:rPr lang="en-US" sz="2092">
                <a:solidFill>
                  <a:srgbClr val="FFFFFF"/>
                </a:solidFill>
                <a:latin typeface="DM Sans"/>
                <a:ea typeface="DM Sans"/>
                <a:cs typeface="DM Sans"/>
                <a:sym typeface="DM Sans"/>
              </a:rPr>
              <a:t>+10pp fix at this step = $2,446/month</a:t>
            </a:r>
          </a:p>
          <a:p>
            <a:pPr algn="l" marL="451670" indent="-225835" lvl="1">
              <a:lnSpc>
                <a:spcPts val="2928"/>
              </a:lnSpc>
              <a:buFont typeface="Arial"/>
              <a:buChar char="•"/>
            </a:pPr>
            <a:r>
              <a:rPr lang="en-US" sz="2092">
                <a:solidFill>
                  <a:srgbClr val="FFFFFF"/>
                </a:solidFill>
                <a:latin typeface="DM Sans"/>
                <a:ea typeface="DM Sans"/>
                <a:cs typeface="DM Sans"/>
                <a:sym typeface="DM Sans"/>
              </a:rPr>
              <a:t>38 extra orders × $63.79 AOV</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graphicFrame>
        <p:nvGraphicFramePr>
          <p:cNvPr name="Object 5" id="5"/>
          <p:cNvGraphicFramePr/>
          <p:nvPr/>
        </p:nvGraphicFramePr>
        <p:xfrm>
          <a:off x="436479" y="1794372"/>
          <a:ext cx="7543800" cy="1885950"/>
        </p:xfrm>
        <a:graphic>
          <a:graphicData uri="http://schemas.openxmlformats.org/presentationml/2006/ole">
            <p:oleObj imgW="9042400" imgH="3390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15950341" y="9566075"/>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C06 - page  09</a:t>
            </a:r>
          </a:p>
        </p:txBody>
      </p:sp>
      <p:sp>
        <p:nvSpPr>
          <p:cNvPr name="TextBox 7" id="7"/>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8" id="8"/>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9" id="9"/>
          <p:cNvSpPr txBox="true"/>
          <p:nvPr/>
        </p:nvSpPr>
        <p:spPr>
          <a:xfrm rot="0">
            <a:off x="436479" y="396906"/>
            <a:ext cx="11651651" cy="752476"/>
          </a:xfrm>
          <a:prstGeom prst="rect">
            <a:avLst/>
          </a:prstGeom>
        </p:spPr>
        <p:txBody>
          <a:bodyPr anchor="t" rtlCol="false" tIns="0" lIns="0" bIns="0" rIns="0">
            <a:spAutoFit/>
          </a:bodyPr>
          <a:lstStyle/>
          <a:p>
            <a:pPr algn="l" marL="0" indent="0" lvl="0">
              <a:lnSpc>
                <a:spcPts val="3999"/>
              </a:lnSpc>
            </a:pPr>
            <a:r>
              <a:rPr lang="en-US" b="true" sz="3999" spc="-219">
                <a:solidFill>
                  <a:srgbClr val="F0F2F5"/>
                </a:solidFill>
                <a:latin typeface="Work Sans Semi-Bold"/>
                <a:ea typeface="Work Sans Semi-Bold"/>
                <a:cs typeface="Work Sans Semi-Bold"/>
                <a:sym typeface="Work Sans Semi-Bold"/>
              </a:rPr>
              <a:t>LANDING PAG</a:t>
            </a:r>
            <a:r>
              <a:rPr lang="en-US" b="true" sz="3999" spc="-219" strike="noStrike" u="none">
                <a:solidFill>
                  <a:srgbClr val="F0F2F5"/>
                </a:solidFill>
                <a:latin typeface="Work Sans Semi-Bold"/>
                <a:ea typeface="Work Sans Semi-Bold"/>
                <a:cs typeface="Work Sans Semi-Bold"/>
                <a:sym typeface="Work Sans Semi-Bold"/>
              </a:rPr>
              <a:t>E A/B TEST</a:t>
            </a:r>
          </a:p>
          <a:p>
            <a:pPr algn="l" marL="0" indent="0" lvl="0">
              <a:lnSpc>
                <a:spcPts val="2000"/>
              </a:lnSpc>
            </a:pPr>
            <a:r>
              <a:rPr lang="en-US" sz="2000" spc="-110" strike="noStrike" u="none">
                <a:solidFill>
                  <a:srgbClr val="F0F2F5"/>
                </a:solidFill>
                <a:latin typeface="Work Sans"/>
                <a:ea typeface="Work Sans"/>
                <a:cs typeface="Work Sans"/>
                <a:sym typeface="Work Sans"/>
              </a:rPr>
              <a:t>What Was the</a:t>
            </a:r>
            <a:r>
              <a:rPr lang="en-US" sz="2000" spc="-110" strike="noStrike" u="none">
                <a:solidFill>
                  <a:srgbClr val="F0F2F5"/>
                </a:solidFill>
                <a:latin typeface="Work Sans"/>
                <a:ea typeface="Work Sans"/>
                <a:cs typeface="Work Sans"/>
                <a:sym typeface="Work Sans"/>
              </a:rPr>
              <a:t> Return on Our Website Investments? Landing Page A/B Test — June 19 to July 28, 2012</a:t>
            </a:r>
          </a:p>
        </p:txBody>
      </p:sp>
      <p:sp>
        <p:nvSpPr>
          <p:cNvPr name="TextBox 10" id="10"/>
          <p:cNvSpPr txBox="true"/>
          <p:nvPr/>
        </p:nvSpPr>
        <p:spPr>
          <a:xfrm rot="0">
            <a:off x="436479" y="3893381"/>
            <a:ext cx="5803137" cy="871220"/>
          </a:xfrm>
          <a:prstGeom prst="rect">
            <a:avLst/>
          </a:prstGeom>
        </p:spPr>
        <p:txBody>
          <a:bodyPr anchor="t" rtlCol="false" tIns="0" lIns="0" bIns="0" rIns="0">
            <a:spAutoFit/>
          </a:bodyPr>
          <a:lstStyle/>
          <a:p>
            <a:pPr algn="ctr">
              <a:lnSpc>
                <a:spcPts val="2380"/>
              </a:lnSpc>
              <a:spcBef>
                <a:spcPct val="0"/>
              </a:spcBef>
            </a:pPr>
            <a:r>
              <a:rPr lang="en-US" b="true" sz="1700">
                <a:solidFill>
                  <a:srgbClr val="FFFFFF"/>
                </a:solidFill>
                <a:latin typeface="DM Sans Bold"/>
                <a:ea typeface="DM Sans Bold"/>
                <a:cs typeface="DM Sans Bold"/>
                <a:sym typeface="DM Sans Bold"/>
              </a:rPr>
              <a:t>~$497/m</a:t>
            </a:r>
            <a:r>
              <a:rPr lang="en-US" b="true" sz="1700">
                <a:solidFill>
                  <a:srgbClr val="FFFFFF"/>
                </a:solidFill>
                <a:latin typeface="DM Sans Bold"/>
                <a:ea typeface="DM Sans Bold"/>
                <a:cs typeface="DM Sans Bold"/>
                <a:sym typeface="DM Sans Bold"/>
              </a:rPr>
              <a:t>onth incremental revenue (~$15,900 cumulative since July 2012 — 32 months)</a:t>
            </a:r>
          </a:p>
          <a:p>
            <a:pPr algn="ctr">
              <a:lnSpc>
                <a:spcPts val="2380"/>
              </a:lnSpc>
              <a:spcBef>
                <a:spcPct val="0"/>
              </a:spcBef>
            </a:pPr>
          </a:p>
        </p:txBody>
      </p:sp>
      <p:graphicFrame>
        <p:nvGraphicFramePr>
          <p:cNvPr name="Table 11" id="11"/>
          <p:cNvGraphicFramePr>
            <a:graphicFrameLocks noGrp="true"/>
          </p:cNvGraphicFramePr>
          <p:nvPr/>
        </p:nvGraphicFramePr>
        <p:xfrm>
          <a:off x="436479" y="5877911"/>
          <a:ext cx="16570475" cy="3174968"/>
        </p:xfrm>
        <a:graphic>
          <a:graphicData uri="http://schemas.openxmlformats.org/drawingml/2006/table">
            <a:tbl>
              <a:tblPr/>
              <a:tblGrid>
                <a:gridCol w="2607195"/>
                <a:gridCol w="13963280"/>
              </a:tblGrid>
              <a:tr h="793742">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The</a:t>
                      </a:r>
                      <a:r>
                        <a:rPr lang="en-US" b="true" sz="1700">
                          <a:solidFill>
                            <a:srgbClr val="FFFFFF"/>
                          </a:solidFill>
                          <a:latin typeface="Canva Sans Bold"/>
                          <a:ea typeface="Canva Sans Bold"/>
                          <a:cs typeface="Canva Sans Bold"/>
                          <a:sym typeface="Canva Sans Bold"/>
                        </a:rPr>
                        <a:t> new landing page cut bounce rate by 5.1pp and raised conversion by 0.88pp — generating ~$497/month in ongoing incremental revenue since deployment in July 2012</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742">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 A single tested page change created a permanent</a:t>
                      </a:r>
                      <a:r>
                        <a:rPr lang="en-US" b="true" sz="1700">
                          <a:solidFill>
                            <a:srgbClr val="FFFFFF"/>
                          </a:solidFill>
                          <a:latin typeface="Canva Sans Bold"/>
                          <a:ea typeface="Canva Sans Bold"/>
                          <a:cs typeface="Canva Sans Bold"/>
                          <a:sym typeface="Canva Sans Bold"/>
                        </a:rPr>
                        <a:t> improvement that has compounded with every new visitor since. This is not a one-time win — it is a structural upgrade to the business.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742">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Apply the</a:t>
                      </a:r>
                      <a:r>
                        <a:rPr lang="en-US" b="true" sz="1700">
                          <a:solidFill>
                            <a:srgbClr val="FFFFFF"/>
                          </a:solidFill>
                          <a:latin typeface="Canva Sans Bold"/>
                          <a:ea typeface="Canva Sans Bold"/>
                          <a:cs typeface="Canva Sans Bold"/>
                          <a:sym typeface="Canva Sans Bold"/>
                        </a:rPr>
                        <a:t> same A/B testing discipline to the product detail page immediately — it is the next highest-leverage opportunity with the same proven methodology.</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742">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KPI: landing page bounce rate — currently 53.24%. Each additional 1pp reduction compounds forward with every paid session. Target: below 50% within next test cycle.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grpSp>
        <p:nvGrpSpPr>
          <p:cNvPr name="Group 12" id="12"/>
          <p:cNvGrpSpPr/>
          <p:nvPr/>
        </p:nvGrpSpPr>
        <p:grpSpPr>
          <a:xfrm rot="0">
            <a:off x="8991799" y="1794372"/>
            <a:ext cx="7965919" cy="3349128"/>
            <a:chOff x="0" y="0"/>
            <a:chExt cx="2098020" cy="882075"/>
          </a:xfrm>
        </p:grpSpPr>
        <p:sp>
          <p:nvSpPr>
            <p:cNvPr name="Freeform 13" id="13"/>
            <p:cNvSpPr/>
            <p:nvPr/>
          </p:nvSpPr>
          <p:spPr>
            <a:xfrm flipH="false" flipV="false" rot="0">
              <a:off x="0" y="0"/>
              <a:ext cx="2098020" cy="882075"/>
            </a:xfrm>
            <a:custGeom>
              <a:avLst/>
              <a:gdLst/>
              <a:ahLst/>
              <a:cxnLst/>
              <a:rect r="r" b="b" t="t" l="l"/>
              <a:pathLst>
                <a:path h="882075" w="2098020">
                  <a:moveTo>
                    <a:pt x="26241" y="0"/>
                  </a:moveTo>
                  <a:lnTo>
                    <a:pt x="2071779" y="0"/>
                  </a:lnTo>
                  <a:cubicBezTo>
                    <a:pt x="2086271" y="0"/>
                    <a:pt x="2098020" y="11748"/>
                    <a:pt x="2098020" y="26241"/>
                  </a:cubicBezTo>
                  <a:lnTo>
                    <a:pt x="2098020" y="855834"/>
                  </a:lnTo>
                  <a:cubicBezTo>
                    <a:pt x="2098020" y="870327"/>
                    <a:pt x="2086271" y="882075"/>
                    <a:pt x="2071779" y="882075"/>
                  </a:cubicBezTo>
                  <a:lnTo>
                    <a:pt x="26241" y="882075"/>
                  </a:lnTo>
                  <a:cubicBezTo>
                    <a:pt x="11748" y="882075"/>
                    <a:pt x="0" y="870327"/>
                    <a:pt x="0" y="855834"/>
                  </a:cubicBezTo>
                  <a:lnTo>
                    <a:pt x="0" y="26241"/>
                  </a:lnTo>
                  <a:cubicBezTo>
                    <a:pt x="0" y="11748"/>
                    <a:pt x="11748" y="0"/>
                    <a:pt x="26241"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4" id="14"/>
            <p:cNvSpPr txBox="true"/>
            <p:nvPr/>
          </p:nvSpPr>
          <p:spPr>
            <a:xfrm>
              <a:off x="0" y="47625"/>
              <a:ext cx="2098020" cy="834450"/>
            </a:xfrm>
            <a:prstGeom prst="rect">
              <a:avLst/>
            </a:prstGeom>
          </p:spPr>
          <p:txBody>
            <a:bodyPr anchor="ctr" rtlCol="false" tIns="50800" lIns="50800" bIns="50800" rIns="50800"/>
            <a:lstStyle/>
            <a:p>
              <a:pPr algn="ctr">
                <a:lnSpc>
                  <a:spcPts val="1924"/>
                </a:lnSpc>
              </a:pPr>
            </a:p>
          </p:txBody>
        </p:sp>
      </p:grpSp>
      <p:sp>
        <p:nvSpPr>
          <p:cNvPr name="TextBox 15" id="15"/>
          <p:cNvSpPr txBox="true"/>
          <p:nvPr/>
        </p:nvSpPr>
        <p:spPr>
          <a:xfrm rot="0">
            <a:off x="9216879" y="2008189"/>
            <a:ext cx="7528679" cy="256275"/>
          </a:xfrm>
          <a:prstGeom prst="rect">
            <a:avLst/>
          </a:prstGeom>
        </p:spPr>
        <p:txBody>
          <a:bodyPr anchor="t" rtlCol="false" tIns="0" lIns="0" bIns="0" rIns="0">
            <a:spAutoFit/>
          </a:bodyPr>
          <a:lstStyle/>
          <a:p>
            <a:pPr algn="l">
              <a:lnSpc>
                <a:spcPts val="2149"/>
              </a:lnSpc>
            </a:pPr>
            <a:r>
              <a:rPr lang="en-US" b="true" sz="1535" strike="noStrike" u="none">
                <a:solidFill>
                  <a:srgbClr val="FFFFFF"/>
                </a:solidFill>
                <a:latin typeface="DM Sans Bold"/>
                <a:ea typeface="DM Sans Bold"/>
                <a:cs typeface="DM Sans Bold"/>
                <a:sym typeface="DM Sans Bold"/>
              </a:rPr>
              <a:t>How We Calculated It: +0.88pp lift × sessions since test ended × AOV at the time</a:t>
            </a:r>
          </a:p>
        </p:txBody>
      </p:sp>
      <p:sp>
        <p:nvSpPr>
          <p:cNvPr name="TextBox 16" id="16"/>
          <p:cNvSpPr txBox="true"/>
          <p:nvPr/>
        </p:nvSpPr>
        <p:spPr>
          <a:xfrm rot="0">
            <a:off x="9216879" y="2425374"/>
            <a:ext cx="6733462" cy="1080155"/>
          </a:xfrm>
          <a:prstGeom prst="rect">
            <a:avLst/>
          </a:prstGeom>
        </p:spPr>
        <p:txBody>
          <a:bodyPr anchor="t" rtlCol="false" tIns="0" lIns="0" bIns="0" rIns="0">
            <a:spAutoFit/>
          </a:bodyPr>
          <a:lstStyle/>
          <a:p>
            <a:pPr algn="l">
              <a:lnSpc>
                <a:spcPts val="2149"/>
              </a:lnSpc>
              <a:spcBef>
                <a:spcPct val="0"/>
              </a:spcBef>
            </a:pPr>
            <a:r>
              <a:rPr lang="en-US" b="true" sz="1535">
                <a:solidFill>
                  <a:srgbClr val="FFFFFF"/>
                </a:solidFill>
                <a:latin typeface="DM Sans Bold"/>
                <a:ea typeface="DM Sans Bold"/>
                <a:cs typeface="DM Sans Bold"/>
                <a:sym typeface="DM Sans Bold"/>
              </a:rPr>
              <a:t>What Happened After the Test:</a:t>
            </a:r>
          </a:p>
          <a:p>
            <a:pPr algn="l" marL="331505" indent="-165752" lvl="1">
              <a:lnSpc>
                <a:spcPts val="2149"/>
              </a:lnSpc>
              <a:buFont typeface="Arial"/>
              <a:buChar char="•"/>
            </a:pPr>
            <a:r>
              <a:rPr lang="en-US" sz="1535">
                <a:solidFill>
                  <a:srgbClr val="FFFFFF"/>
                </a:solidFill>
                <a:latin typeface="DM Sans"/>
                <a:ea typeface="DM Sans"/>
                <a:cs typeface="DM Sans"/>
                <a:sym typeface="DM Sans"/>
              </a:rPr>
              <a:t>/lander-1 declared winner after July 28, 2012</a:t>
            </a:r>
          </a:p>
          <a:p>
            <a:pPr algn="l" marL="331505" indent="-165752" lvl="1">
              <a:lnSpc>
                <a:spcPts val="2149"/>
              </a:lnSpc>
              <a:buFont typeface="Arial"/>
              <a:buChar char="•"/>
            </a:pPr>
            <a:r>
              <a:rPr lang="en-US" sz="1535">
                <a:solidFill>
                  <a:srgbClr val="FFFFFF"/>
                </a:solidFill>
                <a:latin typeface="DM Sans"/>
                <a:ea typeface="DM Sans"/>
                <a:cs typeface="DM Sans"/>
                <a:sym typeface="DM Sans"/>
              </a:rPr>
              <a:t>Traffic correctly routed to /lander-1 — confirmed in weekly volume data</a:t>
            </a:r>
          </a:p>
          <a:p>
            <a:pPr algn="l" marL="331505" indent="-165752" lvl="1">
              <a:lnSpc>
                <a:spcPts val="2149"/>
              </a:lnSpc>
              <a:buFont typeface="Arial"/>
              <a:buChar char="•"/>
            </a:pPr>
            <a:r>
              <a:rPr lang="en-US" sz="1535">
                <a:solidFill>
                  <a:srgbClr val="FFFFFF"/>
                </a:solidFill>
                <a:latin typeface="DM Sans"/>
                <a:ea typeface="DM Sans"/>
                <a:cs typeface="DM Sans"/>
                <a:sym typeface="DM Sans"/>
              </a:rPr>
              <a:t>Every paid nonbrand visitor since has landed on the winning page</a:t>
            </a:r>
          </a:p>
        </p:txBody>
      </p:sp>
      <p:sp>
        <p:nvSpPr>
          <p:cNvPr name="TextBox 17" id="17"/>
          <p:cNvSpPr txBox="true"/>
          <p:nvPr/>
        </p:nvSpPr>
        <p:spPr>
          <a:xfrm rot="0">
            <a:off x="9216879" y="3667454"/>
            <a:ext cx="9724720" cy="1323075"/>
          </a:xfrm>
          <a:prstGeom prst="rect">
            <a:avLst/>
          </a:prstGeom>
        </p:spPr>
        <p:txBody>
          <a:bodyPr anchor="t" rtlCol="false" tIns="0" lIns="0" bIns="0" rIns="0">
            <a:spAutoFit/>
          </a:bodyPr>
          <a:lstStyle/>
          <a:p>
            <a:pPr algn="l">
              <a:lnSpc>
                <a:spcPts val="2149"/>
              </a:lnSpc>
            </a:pPr>
            <a:r>
              <a:rPr lang="en-US" b="true" sz="1535" strike="noStrike" u="none">
                <a:solidFill>
                  <a:srgbClr val="FFFFFF"/>
                </a:solidFill>
                <a:latin typeface="DM Sans Bold"/>
                <a:ea typeface="DM Sans Bold"/>
                <a:cs typeface="DM Sans Bold"/>
                <a:sym typeface="DM Sans Bold"/>
              </a:rPr>
              <a:t>Proposed Next Test:</a:t>
            </a:r>
          </a:p>
          <a:p>
            <a:pPr algn="l" marL="331504" indent="-165752" lvl="1">
              <a:lnSpc>
                <a:spcPts val="2149"/>
              </a:lnSpc>
              <a:spcBef>
                <a:spcPct val="0"/>
              </a:spcBef>
              <a:buFont typeface="Arial"/>
              <a:buChar char="•"/>
            </a:pPr>
            <a:r>
              <a:rPr lang="en-US" b="true" sz="1535" strike="noStrike" u="none">
                <a:solidFill>
                  <a:srgbClr val="FFFFFF"/>
                </a:solidFill>
                <a:latin typeface="DM Sans Bold"/>
                <a:ea typeface="DM Sans Bold"/>
                <a:cs typeface="DM Sans Bold"/>
                <a:sym typeface="DM Sans Bold"/>
              </a:rPr>
              <a:t>Page: </a:t>
            </a:r>
            <a:r>
              <a:rPr lang="en-US" sz="1535" strike="noStrike" u="none">
                <a:solidFill>
                  <a:srgbClr val="FFFFFF"/>
                </a:solidFill>
                <a:latin typeface="DM Sans"/>
                <a:ea typeface="DM Sans"/>
                <a:cs typeface="DM Sans"/>
                <a:sym typeface="DM Sans"/>
              </a:rPr>
              <a:t>Product detail page</a:t>
            </a:r>
          </a:p>
          <a:p>
            <a:pPr algn="l" marL="331504" indent="-165752" lvl="1">
              <a:lnSpc>
                <a:spcPts val="2149"/>
              </a:lnSpc>
              <a:spcBef>
                <a:spcPct val="0"/>
              </a:spcBef>
              <a:buFont typeface="Arial"/>
              <a:buChar char="•"/>
            </a:pPr>
            <a:r>
              <a:rPr lang="en-US" b="true" sz="1535" strike="noStrike" u="none">
                <a:solidFill>
                  <a:srgbClr val="FFFFFF"/>
                </a:solidFill>
                <a:latin typeface="DM Sans Bold"/>
                <a:ea typeface="DM Sans Bold"/>
                <a:cs typeface="DM Sans Bold"/>
                <a:sym typeface="DM Sans Bold"/>
              </a:rPr>
              <a:t>Variables:</a:t>
            </a:r>
            <a:r>
              <a:rPr lang="en-US" sz="1535" strike="noStrike" u="none">
                <a:solidFill>
                  <a:srgbClr val="FFFFFF"/>
                </a:solidFill>
                <a:latin typeface="DM Sans"/>
                <a:ea typeface="DM Sans"/>
                <a:cs typeface="DM Sans"/>
                <a:sym typeface="DM Sans"/>
              </a:rPr>
              <a:t> Lifestyle photography · Customer review count · CTA wording</a:t>
            </a:r>
          </a:p>
          <a:p>
            <a:pPr algn="l" marL="331504" indent="-165752" lvl="1">
              <a:lnSpc>
                <a:spcPts val="2149"/>
              </a:lnSpc>
              <a:spcBef>
                <a:spcPct val="0"/>
              </a:spcBef>
              <a:buFont typeface="Arial"/>
              <a:buChar char="•"/>
            </a:pPr>
            <a:r>
              <a:rPr lang="en-US" b="true" sz="1535" strike="noStrike" u="none">
                <a:solidFill>
                  <a:srgbClr val="FFFFFF"/>
                </a:solidFill>
                <a:latin typeface="DM Sans Bold"/>
                <a:ea typeface="DM Sans Bold"/>
                <a:cs typeface="DM Sans Bold"/>
                <a:sym typeface="DM Sans Bold"/>
              </a:rPr>
              <a:t>Hypothesis:</a:t>
            </a:r>
            <a:r>
              <a:rPr lang="en-US" sz="1535" strike="noStrike" u="none">
                <a:solidFill>
                  <a:srgbClr val="FFFFFF"/>
                </a:solidFill>
                <a:latin typeface="DM Sans"/>
                <a:ea typeface="DM Sans"/>
                <a:cs typeface="DM Sans"/>
                <a:sym typeface="DM Sans"/>
              </a:rPr>
              <a:t> Reduce detail→cart abandonment from 56.6% to below 50%</a:t>
            </a:r>
          </a:p>
          <a:p>
            <a:pPr algn="l" marL="331504" indent="-165752" lvl="1">
              <a:lnSpc>
                <a:spcPts val="2149"/>
              </a:lnSpc>
              <a:spcBef>
                <a:spcPct val="0"/>
              </a:spcBef>
              <a:buFont typeface="Arial"/>
              <a:buChar char="•"/>
            </a:pPr>
            <a:r>
              <a:rPr lang="en-US" b="true" sz="1535" strike="noStrike" u="none">
                <a:solidFill>
                  <a:srgbClr val="FFFFFF"/>
                </a:solidFill>
                <a:latin typeface="DM Sans Bold"/>
                <a:ea typeface="DM Sans Bold"/>
                <a:cs typeface="DM Sans Bold"/>
                <a:sym typeface="DM Sans Bold"/>
              </a:rPr>
              <a:t>Window:</a:t>
            </a:r>
            <a:r>
              <a:rPr lang="en-US" sz="1535" strike="noStrike" u="none">
                <a:solidFill>
                  <a:srgbClr val="FFFFFF"/>
                </a:solidFill>
                <a:latin typeface="DM Sans"/>
                <a:ea typeface="DM Sans"/>
                <a:cs typeface="DM Sans"/>
                <a:sym typeface="DM Sans"/>
              </a:rPr>
              <a:t> 90 days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6383386" y="9600570"/>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C06 - page  10</a:t>
            </a:r>
          </a:p>
        </p:txBody>
      </p:sp>
      <p:grpSp>
        <p:nvGrpSpPr>
          <p:cNvPr name="Group 3" id="3"/>
          <p:cNvGrpSpPr/>
          <p:nvPr/>
        </p:nvGrpSpPr>
        <p:grpSpPr>
          <a:xfrm rot="0">
            <a:off x="337128" y="9424997"/>
            <a:ext cx="99352" cy="451635"/>
            <a:chOff x="0" y="0"/>
            <a:chExt cx="26167" cy="118949"/>
          </a:xfrm>
        </p:grpSpPr>
        <p:sp>
          <p:nvSpPr>
            <p:cNvPr name="Freeform 4" id="4"/>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5" id="5"/>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sp>
        <p:nvSpPr>
          <p:cNvPr name="TextBox 6" id="6"/>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7" id="7"/>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8" id="8"/>
          <p:cNvSpPr txBox="true"/>
          <p:nvPr/>
        </p:nvSpPr>
        <p:spPr>
          <a:xfrm rot="0">
            <a:off x="436479" y="396906"/>
            <a:ext cx="13216209" cy="752476"/>
          </a:xfrm>
          <a:prstGeom prst="rect">
            <a:avLst/>
          </a:prstGeom>
        </p:spPr>
        <p:txBody>
          <a:bodyPr anchor="t" rtlCol="false" tIns="0" lIns="0" bIns="0" rIns="0">
            <a:spAutoFit/>
          </a:bodyPr>
          <a:lstStyle/>
          <a:p>
            <a:pPr algn="l" marL="0" indent="0" lvl="0">
              <a:lnSpc>
                <a:spcPts val="3999"/>
              </a:lnSpc>
            </a:pPr>
            <a:r>
              <a:rPr lang="en-US" b="true" sz="3999" spc="-219">
                <a:solidFill>
                  <a:srgbClr val="F0F2F5"/>
                </a:solidFill>
                <a:latin typeface="Work Sans Bold"/>
                <a:ea typeface="Work Sans Bold"/>
                <a:cs typeface="Work Sans Bold"/>
                <a:sym typeface="Work Sans Bold"/>
              </a:rPr>
              <a:t>BILLING PAG</a:t>
            </a:r>
            <a:r>
              <a:rPr lang="en-US" b="true" sz="3999" spc="-219" strike="noStrike" u="none">
                <a:solidFill>
                  <a:srgbClr val="F0F2F5"/>
                </a:solidFill>
                <a:latin typeface="Work Sans Bold"/>
                <a:ea typeface="Work Sans Bold"/>
                <a:cs typeface="Work Sans Bold"/>
                <a:sym typeface="Work Sans Bold"/>
              </a:rPr>
              <a:t>E A/B TEST</a:t>
            </a:r>
          </a:p>
          <a:p>
            <a:pPr algn="l" marL="0" indent="0" lvl="0">
              <a:lnSpc>
                <a:spcPts val="2000"/>
              </a:lnSpc>
            </a:pPr>
            <a:r>
              <a:rPr lang="en-US" sz="2000" spc="-110" strike="noStrike" u="none">
                <a:solidFill>
                  <a:srgbClr val="F0F2F5"/>
                </a:solidFill>
                <a:latin typeface="Work Sans"/>
                <a:ea typeface="Work Sans"/>
                <a:cs typeface="Work Sans"/>
                <a:sym typeface="Work Sans"/>
              </a:rPr>
              <a:t>Billing Page A/B Test What Was the</a:t>
            </a:r>
            <a:r>
              <a:rPr lang="en-US" sz="2000" spc="-110" strike="noStrike" u="none">
                <a:solidFill>
                  <a:srgbClr val="F0F2F5"/>
                </a:solidFill>
                <a:latin typeface="Work Sans"/>
                <a:ea typeface="Work Sans"/>
                <a:cs typeface="Work Sans"/>
                <a:sym typeface="Work Sans"/>
              </a:rPr>
              <a:t> Return on Our Website Investments? September 10 – November 10, 2012 | All traffic</a:t>
            </a:r>
          </a:p>
        </p:txBody>
      </p:sp>
      <p:graphicFrame>
        <p:nvGraphicFramePr>
          <p:cNvPr name="Object 9" id="9"/>
          <p:cNvGraphicFramePr/>
          <p:nvPr/>
        </p:nvGraphicFramePr>
        <p:xfrm>
          <a:off x="436479" y="1794372"/>
          <a:ext cx="7543800" cy="1885950"/>
        </p:xfrm>
        <a:graphic>
          <a:graphicData uri="http://schemas.openxmlformats.org/presentationml/2006/ole">
            <p:oleObj imgW="9042400" imgH="3390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10" id="10"/>
          <p:cNvSpPr txBox="true"/>
          <p:nvPr/>
        </p:nvSpPr>
        <p:spPr>
          <a:xfrm rot="0">
            <a:off x="436479" y="3893381"/>
            <a:ext cx="5181930" cy="871220"/>
          </a:xfrm>
          <a:prstGeom prst="rect">
            <a:avLst/>
          </a:prstGeom>
        </p:spPr>
        <p:txBody>
          <a:bodyPr anchor="t" rtlCol="false" tIns="0" lIns="0" bIns="0" rIns="0">
            <a:spAutoFit/>
          </a:bodyPr>
          <a:lstStyle/>
          <a:p>
            <a:pPr algn="ctr">
              <a:lnSpc>
                <a:spcPts val="2380"/>
              </a:lnSpc>
              <a:spcBef>
                <a:spcPct val="0"/>
              </a:spcBef>
            </a:pPr>
            <a:r>
              <a:rPr lang="en-US" b="true" sz="1700">
                <a:solidFill>
                  <a:srgbClr val="FFFFFF"/>
                </a:solidFill>
                <a:latin typeface="DM Sans Bold"/>
                <a:ea typeface="DM Sans Bold"/>
                <a:cs typeface="DM Sans Bold"/>
                <a:sym typeface="DM Sans Bold"/>
              </a:rPr>
              <a:t>~$27,800/m</a:t>
            </a:r>
            <a:r>
              <a:rPr lang="en-US" b="true" sz="1700">
                <a:solidFill>
                  <a:srgbClr val="FFFFFF"/>
                </a:solidFill>
                <a:latin typeface="DM Sans Bold"/>
                <a:ea typeface="DM Sans Bold"/>
                <a:cs typeface="DM Sans Bold"/>
                <a:sym typeface="DM Sans Bold"/>
              </a:rPr>
              <a:t>onth Ongoing Incremental Revenue Grows as session volume grows</a:t>
            </a:r>
          </a:p>
          <a:p>
            <a:pPr algn="ctr">
              <a:lnSpc>
                <a:spcPts val="2380"/>
              </a:lnSpc>
              <a:spcBef>
                <a:spcPct val="0"/>
              </a:spcBef>
            </a:pPr>
          </a:p>
        </p:txBody>
      </p:sp>
      <p:graphicFrame>
        <p:nvGraphicFramePr>
          <p:cNvPr name="Table 11" id="11"/>
          <p:cNvGraphicFramePr>
            <a:graphicFrameLocks noGrp="true"/>
          </p:cNvGraphicFramePr>
          <p:nvPr/>
        </p:nvGraphicFramePr>
        <p:xfrm>
          <a:off x="436479" y="5877911"/>
          <a:ext cx="16570475" cy="3060484"/>
        </p:xfrm>
        <a:graphic>
          <a:graphicData uri="http://schemas.openxmlformats.org/drawingml/2006/table">
            <a:tbl>
              <a:tblPr/>
              <a:tblGrid>
                <a:gridCol w="2607195"/>
                <a:gridCol w="13963280"/>
              </a:tblGrid>
              <a:tr h="73378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b="true" sz="1700">
                          <a:solidFill>
                            <a:srgbClr val="FFFFFF"/>
                          </a:solidFill>
                          <a:latin typeface="Canva Sans Bold"/>
                          <a:ea typeface="Canva Sans Bold"/>
                          <a:cs typeface="Canva Sans Bold"/>
                          <a:sym typeface="Canva Sans Bold"/>
                        </a:rPr>
                        <a:t> Billing page redesign raised conversion at that single step from 45.51% to 62.69% — a 17.18pp lift — adding ~$27,800 every month.</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861">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 The largest single performance lift in any test in the dataset. Unlike a one-time gain, this</a:t>
                      </a:r>
                      <a:r>
                        <a:rPr lang="en-US" b="true" sz="1700">
                          <a:solidFill>
                            <a:srgbClr val="FFFFFF"/>
                          </a:solidFill>
                          <a:latin typeface="Canva Sans Bold"/>
                          <a:ea typeface="Canva Sans Bold"/>
                          <a:cs typeface="Canva Sans Bold"/>
                          <a:sym typeface="Canva Sans Bold"/>
                        </a:rPr>
                        <a:t> improvement compounds — as session volumes grow, so does the monthly value.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38972">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Protect</a:t>
                      </a:r>
                      <a:r>
                        <a:rPr lang="en-US" b="true" sz="1700">
                          <a:solidFill>
                            <a:srgbClr val="FFFFFF"/>
                          </a:solidFill>
                          <a:latin typeface="Canva Sans Bold"/>
                          <a:ea typeface="Canva Sans Bold"/>
                          <a:cs typeface="Canva Sans Bold"/>
                          <a:sym typeface="Canva Sans Bold"/>
                        </a:rPr>
                        <a:t> this page — do not change without testing. Apply the same discipline to the shipping page next.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861">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 KPI: revenue per billing session — currently $31.34. Target: one high-value page test per quarter. Each successful test adds permanent monthly revenue.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grpSp>
        <p:nvGrpSpPr>
          <p:cNvPr name="Group 12" id="12"/>
          <p:cNvGrpSpPr/>
          <p:nvPr/>
        </p:nvGrpSpPr>
        <p:grpSpPr>
          <a:xfrm rot="0">
            <a:off x="8991799" y="1794372"/>
            <a:ext cx="7965919" cy="3349128"/>
            <a:chOff x="0" y="0"/>
            <a:chExt cx="2098020" cy="882075"/>
          </a:xfrm>
        </p:grpSpPr>
        <p:sp>
          <p:nvSpPr>
            <p:cNvPr name="Freeform 13" id="13"/>
            <p:cNvSpPr/>
            <p:nvPr/>
          </p:nvSpPr>
          <p:spPr>
            <a:xfrm flipH="false" flipV="false" rot="0">
              <a:off x="0" y="0"/>
              <a:ext cx="2098020" cy="882075"/>
            </a:xfrm>
            <a:custGeom>
              <a:avLst/>
              <a:gdLst/>
              <a:ahLst/>
              <a:cxnLst/>
              <a:rect r="r" b="b" t="t" l="l"/>
              <a:pathLst>
                <a:path h="882075" w="2098020">
                  <a:moveTo>
                    <a:pt x="26241" y="0"/>
                  </a:moveTo>
                  <a:lnTo>
                    <a:pt x="2071779" y="0"/>
                  </a:lnTo>
                  <a:cubicBezTo>
                    <a:pt x="2086271" y="0"/>
                    <a:pt x="2098020" y="11748"/>
                    <a:pt x="2098020" y="26241"/>
                  </a:cubicBezTo>
                  <a:lnTo>
                    <a:pt x="2098020" y="855834"/>
                  </a:lnTo>
                  <a:cubicBezTo>
                    <a:pt x="2098020" y="870327"/>
                    <a:pt x="2086271" y="882075"/>
                    <a:pt x="2071779" y="882075"/>
                  </a:cubicBezTo>
                  <a:lnTo>
                    <a:pt x="26241" y="882075"/>
                  </a:lnTo>
                  <a:cubicBezTo>
                    <a:pt x="11748" y="882075"/>
                    <a:pt x="0" y="870327"/>
                    <a:pt x="0" y="855834"/>
                  </a:cubicBezTo>
                  <a:lnTo>
                    <a:pt x="0" y="26241"/>
                  </a:lnTo>
                  <a:cubicBezTo>
                    <a:pt x="0" y="11748"/>
                    <a:pt x="11748" y="0"/>
                    <a:pt x="26241"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4" id="14"/>
            <p:cNvSpPr txBox="true"/>
            <p:nvPr/>
          </p:nvSpPr>
          <p:spPr>
            <a:xfrm>
              <a:off x="0" y="47625"/>
              <a:ext cx="2098020" cy="834450"/>
            </a:xfrm>
            <a:prstGeom prst="rect">
              <a:avLst/>
            </a:prstGeom>
          </p:spPr>
          <p:txBody>
            <a:bodyPr anchor="ctr" rtlCol="false" tIns="50800" lIns="50800" bIns="50800" rIns="50800"/>
            <a:lstStyle/>
            <a:p>
              <a:pPr algn="ctr">
                <a:lnSpc>
                  <a:spcPts val="1924"/>
                </a:lnSpc>
              </a:pPr>
            </a:p>
          </p:txBody>
        </p:sp>
      </p:grpSp>
      <p:sp>
        <p:nvSpPr>
          <p:cNvPr name="TextBox 15" id="15"/>
          <p:cNvSpPr txBox="true"/>
          <p:nvPr/>
        </p:nvSpPr>
        <p:spPr>
          <a:xfrm rot="0">
            <a:off x="9216879" y="2425374"/>
            <a:ext cx="5389199" cy="1080155"/>
          </a:xfrm>
          <a:prstGeom prst="rect">
            <a:avLst/>
          </a:prstGeom>
        </p:spPr>
        <p:txBody>
          <a:bodyPr anchor="t" rtlCol="false" tIns="0" lIns="0" bIns="0" rIns="0">
            <a:spAutoFit/>
          </a:bodyPr>
          <a:lstStyle/>
          <a:p>
            <a:pPr algn="l">
              <a:lnSpc>
                <a:spcPts val="2149"/>
              </a:lnSpc>
              <a:spcBef>
                <a:spcPct val="0"/>
              </a:spcBef>
            </a:pPr>
            <a:r>
              <a:rPr lang="en-US" b="true" sz="1535">
                <a:solidFill>
                  <a:srgbClr val="FFFFFF"/>
                </a:solidFill>
                <a:latin typeface="DM Sans Bold"/>
                <a:ea typeface="DM Sans Bold"/>
                <a:cs typeface="DM Sans Bold"/>
                <a:sym typeface="DM Sans Bold"/>
              </a:rPr>
              <a:t>What Happened After :</a:t>
            </a:r>
          </a:p>
          <a:p>
            <a:pPr algn="l" marL="331505" indent="-165752" lvl="1">
              <a:lnSpc>
                <a:spcPts val="2149"/>
              </a:lnSpc>
              <a:buFont typeface="Arial"/>
              <a:buChar char="•"/>
            </a:pPr>
            <a:r>
              <a:rPr lang="en-US" sz="1535">
                <a:solidFill>
                  <a:srgbClr val="FFFFFF"/>
                </a:solidFill>
                <a:latin typeface="DM Sans"/>
                <a:ea typeface="DM Sans"/>
                <a:cs typeface="DM Sans"/>
                <a:sym typeface="DM Sans"/>
              </a:rPr>
              <a:t>/billing-2 declared winner November 2012</a:t>
            </a:r>
          </a:p>
          <a:p>
            <a:pPr algn="l" marL="331505" indent="-165752" lvl="1">
              <a:lnSpc>
                <a:spcPts val="2149"/>
              </a:lnSpc>
              <a:buFont typeface="Arial"/>
              <a:buChar char="•"/>
            </a:pPr>
            <a:r>
              <a:rPr lang="en-US" sz="1535">
                <a:solidFill>
                  <a:srgbClr val="FFFFFF"/>
                </a:solidFill>
                <a:latin typeface="DM Sans"/>
                <a:ea typeface="DM Sans"/>
                <a:cs typeface="DM Sans"/>
                <a:sym typeface="DM Sans"/>
              </a:rPr>
              <a:t>Still the live page today</a:t>
            </a:r>
          </a:p>
          <a:p>
            <a:pPr algn="l" marL="331505" indent="-165752" lvl="1">
              <a:lnSpc>
                <a:spcPts val="2149"/>
              </a:lnSpc>
              <a:buFont typeface="Arial"/>
              <a:buChar char="•"/>
            </a:pPr>
            <a:r>
              <a:rPr lang="en-US" sz="1535">
                <a:solidFill>
                  <a:srgbClr val="FFFFFF"/>
                </a:solidFill>
                <a:latin typeface="DM Sans"/>
                <a:ea typeface="DM Sans"/>
                <a:cs typeface="DM Sans"/>
                <a:sym typeface="DM Sans"/>
              </a:rPr>
              <a:t>Every billing session since has been on the winning page</a:t>
            </a:r>
          </a:p>
        </p:txBody>
      </p:sp>
      <p:sp>
        <p:nvSpPr>
          <p:cNvPr name="TextBox 16" id="16"/>
          <p:cNvSpPr txBox="true"/>
          <p:nvPr/>
        </p:nvSpPr>
        <p:spPr>
          <a:xfrm rot="0">
            <a:off x="9216879" y="3667454"/>
            <a:ext cx="9724720" cy="1323075"/>
          </a:xfrm>
          <a:prstGeom prst="rect">
            <a:avLst/>
          </a:prstGeom>
        </p:spPr>
        <p:txBody>
          <a:bodyPr anchor="t" rtlCol="false" tIns="0" lIns="0" bIns="0" rIns="0">
            <a:spAutoFit/>
          </a:bodyPr>
          <a:lstStyle/>
          <a:p>
            <a:pPr algn="l">
              <a:lnSpc>
                <a:spcPts val="2149"/>
              </a:lnSpc>
            </a:pPr>
            <a:r>
              <a:rPr lang="en-US" b="true" sz="1535" strike="noStrike" u="none">
                <a:solidFill>
                  <a:srgbClr val="FFFFFF"/>
                </a:solidFill>
                <a:latin typeface="DM Sans Bold"/>
                <a:ea typeface="DM Sans Bold"/>
                <a:cs typeface="DM Sans Bold"/>
                <a:sym typeface="DM Sans Bold"/>
              </a:rPr>
              <a:t>Proposed Next Test:</a:t>
            </a:r>
          </a:p>
          <a:p>
            <a:pPr algn="l" marL="331504" indent="-165752" lvl="1">
              <a:lnSpc>
                <a:spcPts val="2149"/>
              </a:lnSpc>
              <a:spcBef>
                <a:spcPct val="0"/>
              </a:spcBef>
              <a:buFont typeface="Arial"/>
              <a:buChar char="•"/>
            </a:pPr>
            <a:r>
              <a:rPr lang="en-US" b="true" sz="1535" strike="noStrike" u="none">
                <a:solidFill>
                  <a:srgbClr val="FFFFFF"/>
                </a:solidFill>
                <a:latin typeface="DM Sans Bold"/>
                <a:ea typeface="DM Sans Bold"/>
                <a:cs typeface="DM Sans Bold"/>
                <a:sym typeface="DM Sans Bold"/>
              </a:rPr>
              <a:t>Page: </a:t>
            </a:r>
            <a:r>
              <a:rPr lang="en-US" sz="1535" strike="noStrike" u="none">
                <a:solidFill>
                  <a:srgbClr val="FFFFFF"/>
                </a:solidFill>
                <a:latin typeface="DM Sans"/>
                <a:ea typeface="DM Sans"/>
                <a:cs typeface="DM Sans"/>
                <a:sym typeface="DM Sans"/>
              </a:rPr>
              <a:t>Shipping page</a:t>
            </a:r>
          </a:p>
          <a:p>
            <a:pPr algn="l" marL="331504" indent="-165752" lvl="1">
              <a:lnSpc>
                <a:spcPts val="2149"/>
              </a:lnSpc>
              <a:spcBef>
                <a:spcPct val="0"/>
              </a:spcBef>
              <a:buFont typeface="Arial"/>
              <a:buChar char="•"/>
            </a:pPr>
            <a:r>
              <a:rPr lang="en-US" b="true" sz="1535" strike="noStrike" u="none">
                <a:solidFill>
                  <a:srgbClr val="FFFFFF"/>
                </a:solidFill>
                <a:latin typeface="DM Sans Bold"/>
                <a:ea typeface="DM Sans Bold"/>
                <a:cs typeface="DM Sans Bold"/>
                <a:sym typeface="DM Sans Bold"/>
              </a:rPr>
              <a:t>Hypothes</a:t>
            </a:r>
            <a:r>
              <a:rPr lang="en-US" b="true" sz="1535" strike="noStrike" u="none">
                <a:solidFill>
                  <a:srgbClr val="FFFFFF"/>
                </a:solidFill>
                <a:latin typeface="DM Sans Bold"/>
                <a:ea typeface="DM Sans Bold"/>
                <a:cs typeface="DM Sans Bold"/>
                <a:sym typeface="DM Sans Bold"/>
              </a:rPr>
              <a:t>is:</a:t>
            </a:r>
            <a:r>
              <a:rPr lang="en-US" b="true" sz="1535" strike="noStrike" u="none">
                <a:solidFill>
                  <a:srgbClr val="FFFFFF"/>
                </a:solidFill>
                <a:latin typeface="DM Sans Bold"/>
                <a:ea typeface="DM Sans Bold"/>
                <a:cs typeface="DM Sans Bold"/>
                <a:sym typeface="DM Sans Bold"/>
              </a:rPr>
              <a:t> </a:t>
            </a:r>
            <a:r>
              <a:rPr lang="en-US" sz="1535" strike="noStrike" u="none">
                <a:solidFill>
                  <a:srgbClr val="FFFFFF"/>
                </a:solidFill>
                <a:latin typeface="DM Sans"/>
                <a:ea typeface="DM Sans"/>
                <a:cs typeface="DM Sans"/>
                <a:sym typeface="DM Sans"/>
              </a:rPr>
              <a:t>Progress indicator (step 3 of 5) rai</a:t>
            </a:r>
            <a:r>
              <a:rPr lang="en-US" sz="1535" strike="noStrike" u="none">
                <a:solidFill>
                  <a:srgbClr val="FFFFFF"/>
                </a:solidFill>
                <a:latin typeface="DM Sans"/>
                <a:ea typeface="DM Sans"/>
                <a:cs typeface="DM Sans"/>
                <a:sym typeface="DM Sans"/>
              </a:rPr>
              <a:t>s</a:t>
            </a:r>
            <a:r>
              <a:rPr lang="en-US" sz="1535" strike="noStrike" u="none">
                <a:solidFill>
                  <a:srgbClr val="FFFFFF"/>
                </a:solidFill>
                <a:latin typeface="DM Sans"/>
                <a:ea typeface="DM Sans"/>
                <a:cs typeface="DM Sans"/>
                <a:sym typeface="DM Sans"/>
              </a:rPr>
              <a:t>e</a:t>
            </a:r>
            <a:r>
              <a:rPr lang="en-US" sz="1535" strike="noStrike" u="none">
                <a:solidFill>
                  <a:srgbClr val="FFFFFF"/>
                </a:solidFill>
                <a:latin typeface="DM Sans"/>
                <a:ea typeface="DM Sans"/>
                <a:cs typeface="DM Sans"/>
                <a:sym typeface="DM Sans"/>
              </a:rPr>
              <a:t>s</a:t>
            </a:r>
            <a:r>
              <a:rPr lang="en-US" sz="1535" strike="noStrike" u="none">
                <a:solidFill>
                  <a:srgbClr val="FFFFFF"/>
                </a:solidFill>
                <a:latin typeface="DM Sans"/>
                <a:ea typeface="DM Sans"/>
                <a:cs typeface="DM Sans"/>
                <a:sym typeface="DM Sans"/>
              </a:rPr>
              <a:t> 80.9% conversion above 88%</a:t>
            </a:r>
          </a:p>
          <a:p>
            <a:pPr algn="l" marL="331504" indent="-165752" lvl="1">
              <a:lnSpc>
                <a:spcPts val="2149"/>
              </a:lnSpc>
              <a:spcBef>
                <a:spcPct val="0"/>
              </a:spcBef>
              <a:buFont typeface="Arial"/>
              <a:buChar char="•"/>
            </a:pPr>
            <a:r>
              <a:rPr lang="en-US" b="true" sz="1535" strike="noStrike" u="none">
                <a:solidFill>
                  <a:srgbClr val="FFFFFF"/>
                </a:solidFill>
                <a:latin typeface="DM Sans Bold"/>
                <a:ea typeface="DM Sans Bold"/>
                <a:cs typeface="DM Sans Bold"/>
                <a:sym typeface="DM Sans Bold"/>
              </a:rPr>
              <a:t>Window:</a:t>
            </a:r>
            <a:r>
              <a:rPr lang="en-US" b="true" sz="1535" strike="noStrike" u="none">
                <a:solidFill>
                  <a:srgbClr val="FFFFFF"/>
                </a:solidFill>
                <a:latin typeface="DM Sans Bold"/>
                <a:ea typeface="DM Sans Bold"/>
                <a:cs typeface="DM Sans Bold"/>
                <a:sym typeface="DM Sans Bold"/>
              </a:rPr>
              <a:t> </a:t>
            </a:r>
            <a:r>
              <a:rPr lang="en-US" sz="1535" strike="noStrike" u="none">
                <a:solidFill>
                  <a:srgbClr val="FFFFFF"/>
                </a:solidFill>
                <a:latin typeface="DM Sans"/>
                <a:ea typeface="DM Sans"/>
                <a:cs typeface="DM Sans"/>
                <a:sym typeface="DM Sans"/>
              </a:rPr>
              <a:t>60 days</a:t>
            </a:r>
          </a:p>
          <a:p>
            <a:pPr algn="l">
              <a:lnSpc>
                <a:spcPts val="214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graphicFrame>
        <p:nvGraphicFramePr>
          <p:cNvPr name="Table 5" id="5"/>
          <p:cNvGraphicFramePr>
            <a:graphicFrameLocks noGrp="true"/>
          </p:cNvGraphicFramePr>
          <p:nvPr/>
        </p:nvGraphicFramePr>
        <p:xfrm>
          <a:off x="386803" y="5877911"/>
          <a:ext cx="16570475" cy="3380389"/>
        </p:xfrm>
        <a:graphic>
          <a:graphicData uri="http://schemas.openxmlformats.org/drawingml/2006/table">
            <a:tbl>
              <a:tblPr/>
              <a:tblGrid>
                <a:gridCol w="2607195"/>
                <a:gridCol w="13963280"/>
              </a:tblGrid>
              <a:tr h="79354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Blend</a:t>
                      </a:r>
                      <a:r>
                        <a:rPr lang="en-US" b="true" sz="1700">
                          <a:solidFill>
                            <a:srgbClr val="FFFFFF"/>
                          </a:solidFill>
                          <a:latin typeface="Canva Sans Bold"/>
                          <a:ea typeface="Canva Sans Bold"/>
                          <a:cs typeface="Canva Sans Bold"/>
                          <a:sym typeface="Canva Sans Bold"/>
                        </a:rPr>
                        <a:t>ed margin expanded from 61.0% → 63.5% over 3 years. Birthday Panda = highest margin at 68.5%, Mini Bear at 68.4%. Mr. Fuzzy dominates revenue at $1.21M lifetime. Peak month: Dec 2014 — 2,312 orders / $144,717 revenue.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999742">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Every new product adde</a:t>
                      </a:r>
                      <a:r>
                        <a:rPr lang="en-US" b="true" sz="1700">
                          <a:solidFill>
                            <a:srgbClr val="FFFFFF"/>
                          </a:solidFill>
                          <a:latin typeface="Canva Sans Bold"/>
                          <a:ea typeface="Canva Sans Bold"/>
                          <a:cs typeface="Canva Sans Bold"/>
                          <a:sym typeface="Canva Sans Bold"/>
                        </a:rPr>
                        <a:t>d margin points to the blended rate without cannibalizing Mr. Fuzzy. The portfolio is structurally healthy — volume lives in Mr. Fuzzy, margin lives in the newer products.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54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Pri</a:t>
                      </a:r>
                      <a:r>
                        <a:rPr lang="en-US" b="true" sz="1700">
                          <a:solidFill>
                            <a:srgbClr val="FFFFFF"/>
                          </a:solidFill>
                          <a:latin typeface="Canva Sans Bold"/>
                          <a:ea typeface="Canva Sans Bold"/>
                          <a:cs typeface="Canva Sans Bold"/>
                          <a:sym typeface="Canva Sans Bold"/>
                        </a:rPr>
                        <a:t>oritise Mini Bear visibility at cart step. Shift marketing mix toward Birthday Panda and Mini Bear where margin is highest. Apply the proven launch playbook to the next product entry.</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549">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KPI: blended margin % — currently 63.5%. Target: 65% within 12 months. Each 1pp lift on ~$100K monthly revenue = +$1,000/month permanent margin improvement.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grpSp>
        <p:nvGrpSpPr>
          <p:cNvPr name="Group 6" id="6"/>
          <p:cNvGrpSpPr/>
          <p:nvPr/>
        </p:nvGrpSpPr>
        <p:grpSpPr>
          <a:xfrm rot="0">
            <a:off x="337128" y="4145569"/>
            <a:ext cx="5715797" cy="1560892"/>
            <a:chOff x="0" y="0"/>
            <a:chExt cx="1505395" cy="411099"/>
          </a:xfrm>
        </p:grpSpPr>
        <p:sp>
          <p:nvSpPr>
            <p:cNvPr name="Freeform 7" id="7"/>
            <p:cNvSpPr/>
            <p:nvPr/>
          </p:nvSpPr>
          <p:spPr>
            <a:xfrm flipH="false" flipV="false" rot="0">
              <a:off x="0" y="0"/>
              <a:ext cx="1505395" cy="411099"/>
            </a:xfrm>
            <a:custGeom>
              <a:avLst/>
              <a:gdLst/>
              <a:ahLst/>
              <a:cxnLst/>
              <a:rect r="r" b="b" t="t" l="l"/>
              <a:pathLst>
                <a:path h="411099" w="1505395">
                  <a:moveTo>
                    <a:pt x="36571" y="0"/>
                  </a:moveTo>
                  <a:lnTo>
                    <a:pt x="1468824" y="0"/>
                  </a:lnTo>
                  <a:cubicBezTo>
                    <a:pt x="1478524" y="0"/>
                    <a:pt x="1487825" y="3853"/>
                    <a:pt x="1494684" y="10711"/>
                  </a:cubicBezTo>
                  <a:cubicBezTo>
                    <a:pt x="1501542" y="17570"/>
                    <a:pt x="1505395" y="26872"/>
                    <a:pt x="1505395" y="36571"/>
                  </a:cubicBezTo>
                  <a:lnTo>
                    <a:pt x="1505395" y="374528"/>
                  </a:lnTo>
                  <a:cubicBezTo>
                    <a:pt x="1505395" y="384227"/>
                    <a:pt x="1501542" y="393529"/>
                    <a:pt x="1494684" y="400388"/>
                  </a:cubicBezTo>
                  <a:cubicBezTo>
                    <a:pt x="1487825" y="407246"/>
                    <a:pt x="1478524" y="411099"/>
                    <a:pt x="1468824" y="411099"/>
                  </a:cubicBezTo>
                  <a:lnTo>
                    <a:pt x="36571" y="411099"/>
                  </a:lnTo>
                  <a:cubicBezTo>
                    <a:pt x="26872" y="411099"/>
                    <a:pt x="17570" y="407246"/>
                    <a:pt x="10711" y="400388"/>
                  </a:cubicBezTo>
                  <a:cubicBezTo>
                    <a:pt x="3853" y="393529"/>
                    <a:pt x="0" y="384227"/>
                    <a:pt x="0" y="374528"/>
                  </a:cubicBezTo>
                  <a:lnTo>
                    <a:pt x="0" y="36571"/>
                  </a:lnTo>
                  <a:cubicBezTo>
                    <a:pt x="0" y="26872"/>
                    <a:pt x="3853" y="17570"/>
                    <a:pt x="10711" y="10711"/>
                  </a:cubicBezTo>
                  <a:cubicBezTo>
                    <a:pt x="17570" y="3853"/>
                    <a:pt x="26872" y="0"/>
                    <a:pt x="36571"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8" id="8"/>
            <p:cNvSpPr txBox="true"/>
            <p:nvPr/>
          </p:nvSpPr>
          <p:spPr>
            <a:xfrm>
              <a:off x="0" y="47625"/>
              <a:ext cx="1505395" cy="363474"/>
            </a:xfrm>
            <a:prstGeom prst="rect">
              <a:avLst/>
            </a:prstGeom>
          </p:spPr>
          <p:txBody>
            <a:bodyPr anchor="ctr" rtlCol="false" tIns="50800" lIns="50800" bIns="50800" rIns="50800"/>
            <a:lstStyle/>
            <a:p>
              <a:pPr algn="l">
                <a:lnSpc>
                  <a:spcPts val="1924"/>
                </a:lnSpc>
              </a:pPr>
            </a:p>
          </p:txBody>
        </p:sp>
      </p:grpSp>
      <p:graphicFrame>
        <p:nvGraphicFramePr>
          <p:cNvPr name="Object 9" id="9"/>
          <p:cNvGraphicFramePr/>
          <p:nvPr/>
        </p:nvGraphicFramePr>
        <p:xfrm>
          <a:off x="337128" y="1304407"/>
          <a:ext cx="5657850" cy="3143250"/>
        </p:xfrm>
        <a:graphic>
          <a:graphicData uri="http://schemas.openxmlformats.org/presentationml/2006/ole">
            <p:oleObj imgW="6781800" imgH="4267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10" id="10"/>
          <p:cNvSpPr/>
          <p:nvPr/>
        </p:nvSpPr>
        <p:spPr>
          <a:xfrm flipH="false" flipV="false" rot="0">
            <a:off x="6038740" y="136302"/>
            <a:ext cx="11868958" cy="5741609"/>
          </a:xfrm>
          <a:custGeom>
            <a:avLst/>
            <a:gdLst/>
            <a:ahLst/>
            <a:cxnLst/>
            <a:rect r="r" b="b" t="t" l="l"/>
            <a:pathLst>
              <a:path h="5741609" w="11868958">
                <a:moveTo>
                  <a:pt x="0" y="0"/>
                </a:moveTo>
                <a:lnTo>
                  <a:pt x="11868958" y="0"/>
                </a:lnTo>
                <a:lnTo>
                  <a:pt x="11868958" y="5741609"/>
                </a:lnTo>
                <a:lnTo>
                  <a:pt x="0" y="5741609"/>
                </a:lnTo>
                <a:lnTo>
                  <a:pt x="0" y="0"/>
                </a:lnTo>
                <a:close/>
              </a:path>
            </a:pathLst>
          </a:custGeom>
          <a:blipFill>
            <a:blip r:embed="rId4"/>
            <a:stretch>
              <a:fillRect l="0" t="0" r="0" b="0"/>
            </a:stretch>
          </a:blipFill>
        </p:spPr>
      </p:sp>
      <p:sp>
        <p:nvSpPr>
          <p:cNvPr name="TextBox 11" id="11"/>
          <p:cNvSpPr txBox="true"/>
          <p:nvPr/>
        </p:nvSpPr>
        <p:spPr>
          <a:xfrm rot="0">
            <a:off x="16383386" y="9600570"/>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C07 - page  11</a:t>
            </a:r>
          </a:p>
        </p:txBody>
      </p:sp>
      <p:sp>
        <p:nvSpPr>
          <p:cNvPr name="TextBox 12" id="12"/>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13" id="13"/>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14" id="14"/>
          <p:cNvSpPr txBox="true"/>
          <p:nvPr/>
        </p:nvSpPr>
        <p:spPr>
          <a:xfrm rot="0">
            <a:off x="337128" y="335108"/>
            <a:ext cx="4864894" cy="752475"/>
          </a:xfrm>
          <a:prstGeom prst="rect">
            <a:avLst/>
          </a:prstGeom>
        </p:spPr>
        <p:txBody>
          <a:bodyPr anchor="t" rtlCol="false" tIns="0" lIns="0" bIns="0" rIns="0">
            <a:spAutoFit/>
          </a:bodyPr>
          <a:lstStyle/>
          <a:p>
            <a:pPr algn="l" marL="0" indent="0" lvl="0">
              <a:lnSpc>
                <a:spcPts val="3999"/>
              </a:lnSpc>
              <a:spcBef>
                <a:spcPct val="0"/>
              </a:spcBef>
            </a:pPr>
            <a:r>
              <a:rPr lang="en-US" b="true" sz="3999" spc="-219" strike="noStrike" u="none">
                <a:solidFill>
                  <a:srgbClr val="F0F2F5"/>
                </a:solidFill>
                <a:latin typeface="Work Sans Bold"/>
                <a:ea typeface="Work Sans Bold"/>
                <a:cs typeface="Work Sans Bold"/>
                <a:sym typeface="Work Sans Bold"/>
              </a:rPr>
              <a:t>Product Performance</a:t>
            </a:r>
          </a:p>
          <a:p>
            <a:pPr algn="l" marL="0" indent="0" lvl="0">
              <a:lnSpc>
                <a:spcPts val="2000"/>
              </a:lnSpc>
              <a:spcBef>
                <a:spcPct val="0"/>
              </a:spcBef>
            </a:pPr>
            <a:r>
              <a:rPr lang="en-US" b="true" sz="2000" spc="-110" strike="noStrike" u="none">
                <a:solidFill>
                  <a:srgbClr val="F0F2F5"/>
                </a:solidFill>
                <a:latin typeface="Work Sans Bold"/>
                <a:ea typeface="Work Sans Bold"/>
                <a:cs typeface="Work Sans Bold"/>
                <a:sym typeface="Work Sans Bold"/>
              </a:rPr>
              <a:t>Which Products Are Pulling Their Weight?</a:t>
            </a:r>
          </a:p>
        </p:txBody>
      </p:sp>
      <p:sp>
        <p:nvSpPr>
          <p:cNvPr name="TextBox 15" id="15"/>
          <p:cNvSpPr txBox="true"/>
          <p:nvPr/>
        </p:nvSpPr>
        <p:spPr>
          <a:xfrm rot="0">
            <a:off x="538502" y="4217123"/>
            <a:ext cx="9227686" cy="1370159"/>
          </a:xfrm>
          <a:prstGeom prst="rect">
            <a:avLst/>
          </a:prstGeom>
        </p:spPr>
        <p:txBody>
          <a:bodyPr anchor="t" rtlCol="false" tIns="0" lIns="0" bIns="0" rIns="0">
            <a:spAutoFit/>
          </a:bodyPr>
          <a:lstStyle/>
          <a:p>
            <a:pPr algn="l">
              <a:lnSpc>
                <a:spcPts val="2704"/>
              </a:lnSpc>
              <a:spcBef>
                <a:spcPct val="0"/>
              </a:spcBef>
            </a:pPr>
            <a:r>
              <a:rPr lang="en-US" b="true" sz="1931">
                <a:solidFill>
                  <a:srgbClr val="FFFFFF"/>
                </a:solidFill>
                <a:latin typeface="Montserrat Bold"/>
                <a:ea typeface="Montserrat Bold"/>
                <a:cs typeface="Montserrat Bold"/>
                <a:sym typeface="Montserrat Bold"/>
              </a:rPr>
              <a:t>Priority Product:</a:t>
            </a:r>
          </a:p>
          <a:p>
            <a:pPr algn="l" marL="417057" indent="-208529" lvl="1">
              <a:lnSpc>
                <a:spcPts val="2704"/>
              </a:lnSpc>
              <a:buFont typeface="Arial"/>
              <a:buChar char="•"/>
            </a:pPr>
            <a:r>
              <a:rPr lang="en-US" sz="1931">
                <a:solidFill>
                  <a:srgbClr val="FFFFFF"/>
                </a:solidFill>
                <a:latin typeface="Montserrat"/>
                <a:ea typeface="Montserrat"/>
                <a:cs typeface="Montserrat"/>
                <a:sym typeface="Montserrat"/>
              </a:rPr>
              <a:t>Mini Bear Highest margin (68.4%)</a:t>
            </a:r>
          </a:p>
          <a:p>
            <a:pPr algn="l" marL="417057" indent="-208529" lvl="1">
              <a:lnSpc>
                <a:spcPts val="2704"/>
              </a:lnSpc>
              <a:buFont typeface="Arial"/>
              <a:buChar char="•"/>
            </a:pPr>
            <a:r>
              <a:rPr lang="en-US" sz="1931">
                <a:solidFill>
                  <a:srgbClr val="FFFFFF"/>
                </a:solidFill>
                <a:latin typeface="Montserrat"/>
                <a:ea typeface="Montserrat"/>
                <a:cs typeface="Montserrat"/>
                <a:sym typeface="Montserrat"/>
              </a:rPr>
              <a:t>Lowest refund rate (max 2.41%)</a:t>
            </a:r>
          </a:p>
          <a:p>
            <a:pPr algn="l" marL="417057" indent="-208529" lvl="1">
              <a:lnSpc>
                <a:spcPts val="2704"/>
              </a:lnSpc>
              <a:buFont typeface="Arial"/>
              <a:buChar char="•"/>
            </a:pPr>
            <a:r>
              <a:rPr lang="en-US" sz="1931">
                <a:solidFill>
                  <a:srgbClr val="FFFFFF"/>
                </a:solidFill>
                <a:latin typeface="Montserrat"/>
                <a:ea typeface="Montserrat"/>
                <a:cs typeface="Montserrat"/>
                <a:sym typeface="Montserrat"/>
              </a:rPr>
              <a:t>Cross-sell engine at 20–22% attachment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2499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graphicFrame>
        <p:nvGraphicFramePr>
          <p:cNvPr name="Table 5" id="5"/>
          <p:cNvGraphicFramePr>
            <a:graphicFrameLocks noGrp="true"/>
          </p:cNvGraphicFramePr>
          <p:nvPr/>
        </p:nvGraphicFramePr>
        <p:xfrm>
          <a:off x="386803" y="1129527"/>
          <a:ext cx="7831866" cy="8194643"/>
        </p:xfrm>
        <a:graphic>
          <a:graphicData uri="http://schemas.openxmlformats.org/drawingml/2006/table">
            <a:tbl>
              <a:tblPr/>
              <a:tblGrid>
                <a:gridCol w="2609423"/>
                <a:gridCol w="5222443"/>
              </a:tblGrid>
              <a:tr h="2270460">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Love Bear</a:t>
                      </a:r>
                      <a:r>
                        <a:rPr lang="en-US" b="true" sz="1700">
                          <a:solidFill>
                            <a:srgbClr val="FFFFFF"/>
                          </a:solidFill>
                          <a:latin typeface="Canva Sans Bold"/>
                          <a:ea typeface="Canva Sans Bold"/>
                          <a:cs typeface="Canva Sans Bold"/>
                          <a:sym typeface="Canva Sans Bold"/>
                        </a:rPr>
                        <a:t> spikes every February — Feb 2015: 644 orders vs 290 in Dec 2014 (+122%). Mr. Fuzzy refund rate dropped from 8% → 3.28% after new supplier Oct 2014. Birthday Panda stuck at 5–7% every month since launch — no improvement in 15 months. Mini Bear never exceeded 2.41%.</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2270460">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Seasonality is predictable — Valentin</a:t>
                      </a:r>
                      <a:r>
                        <a:rPr lang="en-US" b="true" sz="1700">
                          <a:solidFill>
                            <a:srgbClr val="FFFFFF"/>
                          </a:solidFill>
                          <a:latin typeface="Canva Sans Bold"/>
                          <a:ea typeface="Canva Sans Bold"/>
                          <a:cs typeface="Canva Sans Bold"/>
                          <a:sym typeface="Canva Sans Bold"/>
                        </a:rPr>
                        <a:t>e's and December peaks repeat every year and can be planned. The supplier change was a permanent quality upgrade for Mr. Fuzzy. Birthday Panda's refund rate is a structural problem — it's eroding the highest-margin product in the portfolio.</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1974728">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1. Plan inv</a:t>
                      </a:r>
                      <a:r>
                        <a:rPr lang="en-US" b="true" sz="1700">
                          <a:solidFill>
                            <a:srgbClr val="FFFFFF"/>
                          </a:solidFill>
                          <a:latin typeface="Canva Sans Bold"/>
                          <a:ea typeface="Canva Sans Bold"/>
                          <a:cs typeface="Canva Sans Bold"/>
                          <a:sym typeface="Canva Sans Bold"/>
                        </a:rPr>
                        <a:t>entory + paid spend for Valentine's (Love Bear) and December (all products). 2. Investigate Birthday Panda root cause — customer refund survey + supplier audit. 3. Apply Mr. Fuzzy's new supplier framework to Birthday Panda supply chain.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1678996">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KPI 1: Birthday Panda refund rate — target below 3% within 6 months → ~$184/month saved per 1pp reduction. KPI 2: Valentine's benchmark 644 orders Feb 2015 → target +15% = 740+ orders Feb 2026.</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graphicFrame>
        <p:nvGraphicFramePr>
          <p:cNvPr name="Object 6" id="6"/>
          <p:cNvGraphicFramePr/>
          <p:nvPr/>
        </p:nvGraphicFramePr>
        <p:xfrm>
          <a:off x="8426661" y="5143500"/>
          <a:ext cx="5657850" cy="2514600"/>
        </p:xfrm>
        <a:graphic>
          <a:graphicData uri="http://schemas.openxmlformats.org/presentationml/2006/ole">
            <p:oleObj imgW="6781800" imgH="3644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pSp>
        <p:nvGrpSpPr>
          <p:cNvPr name="Group 7" id="7"/>
          <p:cNvGrpSpPr/>
          <p:nvPr/>
        </p:nvGrpSpPr>
        <p:grpSpPr>
          <a:xfrm rot="0">
            <a:off x="8413244" y="8785305"/>
            <a:ext cx="1789309" cy="538865"/>
            <a:chOff x="0" y="0"/>
            <a:chExt cx="471258" cy="141923"/>
          </a:xfrm>
        </p:grpSpPr>
        <p:sp>
          <p:nvSpPr>
            <p:cNvPr name="Freeform 8" id="8"/>
            <p:cNvSpPr/>
            <p:nvPr/>
          </p:nvSpPr>
          <p:spPr>
            <a:xfrm flipH="false" flipV="false" rot="0">
              <a:off x="0" y="0"/>
              <a:ext cx="471258" cy="141923"/>
            </a:xfrm>
            <a:custGeom>
              <a:avLst/>
              <a:gdLst/>
              <a:ahLst/>
              <a:cxnLst/>
              <a:rect r="r" b="b" t="t" l="l"/>
              <a:pathLst>
                <a:path h="141923" w="471258">
                  <a:moveTo>
                    <a:pt x="70962" y="0"/>
                  </a:moveTo>
                  <a:lnTo>
                    <a:pt x="400297" y="0"/>
                  </a:lnTo>
                  <a:cubicBezTo>
                    <a:pt x="439488" y="0"/>
                    <a:pt x="471258" y="31771"/>
                    <a:pt x="471258" y="70962"/>
                  </a:cubicBezTo>
                  <a:lnTo>
                    <a:pt x="471258" y="70962"/>
                  </a:lnTo>
                  <a:cubicBezTo>
                    <a:pt x="471258" y="110153"/>
                    <a:pt x="439488" y="141923"/>
                    <a:pt x="400297" y="141923"/>
                  </a:cubicBezTo>
                  <a:lnTo>
                    <a:pt x="70962" y="141923"/>
                  </a:lnTo>
                  <a:cubicBezTo>
                    <a:pt x="31771" y="141923"/>
                    <a:pt x="0" y="110153"/>
                    <a:pt x="0" y="70962"/>
                  </a:cubicBezTo>
                  <a:lnTo>
                    <a:pt x="0" y="70962"/>
                  </a:lnTo>
                  <a:cubicBezTo>
                    <a:pt x="0" y="31771"/>
                    <a:pt x="31771" y="0"/>
                    <a:pt x="70962"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9" id="9"/>
            <p:cNvSpPr txBox="true"/>
            <p:nvPr/>
          </p:nvSpPr>
          <p:spPr>
            <a:xfrm>
              <a:off x="0" y="47625"/>
              <a:ext cx="471258" cy="94298"/>
            </a:xfrm>
            <a:prstGeom prst="rect">
              <a:avLst/>
            </a:prstGeom>
          </p:spPr>
          <p:txBody>
            <a:bodyPr anchor="ctr" rtlCol="false" tIns="50800" lIns="50800" bIns="50800" rIns="50800"/>
            <a:lstStyle/>
            <a:p>
              <a:pPr algn="l">
                <a:lnSpc>
                  <a:spcPts val="1924"/>
                </a:lnSpc>
              </a:pPr>
            </a:p>
          </p:txBody>
        </p:sp>
      </p:grpSp>
      <p:sp>
        <p:nvSpPr>
          <p:cNvPr name="TextBox 10" id="10"/>
          <p:cNvSpPr txBox="true"/>
          <p:nvPr/>
        </p:nvSpPr>
        <p:spPr>
          <a:xfrm rot="0">
            <a:off x="8613987" y="8860195"/>
            <a:ext cx="1387822" cy="341459"/>
          </a:xfrm>
          <a:prstGeom prst="rect">
            <a:avLst/>
          </a:prstGeom>
        </p:spPr>
        <p:txBody>
          <a:bodyPr anchor="t" rtlCol="false" tIns="0" lIns="0" bIns="0" rIns="0">
            <a:spAutoFit/>
          </a:bodyPr>
          <a:lstStyle/>
          <a:p>
            <a:pPr algn="ctr">
              <a:lnSpc>
                <a:spcPts val="2704"/>
              </a:lnSpc>
              <a:spcBef>
                <a:spcPct val="0"/>
              </a:spcBef>
            </a:pPr>
            <a:r>
              <a:rPr lang="en-US" b="true" sz="1931">
                <a:solidFill>
                  <a:srgbClr val="FFFFFF"/>
                </a:solidFill>
                <a:latin typeface="Montserrat Bold"/>
                <a:ea typeface="Montserrat Bold"/>
                <a:cs typeface="Montserrat Bold"/>
                <a:sym typeface="Montserrat Bold"/>
              </a:rPr>
              <a:t>644 orders</a:t>
            </a:r>
          </a:p>
        </p:txBody>
      </p:sp>
      <p:sp>
        <p:nvSpPr>
          <p:cNvPr name="TextBox 11" id="11"/>
          <p:cNvSpPr txBox="true"/>
          <p:nvPr/>
        </p:nvSpPr>
        <p:spPr>
          <a:xfrm rot="0">
            <a:off x="10507353" y="8860195"/>
            <a:ext cx="7154317" cy="341459"/>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Montserrat"/>
                <a:ea typeface="Montserrat"/>
                <a:cs typeface="Montserrat"/>
                <a:sym typeface="Montserrat"/>
              </a:rPr>
              <a:t>Love Bear — Feb 2015 Valentine's spike (+122% vs Dec 2014)</a:t>
            </a:r>
          </a:p>
        </p:txBody>
      </p:sp>
      <p:grpSp>
        <p:nvGrpSpPr>
          <p:cNvPr name="Group 12" id="12"/>
          <p:cNvGrpSpPr/>
          <p:nvPr/>
        </p:nvGrpSpPr>
        <p:grpSpPr>
          <a:xfrm rot="0">
            <a:off x="8413244" y="8246440"/>
            <a:ext cx="1789309" cy="538865"/>
            <a:chOff x="0" y="0"/>
            <a:chExt cx="471258" cy="141923"/>
          </a:xfrm>
        </p:grpSpPr>
        <p:sp>
          <p:nvSpPr>
            <p:cNvPr name="Freeform 13" id="13"/>
            <p:cNvSpPr/>
            <p:nvPr/>
          </p:nvSpPr>
          <p:spPr>
            <a:xfrm flipH="false" flipV="false" rot="0">
              <a:off x="0" y="0"/>
              <a:ext cx="471258" cy="141923"/>
            </a:xfrm>
            <a:custGeom>
              <a:avLst/>
              <a:gdLst/>
              <a:ahLst/>
              <a:cxnLst/>
              <a:rect r="r" b="b" t="t" l="l"/>
              <a:pathLst>
                <a:path h="141923" w="471258">
                  <a:moveTo>
                    <a:pt x="70962" y="0"/>
                  </a:moveTo>
                  <a:lnTo>
                    <a:pt x="400297" y="0"/>
                  </a:lnTo>
                  <a:cubicBezTo>
                    <a:pt x="439488" y="0"/>
                    <a:pt x="471258" y="31771"/>
                    <a:pt x="471258" y="70962"/>
                  </a:cubicBezTo>
                  <a:lnTo>
                    <a:pt x="471258" y="70962"/>
                  </a:lnTo>
                  <a:cubicBezTo>
                    <a:pt x="471258" y="110153"/>
                    <a:pt x="439488" y="141923"/>
                    <a:pt x="400297" y="141923"/>
                  </a:cubicBezTo>
                  <a:lnTo>
                    <a:pt x="70962" y="141923"/>
                  </a:lnTo>
                  <a:cubicBezTo>
                    <a:pt x="31771" y="141923"/>
                    <a:pt x="0" y="110153"/>
                    <a:pt x="0" y="70962"/>
                  </a:cubicBezTo>
                  <a:lnTo>
                    <a:pt x="0" y="70962"/>
                  </a:lnTo>
                  <a:cubicBezTo>
                    <a:pt x="0" y="31771"/>
                    <a:pt x="31771" y="0"/>
                    <a:pt x="70962"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4" id="14"/>
            <p:cNvSpPr txBox="true"/>
            <p:nvPr/>
          </p:nvSpPr>
          <p:spPr>
            <a:xfrm>
              <a:off x="0" y="47625"/>
              <a:ext cx="471258" cy="94298"/>
            </a:xfrm>
            <a:prstGeom prst="rect">
              <a:avLst/>
            </a:prstGeom>
          </p:spPr>
          <p:txBody>
            <a:bodyPr anchor="ctr" rtlCol="false" tIns="50800" lIns="50800" bIns="50800" rIns="50800"/>
            <a:lstStyle/>
            <a:p>
              <a:pPr algn="l">
                <a:lnSpc>
                  <a:spcPts val="1924"/>
                </a:lnSpc>
              </a:pPr>
            </a:p>
          </p:txBody>
        </p:sp>
      </p:grpSp>
      <p:grpSp>
        <p:nvGrpSpPr>
          <p:cNvPr name="Group 15" id="15"/>
          <p:cNvGrpSpPr/>
          <p:nvPr/>
        </p:nvGrpSpPr>
        <p:grpSpPr>
          <a:xfrm rot="0">
            <a:off x="8413244" y="7698049"/>
            <a:ext cx="1789309" cy="538865"/>
            <a:chOff x="0" y="0"/>
            <a:chExt cx="471258" cy="141923"/>
          </a:xfrm>
        </p:grpSpPr>
        <p:sp>
          <p:nvSpPr>
            <p:cNvPr name="Freeform 16" id="16"/>
            <p:cNvSpPr/>
            <p:nvPr/>
          </p:nvSpPr>
          <p:spPr>
            <a:xfrm flipH="false" flipV="false" rot="0">
              <a:off x="0" y="0"/>
              <a:ext cx="471258" cy="141923"/>
            </a:xfrm>
            <a:custGeom>
              <a:avLst/>
              <a:gdLst/>
              <a:ahLst/>
              <a:cxnLst/>
              <a:rect r="r" b="b" t="t" l="l"/>
              <a:pathLst>
                <a:path h="141923" w="471258">
                  <a:moveTo>
                    <a:pt x="70962" y="0"/>
                  </a:moveTo>
                  <a:lnTo>
                    <a:pt x="400297" y="0"/>
                  </a:lnTo>
                  <a:cubicBezTo>
                    <a:pt x="439488" y="0"/>
                    <a:pt x="471258" y="31771"/>
                    <a:pt x="471258" y="70962"/>
                  </a:cubicBezTo>
                  <a:lnTo>
                    <a:pt x="471258" y="70962"/>
                  </a:lnTo>
                  <a:cubicBezTo>
                    <a:pt x="471258" y="110153"/>
                    <a:pt x="439488" y="141923"/>
                    <a:pt x="400297" y="141923"/>
                  </a:cubicBezTo>
                  <a:lnTo>
                    <a:pt x="70962" y="141923"/>
                  </a:lnTo>
                  <a:cubicBezTo>
                    <a:pt x="31771" y="141923"/>
                    <a:pt x="0" y="110153"/>
                    <a:pt x="0" y="70962"/>
                  </a:cubicBezTo>
                  <a:lnTo>
                    <a:pt x="0" y="70962"/>
                  </a:lnTo>
                  <a:cubicBezTo>
                    <a:pt x="0" y="31771"/>
                    <a:pt x="31771" y="0"/>
                    <a:pt x="70962"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7" id="17"/>
            <p:cNvSpPr txBox="true"/>
            <p:nvPr/>
          </p:nvSpPr>
          <p:spPr>
            <a:xfrm>
              <a:off x="0" y="47625"/>
              <a:ext cx="471258" cy="94298"/>
            </a:xfrm>
            <a:prstGeom prst="rect">
              <a:avLst/>
            </a:prstGeom>
          </p:spPr>
          <p:txBody>
            <a:bodyPr anchor="ctr" rtlCol="false" tIns="50800" lIns="50800" bIns="50800" rIns="50800"/>
            <a:lstStyle/>
            <a:p>
              <a:pPr algn="l">
                <a:lnSpc>
                  <a:spcPts val="1924"/>
                </a:lnSpc>
              </a:pPr>
            </a:p>
          </p:txBody>
        </p:sp>
      </p:grpSp>
      <p:sp>
        <p:nvSpPr>
          <p:cNvPr name="TextBox 18" id="18"/>
          <p:cNvSpPr txBox="true"/>
          <p:nvPr/>
        </p:nvSpPr>
        <p:spPr>
          <a:xfrm rot="0">
            <a:off x="8561153" y="8321330"/>
            <a:ext cx="1493490" cy="341459"/>
          </a:xfrm>
          <a:prstGeom prst="rect">
            <a:avLst/>
          </a:prstGeom>
        </p:spPr>
        <p:txBody>
          <a:bodyPr anchor="t" rtlCol="false" tIns="0" lIns="0" bIns="0" rIns="0">
            <a:spAutoFit/>
          </a:bodyPr>
          <a:lstStyle/>
          <a:p>
            <a:pPr algn="ctr" marL="0" indent="0" lvl="0">
              <a:lnSpc>
                <a:spcPts val="2704"/>
              </a:lnSpc>
              <a:spcBef>
                <a:spcPct val="0"/>
              </a:spcBef>
            </a:pPr>
            <a:r>
              <a:rPr lang="en-US" b="true" sz="1931" strike="noStrike" u="none">
                <a:solidFill>
                  <a:srgbClr val="FFFFFF"/>
                </a:solidFill>
                <a:latin typeface="Montserrat Bold"/>
                <a:ea typeface="Montserrat Bold"/>
                <a:cs typeface="Montserrat Bold"/>
                <a:sym typeface="Montserrat Bold"/>
              </a:rPr>
              <a:t>2,312 orders</a:t>
            </a:r>
          </a:p>
        </p:txBody>
      </p:sp>
      <p:sp>
        <p:nvSpPr>
          <p:cNvPr name="TextBox 19" id="19"/>
          <p:cNvSpPr txBox="true"/>
          <p:nvPr/>
        </p:nvSpPr>
        <p:spPr>
          <a:xfrm rot="0">
            <a:off x="10507353" y="8321330"/>
            <a:ext cx="5214193" cy="341459"/>
          </a:xfrm>
          <a:prstGeom prst="rect">
            <a:avLst/>
          </a:prstGeom>
        </p:spPr>
        <p:txBody>
          <a:bodyPr anchor="t" rtlCol="false" tIns="0" lIns="0" bIns="0" rIns="0">
            <a:spAutoFit/>
          </a:bodyPr>
          <a:lstStyle/>
          <a:p>
            <a:pPr algn="ctr" marL="0" indent="0" lvl="0">
              <a:lnSpc>
                <a:spcPts val="2704"/>
              </a:lnSpc>
              <a:spcBef>
                <a:spcPct val="0"/>
              </a:spcBef>
            </a:pPr>
            <a:r>
              <a:rPr lang="en-US" sz="1931" strike="noStrike" u="none">
                <a:solidFill>
                  <a:srgbClr val="FFFFFF"/>
                </a:solidFill>
                <a:latin typeface="Montserrat"/>
                <a:ea typeface="Montserrat"/>
                <a:cs typeface="Montserrat"/>
                <a:sym typeface="Montserrat"/>
              </a:rPr>
              <a:t>Dec 2014 — holiday peak, $144,717 revenue</a:t>
            </a:r>
          </a:p>
        </p:txBody>
      </p:sp>
      <p:sp>
        <p:nvSpPr>
          <p:cNvPr name="TextBox 20" id="20"/>
          <p:cNvSpPr txBox="true"/>
          <p:nvPr/>
        </p:nvSpPr>
        <p:spPr>
          <a:xfrm rot="0">
            <a:off x="8781121" y="7771630"/>
            <a:ext cx="1053554" cy="341459"/>
          </a:xfrm>
          <a:prstGeom prst="rect">
            <a:avLst/>
          </a:prstGeom>
        </p:spPr>
        <p:txBody>
          <a:bodyPr anchor="t" rtlCol="false" tIns="0" lIns="0" bIns="0" rIns="0">
            <a:spAutoFit/>
          </a:bodyPr>
          <a:lstStyle/>
          <a:p>
            <a:pPr algn="ctr" marL="0" indent="0" lvl="0">
              <a:lnSpc>
                <a:spcPts val="2704"/>
              </a:lnSpc>
              <a:spcBef>
                <a:spcPct val="0"/>
              </a:spcBef>
            </a:pPr>
            <a:r>
              <a:rPr lang="en-US" b="true" sz="1931" strike="noStrike" u="none">
                <a:solidFill>
                  <a:srgbClr val="FFFFFF"/>
                </a:solidFill>
                <a:latin typeface="Montserrat Bold"/>
                <a:ea typeface="Montserrat Bold"/>
                <a:cs typeface="Montserrat Bold"/>
                <a:sym typeface="Montserrat Bold"/>
              </a:rPr>
              <a:t> Nov dip</a:t>
            </a:r>
          </a:p>
        </p:txBody>
      </p:sp>
      <p:sp>
        <p:nvSpPr>
          <p:cNvPr name="TextBox 21" id="21"/>
          <p:cNvSpPr txBox="true"/>
          <p:nvPr/>
        </p:nvSpPr>
        <p:spPr>
          <a:xfrm rot="0">
            <a:off x="10507353" y="7684595"/>
            <a:ext cx="6323727" cy="684359"/>
          </a:xfrm>
          <a:prstGeom prst="rect">
            <a:avLst/>
          </a:prstGeom>
        </p:spPr>
        <p:txBody>
          <a:bodyPr anchor="t" rtlCol="false" tIns="0" lIns="0" bIns="0" rIns="0">
            <a:spAutoFit/>
          </a:bodyPr>
          <a:lstStyle/>
          <a:p>
            <a:pPr algn="l">
              <a:lnSpc>
                <a:spcPts val="2704"/>
              </a:lnSpc>
              <a:spcBef>
                <a:spcPct val="0"/>
              </a:spcBef>
            </a:pPr>
            <a:r>
              <a:rPr lang="en-US" sz="1931">
                <a:solidFill>
                  <a:srgbClr val="FFFFFF"/>
                </a:solidFill>
                <a:latin typeface="Montserrat"/>
                <a:ea typeface="Montserrat"/>
                <a:cs typeface="Montserrat"/>
                <a:sym typeface="Montserrat"/>
              </a:rPr>
              <a:t>Conv rate drops ~1pp every November — seasonal, not a problem</a:t>
            </a:r>
          </a:p>
        </p:txBody>
      </p:sp>
      <p:sp>
        <p:nvSpPr>
          <p:cNvPr name="Freeform 22" id="22"/>
          <p:cNvSpPr/>
          <p:nvPr/>
        </p:nvSpPr>
        <p:spPr>
          <a:xfrm flipH="false" flipV="false" rot="0">
            <a:off x="8561153" y="645339"/>
            <a:ext cx="8826809" cy="4269969"/>
          </a:xfrm>
          <a:custGeom>
            <a:avLst/>
            <a:gdLst/>
            <a:ahLst/>
            <a:cxnLst/>
            <a:rect r="r" b="b" t="t" l="l"/>
            <a:pathLst>
              <a:path h="4269969" w="8826809">
                <a:moveTo>
                  <a:pt x="0" y="0"/>
                </a:moveTo>
                <a:lnTo>
                  <a:pt x="8826809" y="0"/>
                </a:lnTo>
                <a:lnTo>
                  <a:pt x="8826809" y="4269969"/>
                </a:lnTo>
                <a:lnTo>
                  <a:pt x="0" y="4269969"/>
                </a:lnTo>
                <a:lnTo>
                  <a:pt x="0" y="0"/>
                </a:lnTo>
                <a:close/>
              </a:path>
            </a:pathLst>
          </a:custGeom>
          <a:blipFill>
            <a:blip r:embed="rId4"/>
            <a:stretch>
              <a:fillRect l="0" t="0" r="0" b="0"/>
            </a:stretch>
          </a:blipFill>
        </p:spPr>
      </p:sp>
      <p:sp>
        <p:nvSpPr>
          <p:cNvPr name="TextBox 23" id="23"/>
          <p:cNvSpPr txBox="true"/>
          <p:nvPr/>
        </p:nvSpPr>
        <p:spPr>
          <a:xfrm rot="0">
            <a:off x="16383386" y="9600570"/>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C07 - page  12</a:t>
            </a:r>
          </a:p>
        </p:txBody>
      </p:sp>
      <p:sp>
        <p:nvSpPr>
          <p:cNvPr name="TextBox 24" id="24"/>
          <p:cNvSpPr txBox="true"/>
          <p:nvPr/>
        </p:nvSpPr>
        <p:spPr>
          <a:xfrm rot="0">
            <a:off x="628050" y="9551492"/>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25" id="25"/>
          <p:cNvSpPr txBox="true"/>
          <p:nvPr/>
        </p:nvSpPr>
        <p:spPr>
          <a:xfrm rot="0">
            <a:off x="3211863" y="9551492"/>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26" id="26"/>
          <p:cNvSpPr txBox="true"/>
          <p:nvPr/>
        </p:nvSpPr>
        <p:spPr>
          <a:xfrm rot="0">
            <a:off x="386803" y="418327"/>
            <a:ext cx="5009912" cy="530225"/>
          </a:xfrm>
          <a:prstGeom prst="rect">
            <a:avLst/>
          </a:prstGeom>
        </p:spPr>
        <p:txBody>
          <a:bodyPr anchor="t" rtlCol="false" tIns="0" lIns="0" bIns="0" rIns="0">
            <a:spAutoFit/>
          </a:bodyPr>
          <a:lstStyle/>
          <a:p>
            <a:pPr algn="l" marL="0" indent="0" lvl="0">
              <a:lnSpc>
                <a:spcPts val="3999"/>
              </a:lnSpc>
              <a:spcBef>
                <a:spcPct val="0"/>
              </a:spcBef>
            </a:pPr>
            <a:r>
              <a:rPr lang="en-US" b="true" sz="3999" spc="-219" strike="noStrike" u="none">
                <a:solidFill>
                  <a:srgbClr val="F0F2F5"/>
                </a:solidFill>
                <a:latin typeface="Work Sans Bold"/>
                <a:ea typeface="Work Sans Bold"/>
                <a:cs typeface="Work Sans Bold"/>
                <a:sym typeface="Work Sans Bold"/>
              </a:rPr>
              <a:t>Seasonality &amp; Refunds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aphicFrame>
        <p:nvGraphicFramePr>
          <p:cNvPr name="Object 2" id="2"/>
          <p:cNvGraphicFramePr/>
          <p:nvPr/>
        </p:nvGraphicFramePr>
        <p:xfrm>
          <a:off x="795808" y="6085356"/>
          <a:ext cx="5657850" cy="1885950"/>
        </p:xfrm>
        <a:graphic>
          <a:graphicData uri="http://schemas.openxmlformats.org/presentationml/2006/ole">
            <p:oleObj imgW="6781800" imgH="3009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Table 3" id="3"/>
          <p:cNvGraphicFramePr>
            <a:graphicFrameLocks noGrp="true"/>
          </p:cNvGraphicFramePr>
          <p:nvPr/>
        </p:nvGraphicFramePr>
        <p:xfrm>
          <a:off x="464455" y="1684658"/>
          <a:ext cx="6320556" cy="4114947"/>
        </p:xfrm>
        <a:graphic>
          <a:graphicData uri="http://schemas.openxmlformats.org/drawingml/2006/table">
            <a:tbl>
              <a:tblPr/>
              <a:tblGrid>
                <a:gridCol w="2610434"/>
                <a:gridCol w="3710122"/>
              </a:tblGrid>
              <a:tr h="793016">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b="true" sz="1700">
                          <a:solidFill>
                            <a:srgbClr val="FFFFFF"/>
                          </a:solidFill>
                          <a:latin typeface="Canva Sans Bold"/>
                          <a:ea typeface="Canva Sans Bold"/>
                          <a:cs typeface="Canva Sans Bold"/>
                          <a:sym typeface="Canva Sans Bold"/>
                        </a:rPr>
                        <a:t> Mini Bear attaches at 20–22% across every primary product.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1089203">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Mini Bear is the cross-sell engine — 1 in 5 cust</a:t>
                      </a:r>
                      <a:r>
                        <a:rPr lang="en-US" b="true" sz="1700">
                          <a:solidFill>
                            <a:srgbClr val="FFFFFF"/>
                          </a:solidFill>
                          <a:latin typeface="Canva Sans Bold"/>
                          <a:ea typeface="Canva Sans Bold"/>
                          <a:cs typeface="Canva Sans Bold"/>
                          <a:sym typeface="Canva Sans Bold"/>
                        </a:rPr>
                        <a:t>omers adds it regardless of primary product.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016">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Feature</a:t>
                      </a:r>
                      <a:r>
                        <a:rPr lang="en-US" b="true" sz="1700">
                          <a:solidFill>
                            <a:srgbClr val="FFFFFF"/>
                          </a:solidFill>
                          <a:latin typeface="Canva Sans Bold"/>
                          <a:ea typeface="Canva Sans Bold"/>
                          <a:cs typeface="Canva Sans Bold"/>
                          <a:sym typeface="Canva Sans Bold"/>
                        </a:rPr>
                        <a:t> Mini Bear at the cart page for every primary product.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1439711">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KPI: Mini Bear attachment rate. Target: 21% → 26% within 60 days. +5pp = ~$1,600/month.</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grpSp>
        <p:nvGrpSpPr>
          <p:cNvPr name="Group 4" id="4"/>
          <p:cNvGrpSpPr/>
          <p:nvPr/>
        </p:nvGrpSpPr>
        <p:grpSpPr>
          <a:xfrm rot="0">
            <a:off x="337128" y="9459137"/>
            <a:ext cx="99352" cy="451635"/>
            <a:chOff x="0" y="0"/>
            <a:chExt cx="26167" cy="118949"/>
          </a:xfrm>
        </p:grpSpPr>
        <p:sp>
          <p:nvSpPr>
            <p:cNvPr name="Freeform 5" id="5"/>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6" id="6"/>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sp>
        <p:nvSpPr>
          <p:cNvPr name="Freeform 7" id="7"/>
          <p:cNvSpPr/>
          <p:nvPr/>
        </p:nvSpPr>
        <p:spPr>
          <a:xfrm flipH="false" flipV="false" rot="0">
            <a:off x="6627578" y="1397032"/>
            <a:ext cx="11507636" cy="6631275"/>
          </a:xfrm>
          <a:custGeom>
            <a:avLst/>
            <a:gdLst/>
            <a:ahLst/>
            <a:cxnLst/>
            <a:rect r="r" b="b" t="t" l="l"/>
            <a:pathLst>
              <a:path h="6631275" w="11507636">
                <a:moveTo>
                  <a:pt x="0" y="0"/>
                </a:moveTo>
                <a:lnTo>
                  <a:pt x="11507636" y="0"/>
                </a:lnTo>
                <a:lnTo>
                  <a:pt x="11507636" y="6631275"/>
                </a:lnTo>
                <a:lnTo>
                  <a:pt x="0" y="6631275"/>
                </a:lnTo>
                <a:lnTo>
                  <a:pt x="0" y="0"/>
                </a:lnTo>
                <a:close/>
              </a:path>
            </a:pathLst>
          </a:custGeom>
          <a:blipFill>
            <a:blip r:embed="rId4"/>
            <a:stretch>
              <a:fillRect l="0" t="0" r="0" b="0"/>
            </a:stretch>
          </a:blipFill>
        </p:spPr>
      </p:sp>
      <p:sp>
        <p:nvSpPr>
          <p:cNvPr name="TextBox 8" id="8"/>
          <p:cNvSpPr txBox="true"/>
          <p:nvPr/>
        </p:nvSpPr>
        <p:spPr>
          <a:xfrm rot="0">
            <a:off x="436479" y="396906"/>
            <a:ext cx="13216209" cy="1000126"/>
          </a:xfrm>
          <a:prstGeom prst="rect">
            <a:avLst/>
          </a:prstGeom>
        </p:spPr>
        <p:txBody>
          <a:bodyPr anchor="t" rtlCol="false" tIns="0" lIns="0" bIns="0" rIns="0">
            <a:spAutoFit/>
          </a:bodyPr>
          <a:lstStyle/>
          <a:p>
            <a:pPr algn="l" marL="0" indent="0" lvl="0">
              <a:lnSpc>
                <a:spcPts val="3999"/>
              </a:lnSpc>
            </a:pPr>
            <a:r>
              <a:rPr lang="en-US" b="true" sz="3999" spc="-219">
                <a:solidFill>
                  <a:srgbClr val="F0F2F5"/>
                </a:solidFill>
                <a:latin typeface="Work Sans Bold"/>
                <a:ea typeface="Work Sans Bold"/>
                <a:cs typeface="Work Sans Bold"/>
                <a:sym typeface="Work Sans Bold"/>
              </a:rPr>
              <a:t>CROSS-SELL AN</a:t>
            </a:r>
            <a:r>
              <a:rPr lang="en-US" b="true" sz="3999" spc="-219" strike="noStrike" u="none">
                <a:solidFill>
                  <a:srgbClr val="F0F2F5"/>
                </a:solidFill>
                <a:latin typeface="Work Sans Bold"/>
                <a:ea typeface="Work Sans Bold"/>
                <a:cs typeface="Work Sans Bold"/>
                <a:sym typeface="Work Sans Bold"/>
              </a:rPr>
              <a:t>ALYSIS</a:t>
            </a:r>
          </a:p>
          <a:p>
            <a:pPr algn="l" marL="0" indent="0" lvl="0">
              <a:lnSpc>
                <a:spcPts val="2000"/>
              </a:lnSpc>
            </a:pPr>
            <a:r>
              <a:rPr lang="en-US" sz="2000" spc="-110" strike="noStrike" u="none">
                <a:solidFill>
                  <a:srgbClr val="F0F2F5"/>
                </a:solidFill>
                <a:latin typeface="Work Sans"/>
                <a:ea typeface="Work Sans"/>
                <a:cs typeface="Work Sans"/>
                <a:sym typeface="Work Sans"/>
              </a:rPr>
              <a:t>Are We Leaving Money in the Cart?</a:t>
            </a:r>
            <a:r>
              <a:rPr lang="en-US" sz="2000" spc="-110" strike="noStrike" u="none">
                <a:solidFill>
                  <a:srgbClr val="F0F2F5"/>
                </a:solidFill>
                <a:latin typeface="Work Sans"/>
                <a:ea typeface="Work Sans"/>
                <a:cs typeface="Work Sans"/>
                <a:sym typeface="Work Sans"/>
              </a:rPr>
              <a:t> Cross-Sell Analysis — September 2013 to December 2014</a:t>
            </a:r>
          </a:p>
          <a:p>
            <a:pPr algn="l" marL="0" indent="0" lvl="0">
              <a:lnSpc>
                <a:spcPts val="2000"/>
              </a:lnSpc>
            </a:pPr>
          </a:p>
        </p:txBody>
      </p:sp>
      <p:sp>
        <p:nvSpPr>
          <p:cNvPr name="TextBox 9" id="9"/>
          <p:cNvSpPr txBox="true"/>
          <p:nvPr/>
        </p:nvSpPr>
        <p:spPr>
          <a:xfrm rot="0">
            <a:off x="1028700" y="8209431"/>
            <a:ext cx="5225995" cy="737437"/>
          </a:xfrm>
          <a:prstGeom prst="rect">
            <a:avLst/>
          </a:prstGeom>
        </p:spPr>
        <p:txBody>
          <a:bodyPr anchor="t" rtlCol="false" tIns="0" lIns="0" bIns="0" rIns="0">
            <a:spAutoFit/>
          </a:bodyPr>
          <a:lstStyle/>
          <a:p>
            <a:pPr algn="ctr">
              <a:lnSpc>
                <a:spcPts val="2928"/>
              </a:lnSpc>
              <a:spcBef>
                <a:spcPct val="0"/>
              </a:spcBef>
            </a:pPr>
            <a:r>
              <a:rPr lang="en-US" b="true" sz="2092">
                <a:solidFill>
                  <a:srgbClr val="FFFFFF"/>
                </a:solidFill>
                <a:latin typeface="DM Sans Bold"/>
                <a:ea typeface="DM Sans Bold"/>
                <a:cs typeface="DM Sans Bold"/>
                <a:sym typeface="DM Sans Bold"/>
              </a:rPr>
              <a:t>$74,621 Mr. Fuzzy + Mini Bear — 3.5 months ~$21,800/month</a:t>
            </a:r>
          </a:p>
        </p:txBody>
      </p:sp>
      <p:sp>
        <p:nvSpPr>
          <p:cNvPr name="TextBox 10" id="10"/>
          <p:cNvSpPr txBox="true"/>
          <p:nvPr/>
        </p:nvSpPr>
        <p:spPr>
          <a:xfrm rot="0">
            <a:off x="16383386" y="9669509"/>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C08- page  13</a:t>
            </a:r>
          </a:p>
        </p:txBody>
      </p:sp>
      <p:sp>
        <p:nvSpPr>
          <p:cNvPr name="TextBox 11" id="11"/>
          <p:cNvSpPr txBox="true"/>
          <p:nvPr/>
        </p:nvSpPr>
        <p:spPr>
          <a:xfrm rot="0">
            <a:off x="589224" y="9619620"/>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12" id="12"/>
          <p:cNvSpPr txBox="true"/>
          <p:nvPr/>
        </p:nvSpPr>
        <p:spPr>
          <a:xfrm rot="0">
            <a:off x="3192450" y="9625920"/>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1945510" y="3382812"/>
            <a:ext cx="1364749" cy="896540"/>
            <a:chOff x="0" y="0"/>
            <a:chExt cx="359440" cy="236126"/>
          </a:xfrm>
        </p:grpSpPr>
        <p:sp>
          <p:nvSpPr>
            <p:cNvPr name="Freeform 3" id="3"/>
            <p:cNvSpPr/>
            <p:nvPr/>
          </p:nvSpPr>
          <p:spPr>
            <a:xfrm flipH="false" flipV="false" rot="0">
              <a:off x="0" y="0"/>
              <a:ext cx="359440" cy="236126"/>
            </a:xfrm>
            <a:custGeom>
              <a:avLst/>
              <a:gdLst/>
              <a:ahLst/>
              <a:cxnLst/>
              <a:rect r="r" b="b" t="t" l="l"/>
              <a:pathLst>
                <a:path h="236126" w="359440">
                  <a:moveTo>
                    <a:pt x="118063" y="0"/>
                  </a:moveTo>
                  <a:lnTo>
                    <a:pt x="241377" y="0"/>
                  </a:lnTo>
                  <a:cubicBezTo>
                    <a:pt x="306582" y="0"/>
                    <a:pt x="359440" y="52859"/>
                    <a:pt x="359440" y="118063"/>
                  </a:cubicBezTo>
                  <a:lnTo>
                    <a:pt x="359440" y="118063"/>
                  </a:lnTo>
                  <a:cubicBezTo>
                    <a:pt x="359440" y="149375"/>
                    <a:pt x="347001" y="179405"/>
                    <a:pt x="324860" y="201546"/>
                  </a:cubicBezTo>
                  <a:cubicBezTo>
                    <a:pt x="302719" y="223687"/>
                    <a:pt x="272689" y="236126"/>
                    <a:pt x="241377" y="236126"/>
                  </a:cubicBezTo>
                  <a:lnTo>
                    <a:pt x="118063" y="236126"/>
                  </a:lnTo>
                  <a:cubicBezTo>
                    <a:pt x="86751" y="236126"/>
                    <a:pt x="56721" y="223687"/>
                    <a:pt x="34580" y="201546"/>
                  </a:cubicBezTo>
                  <a:cubicBezTo>
                    <a:pt x="12439" y="179405"/>
                    <a:pt x="0" y="149375"/>
                    <a:pt x="0" y="118063"/>
                  </a:cubicBezTo>
                  <a:lnTo>
                    <a:pt x="0" y="118063"/>
                  </a:lnTo>
                  <a:cubicBezTo>
                    <a:pt x="0" y="86751"/>
                    <a:pt x="12439" y="56721"/>
                    <a:pt x="34580" y="34580"/>
                  </a:cubicBezTo>
                  <a:cubicBezTo>
                    <a:pt x="56721" y="12439"/>
                    <a:pt x="86751" y="0"/>
                    <a:pt x="118063"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4" id="4"/>
            <p:cNvSpPr txBox="true"/>
            <p:nvPr/>
          </p:nvSpPr>
          <p:spPr>
            <a:xfrm>
              <a:off x="0" y="47625"/>
              <a:ext cx="359440" cy="188501"/>
            </a:xfrm>
            <a:prstGeom prst="rect">
              <a:avLst/>
            </a:prstGeom>
          </p:spPr>
          <p:txBody>
            <a:bodyPr anchor="ctr" rtlCol="false" tIns="50800" lIns="50800" bIns="50800" rIns="50800"/>
            <a:lstStyle/>
            <a:p>
              <a:pPr algn="l">
                <a:lnSpc>
                  <a:spcPts val="1924"/>
                </a:lnSpc>
              </a:pPr>
            </a:p>
          </p:txBody>
        </p:sp>
      </p:grpSp>
      <p:grpSp>
        <p:nvGrpSpPr>
          <p:cNvPr name="Group 5" id="5"/>
          <p:cNvGrpSpPr/>
          <p:nvPr/>
        </p:nvGrpSpPr>
        <p:grpSpPr>
          <a:xfrm rot="0">
            <a:off x="13834477" y="3382812"/>
            <a:ext cx="1364749" cy="896540"/>
            <a:chOff x="0" y="0"/>
            <a:chExt cx="359440" cy="236126"/>
          </a:xfrm>
        </p:grpSpPr>
        <p:sp>
          <p:nvSpPr>
            <p:cNvPr name="Freeform 6" id="6"/>
            <p:cNvSpPr/>
            <p:nvPr/>
          </p:nvSpPr>
          <p:spPr>
            <a:xfrm flipH="false" flipV="false" rot="0">
              <a:off x="0" y="0"/>
              <a:ext cx="359440" cy="236126"/>
            </a:xfrm>
            <a:custGeom>
              <a:avLst/>
              <a:gdLst/>
              <a:ahLst/>
              <a:cxnLst/>
              <a:rect r="r" b="b" t="t" l="l"/>
              <a:pathLst>
                <a:path h="236126" w="359440">
                  <a:moveTo>
                    <a:pt x="118063" y="0"/>
                  </a:moveTo>
                  <a:lnTo>
                    <a:pt x="241377" y="0"/>
                  </a:lnTo>
                  <a:cubicBezTo>
                    <a:pt x="306582" y="0"/>
                    <a:pt x="359440" y="52859"/>
                    <a:pt x="359440" y="118063"/>
                  </a:cubicBezTo>
                  <a:lnTo>
                    <a:pt x="359440" y="118063"/>
                  </a:lnTo>
                  <a:cubicBezTo>
                    <a:pt x="359440" y="149375"/>
                    <a:pt x="347001" y="179405"/>
                    <a:pt x="324860" y="201546"/>
                  </a:cubicBezTo>
                  <a:cubicBezTo>
                    <a:pt x="302719" y="223687"/>
                    <a:pt x="272689" y="236126"/>
                    <a:pt x="241377" y="236126"/>
                  </a:cubicBezTo>
                  <a:lnTo>
                    <a:pt x="118063" y="236126"/>
                  </a:lnTo>
                  <a:cubicBezTo>
                    <a:pt x="86751" y="236126"/>
                    <a:pt x="56721" y="223687"/>
                    <a:pt x="34580" y="201546"/>
                  </a:cubicBezTo>
                  <a:cubicBezTo>
                    <a:pt x="12439" y="179405"/>
                    <a:pt x="0" y="149375"/>
                    <a:pt x="0" y="118063"/>
                  </a:cubicBezTo>
                  <a:lnTo>
                    <a:pt x="0" y="118063"/>
                  </a:lnTo>
                  <a:cubicBezTo>
                    <a:pt x="0" y="86751"/>
                    <a:pt x="12439" y="56721"/>
                    <a:pt x="34580" y="34580"/>
                  </a:cubicBezTo>
                  <a:cubicBezTo>
                    <a:pt x="56721" y="12439"/>
                    <a:pt x="86751" y="0"/>
                    <a:pt x="118063"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7" id="7"/>
            <p:cNvSpPr txBox="true"/>
            <p:nvPr/>
          </p:nvSpPr>
          <p:spPr>
            <a:xfrm>
              <a:off x="0" y="47625"/>
              <a:ext cx="359440" cy="188501"/>
            </a:xfrm>
            <a:prstGeom prst="rect">
              <a:avLst/>
            </a:prstGeom>
          </p:spPr>
          <p:txBody>
            <a:bodyPr anchor="ctr" rtlCol="false" tIns="50800" lIns="50800" bIns="50800" rIns="50800"/>
            <a:lstStyle/>
            <a:p>
              <a:pPr algn="l">
                <a:lnSpc>
                  <a:spcPts val="1924"/>
                </a:lnSpc>
              </a:pPr>
            </a:p>
          </p:txBody>
        </p:sp>
      </p:grpSp>
      <p:grpSp>
        <p:nvGrpSpPr>
          <p:cNvPr name="Group 8" id="8"/>
          <p:cNvGrpSpPr/>
          <p:nvPr/>
        </p:nvGrpSpPr>
        <p:grpSpPr>
          <a:xfrm rot="0">
            <a:off x="15894551" y="3399656"/>
            <a:ext cx="1364749" cy="896540"/>
            <a:chOff x="0" y="0"/>
            <a:chExt cx="359440" cy="236126"/>
          </a:xfrm>
        </p:grpSpPr>
        <p:sp>
          <p:nvSpPr>
            <p:cNvPr name="Freeform 9" id="9"/>
            <p:cNvSpPr/>
            <p:nvPr/>
          </p:nvSpPr>
          <p:spPr>
            <a:xfrm flipH="false" flipV="false" rot="0">
              <a:off x="0" y="0"/>
              <a:ext cx="359440" cy="236126"/>
            </a:xfrm>
            <a:custGeom>
              <a:avLst/>
              <a:gdLst/>
              <a:ahLst/>
              <a:cxnLst/>
              <a:rect r="r" b="b" t="t" l="l"/>
              <a:pathLst>
                <a:path h="236126" w="359440">
                  <a:moveTo>
                    <a:pt x="118063" y="0"/>
                  </a:moveTo>
                  <a:lnTo>
                    <a:pt x="241377" y="0"/>
                  </a:lnTo>
                  <a:cubicBezTo>
                    <a:pt x="306582" y="0"/>
                    <a:pt x="359440" y="52859"/>
                    <a:pt x="359440" y="118063"/>
                  </a:cubicBezTo>
                  <a:lnTo>
                    <a:pt x="359440" y="118063"/>
                  </a:lnTo>
                  <a:cubicBezTo>
                    <a:pt x="359440" y="149375"/>
                    <a:pt x="347001" y="179405"/>
                    <a:pt x="324860" y="201546"/>
                  </a:cubicBezTo>
                  <a:cubicBezTo>
                    <a:pt x="302719" y="223687"/>
                    <a:pt x="272689" y="236126"/>
                    <a:pt x="241377" y="236126"/>
                  </a:cubicBezTo>
                  <a:lnTo>
                    <a:pt x="118063" y="236126"/>
                  </a:lnTo>
                  <a:cubicBezTo>
                    <a:pt x="86751" y="236126"/>
                    <a:pt x="56721" y="223687"/>
                    <a:pt x="34580" y="201546"/>
                  </a:cubicBezTo>
                  <a:cubicBezTo>
                    <a:pt x="12439" y="179405"/>
                    <a:pt x="0" y="149375"/>
                    <a:pt x="0" y="118063"/>
                  </a:cubicBezTo>
                  <a:lnTo>
                    <a:pt x="0" y="118063"/>
                  </a:lnTo>
                  <a:cubicBezTo>
                    <a:pt x="0" y="86751"/>
                    <a:pt x="12439" y="56721"/>
                    <a:pt x="34580" y="34580"/>
                  </a:cubicBezTo>
                  <a:cubicBezTo>
                    <a:pt x="56721" y="12439"/>
                    <a:pt x="86751" y="0"/>
                    <a:pt x="118063"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0" id="10"/>
            <p:cNvSpPr txBox="true"/>
            <p:nvPr/>
          </p:nvSpPr>
          <p:spPr>
            <a:xfrm>
              <a:off x="0" y="47625"/>
              <a:ext cx="359440" cy="188501"/>
            </a:xfrm>
            <a:prstGeom prst="rect">
              <a:avLst/>
            </a:prstGeom>
          </p:spPr>
          <p:txBody>
            <a:bodyPr anchor="ctr" rtlCol="false" tIns="50800" lIns="50800" bIns="50800" rIns="50800"/>
            <a:lstStyle/>
            <a:p>
              <a:pPr algn="l">
                <a:lnSpc>
                  <a:spcPts val="1924"/>
                </a:lnSpc>
              </a:pPr>
            </a:p>
          </p:txBody>
        </p:sp>
      </p:grpSp>
      <p:graphicFrame>
        <p:nvGraphicFramePr>
          <p:cNvPr name="Table 11" id="11"/>
          <p:cNvGraphicFramePr>
            <a:graphicFrameLocks noGrp="true"/>
          </p:cNvGraphicFramePr>
          <p:nvPr/>
        </p:nvGraphicFramePr>
        <p:xfrm>
          <a:off x="436479" y="6110864"/>
          <a:ext cx="16570475" cy="3005822"/>
        </p:xfrm>
        <a:graphic>
          <a:graphicData uri="http://schemas.openxmlformats.org/drawingml/2006/table">
            <a:tbl>
              <a:tblPr/>
              <a:tblGrid>
                <a:gridCol w="2607195"/>
                <a:gridCol w="13963280"/>
              </a:tblGrid>
              <a:tr h="733845">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13.4%</a:t>
                      </a:r>
                      <a:r>
                        <a:rPr lang="en-US" b="true" sz="1700">
                          <a:solidFill>
                            <a:srgbClr val="FFFFFF"/>
                          </a:solidFill>
                          <a:latin typeface="Canva Sans Bold"/>
                          <a:ea typeface="Canva Sans Bold"/>
                          <a:cs typeface="Canva Sans Bold"/>
                          <a:sym typeface="Canva Sans Bold"/>
                        </a:rPr>
                        <a:t> of users returned at least once in 2014. Zero returned through a paid non-brand ad — not approximately zero, exactly zero.</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921">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66.8% of repeat sessions came through free channels. The company is not paying to bring these</a:t>
                      </a:r>
                      <a:r>
                        <a:rPr lang="en-US" b="true" sz="1700">
                          <a:solidFill>
                            <a:srgbClr val="FFFFFF"/>
                          </a:solidFill>
                          <a:latin typeface="Canva Sans Bold"/>
                          <a:ea typeface="Canva Sans Bold"/>
                          <a:cs typeface="Canva Sans Bold"/>
                          <a:sym typeface="Canva Sans Bold"/>
                        </a:rPr>
                        <a:t> customers back — they return on their own.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39028">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Suppress</a:t>
                      </a:r>
                      <a:r>
                        <a:rPr lang="en-US" b="true" sz="1700">
                          <a:solidFill>
                            <a:srgbClr val="FFFFFF"/>
                          </a:solidFill>
                          <a:latin typeface="Canva Sans Bold"/>
                          <a:ea typeface="Canva Sans Bold"/>
                          <a:cs typeface="Canva Sans Bold"/>
                          <a:sym typeface="Canva Sans Bold"/>
                        </a:rPr>
                        <a:t> existing customers from non-brand paid targeting. Redirect that budget to new user acquisition only.</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39028">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KPI: share of paid spend reaching verified new users only. Target: reduce wasted repeat impressions by 10% within 60 days.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grpSp>
        <p:nvGrpSpPr>
          <p:cNvPr name="Group 12" id="12"/>
          <p:cNvGrpSpPr/>
          <p:nvPr/>
        </p:nvGrpSpPr>
        <p:grpSpPr>
          <a:xfrm rot="0">
            <a:off x="337128" y="9459137"/>
            <a:ext cx="99352" cy="451635"/>
            <a:chOff x="0" y="0"/>
            <a:chExt cx="26167" cy="118949"/>
          </a:xfrm>
        </p:grpSpPr>
        <p:sp>
          <p:nvSpPr>
            <p:cNvPr name="Freeform 13" id="1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14" id="1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sp>
        <p:nvSpPr>
          <p:cNvPr name="Freeform 15" id="15"/>
          <p:cNvSpPr/>
          <p:nvPr/>
        </p:nvSpPr>
        <p:spPr>
          <a:xfrm flipH="false" flipV="false" rot="0">
            <a:off x="589224" y="1393617"/>
            <a:ext cx="10010073" cy="4717247"/>
          </a:xfrm>
          <a:custGeom>
            <a:avLst/>
            <a:gdLst/>
            <a:ahLst/>
            <a:cxnLst/>
            <a:rect r="r" b="b" t="t" l="l"/>
            <a:pathLst>
              <a:path h="4717247" w="10010073">
                <a:moveTo>
                  <a:pt x="0" y="0"/>
                </a:moveTo>
                <a:lnTo>
                  <a:pt x="10010074" y="0"/>
                </a:lnTo>
                <a:lnTo>
                  <a:pt x="10010074" y="4717247"/>
                </a:lnTo>
                <a:lnTo>
                  <a:pt x="0" y="4717247"/>
                </a:lnTo>
                <a:lnTo>
                  <a:pt x="0" y="0"/>
                </a:lnTo>
                <a:close/>
              </a:path>
            </a:pathLst>
          </a:custGeom>
          <a:blipFill>
            <a:blip r:embed="rId2"/>
            <a:stretch>
              <a:fillRect l="0" t="0" r="0" b="0"/>
            </a:stretch>
          </a:blipFill>
        </p:spPr>
      </p:sp>
      <p:sp>
        <p:nvSpPr>
          <p:cNvPr name="TextBox 16" id="16"/>
          <p:cNvSpPr txBox="true"/>
          <p:nvPr/>
        </p:nvSpPr>
        <p:spPr>
          <a:xfrm rot="0">
            <a:off x="337128" y="241151"/>
            <a:ext cx="8813602" cy="669925"/>
          </a:xfrm>
          <a:prstGeom prst="rect">
            <a:avLst/>
          </a:prstGeom>
        </p:spPr>
        <p:txBody>
          <a:bodyPr anchor="t" rtlCol="false" tIns="0" lIns="0" bIns="0" rIns="0">
            <a:spAutoFit/>
          </a:bodyPr>
          <a:lstStyle/>
          <a:p>
            <a:pPr algn="ctr">
              <a:lnSpc>
                <a:spcPts val="5599"/>
              </a:lnSpc>
              <a:spcBef>
                <a:spcPct val="0"/>
              </a:spcBef>
            </a:pPr>
            <a:r>
              <a:rPr lang="en-US" b="true" sz="3999">
                <a:solidFill>
                  <a:srgbClr val="FFFFFF"/>
                </a:solidFill>
                <a:latin typeface="Montserrat Bold"/>
                <a:ea typeface="Montserrat Bold"/>
                <a:cs typeface="Montserrat Bold"/>
                <a:sym typeface="Montserrat Bold"/>
              </a:rPr>
              <a:t> REPEAT CUSTOMER BEHAVIOUR</a:t>
            </a:r>
          </a:p>
        </p:txBody>
      </p:sp>
      <p:sp>
        <p:nvSpPr>
          <p:cNvPr name="TextBox 17" id="17"/>
          <p:cNvSpPr txBox="true"/>
          <p:nvPr/>
        </p:nvSpPr>
        <p:spPr>
          <a:xfrm rot="0">
            <a:off x="337128" y="863451"/>
            <a:ext cx="11143129" cy="341459"/>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Montserrat"/>
                <a:ea typeface="Montserrat"/>
                <a:cs typeface="Montserrat"/>
                <a:sym typeface="Montserrat"/>
              </a:rPr>
              <a:t>How Valuable Are Our Repeat Customers? Repeat Visitor Behaviour — 2014 Year-to-Date</a:t>
            </a:r>
          </a:p>
        </p:txBody>
      </p:sp>
      <p:sp>
        <p:nvSpPr>
          <p:cNvPr name="TextBox 18" id="18"/>
          <p:cNvSpPr txBox="true"/>
          <p:nvPr/>
        </p:nvSpPr>
        <p:spPr>
          <a:xfrm rot="0">
            <a:off x="12223935" y="3646247"/>
            <a:ext cx="594360" cy="341459"/>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Montserrat"/>
                <a:ea typeface="Montserrat"/>
                <a:cs typeface="Montserrat"/>
                <a:sym typeface="Montserrat"/>
              </a:rPr>
              <a:t>1 day</a:t>
            </a:r>
          </a:p>
        </p:txBody>
      </p:sp>
      <p:sp>
        <p:nvSpPr>
          <p:cNvPr name="TextBox 19" id="19"/>
          <p:cNvSpPr txBox="true"/>
          <p:nvPr/>
        </p:nvSpPr>
        <p:spPr>
          <a:xfrm rot="0">
            <a:off x="13969819" y="3636540"/>
            <a:ext cx="1094065" cy="341459"/>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Montserrat"/>
                <a:ea typeface="Montserrat"/>
                <a:cs typeface="Montserrat"/>
                <a:sym typeface="Montserrat"/>
              </a:rPr>
              <a:t>32.5 days</a:t>
            </a:r>
          </a:p>
        </p:txBody>
      </p:sp>
      <p:sp>
        <p:nvSpPr>
          <p:cNvPr name="TextBox 20" id="20"/>
          <p:cNvSpPr txBox="true"/>
          <p:nvPr/>
        </p:nvSpPr>
        <p:spPr>
          <a:xfrm rot="0">
            <a:off x="16115380" y="3643678"/>
            <a:ext cx="923092" cy="341459"/>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Montserrat"/>
                <a:ea typeface="Montserrat"/>
                <a:cs typeface="Montserrat"/>
                <a:sym typeface="Montserrat"/>
              </a:rPr>
              <a:t>69 days</a:t>
            </a:r>
          </a:p>
        </p:txBody>
      </p:sp>
      <p:sp>
        <p:nvSpPr>
          <p:cNvPr name="TextBox 21" id="21"/>
          <p:cNvSpPr txBox="true"/>
          <p:nvPr/>
        </p:nvSpPr>
        <p:spPr>
          <a:xfrm rot="0">
            <a:off x="12024897" y="2571041"/>
            <a:ext cx="1205976" cy="811772"/>
          </a:xfrm>
          <a:prstGeom prst="rect">
            <a:avLst/>
          </a:prstGeom>
        </p:spPr>
        <p:txBody>
          <a:bodyPr anchor="t" rtlCol="false" tIns="0" lIns="0" bIns="0" rIns="0">
            <a:spAutoFit/>
          </a:bodyPr>
          <a:lstStyle/>
          <a:p>
            <a:pPr algn="ctr">
              <a:lnSpc>
                <a:spcPts val="6828"/>
              </a:lnSpc>
              <a:spcBef>
                <a:spcPct val="0"/>
              </a:spcBef>
            </a:pPr>
            <a:r>
              <a:rPr lang="en-US" b="true" sz="4877">
                <a:solidFill>
                  <a:srgbClr val="FFFFFF"/>
                </a:solidFill>
                <a:latin typeface="Montserrat Bold"/>
                <a:ea typeface="Montserrat Bold"/>
                <a:cs typeface="Montserrat Bold"/>
                <a:sym typeface="Montserrat Bold"/>
              </a:rPr>
              <a:t>Min</a:t>
            </a:r>
          </a:p>
        </p:txBody>
      </p:sp>
      <p:sp>
        <p:nvSpPr>
          <p:cNvPr name="TextBox 22" id="22"/>
          <p:cNvSpPr txBox="true"/>
          <p:nvPr/>
        </p:nvSpPr>
        <p:spPr>
          <a:xfrm rot="0">
            <a:off x="13947403" y="2571041"/>
            <a:ext cx="1251823" cy="828616"/>
          </a:xfrm>
          <a:prstGeom prst="rect">
            <a:avLst/>
          </a:prstGeom>
        </p:spPr>
        <p:txBody>
          <a:bodyPr anchor="t" rtlCol="false" tIns="0" lIns="0" bIns="0" rIns="0">
            <a:spAutoFit/>
          </a:bodyPr>
          <a:lstStyle/>
          <a:p>
            <a:pPr algn="ctr" marL="0" indent="0" lvl="0">
              <a:lnSpc>
                <a:spcPts val="6828"/>
              </a:lnSpc>
              <a:spcBef>
                <a:spcPct val="0"/>
              </a:spcBef>
            </a:pPr>
            <a:r>
              <a:rPr lang="en-US" b="true" sz="4877" strike="noStrike" u="none">
                <a:solidFill>
                  <a:srgbClr val="FFFFFF"/>
                </a:solidFill>
                <a:latin typeface="Montserrat Bold"/>
                <a:ea typeface="Montserrat Bold"/>
                <a:cs typeface="Montserrat Bold"/>
                <a:sym typeface="Montserrat Bold"/>
              </a:rPr>
              <a:t>Avg</a:t>
            </a:r>
          </a:p>
        </p:txBody>
      </p:sp>
      <p:sp>
        <p:nvSpPr>
          <p:cNvPr name="TextBox 23" id="23"/>
          <p:cNvSpPr txBox="true"/>
          <p:nvPr/>
        </p:nvSpPr>
        <p:spPr>
          <a:xfrm rot="0">
            <a:off x="15894551" y="2571041"/>
            <a:ext cx="1342192" cy="828616"/>
          </a:xfrm>
          <a:prstGeom prst="rect">
            <a:avLst/>
          </a:prstGeom>
        </p:spPr>
        <p:txBody>
          <a:bodyPr anchor="t" rtlCol="false" tIns="0" lIns="0" bIns="0" rIns="0">
            <a:spAutoFit/>
          </a:bodyPr>
          <a:lstStyle/>
          <a:p>
            <a:pPr algn="ctr" marL="0" indent="0" lvl="0">
              <a:lnSpc>
                <a:spcPts val="6828"/>
              </a:lnSpc>
              <a:spcBef>
                <a:spcPct val="0"/>
              </a:spcBef>
            </a:pPr>
            <a:r>
              <a:rPr lang="en-US" b="true" sz="4877" strike="noStrike" u="none">
                <a:solidFill>
                  <a:srgbClr val="FFFFFF"/>
                </a:solidFill>
                <a:latin typeface="Montserrat Bold"/>
                <a:ea typeface="Montserrat Bold"/>
                <a:cs typeface="Montserrat Bold"/>
                <a:sym typeface="Montserrat Bold"/>
              </a:rPr>
              <a:t>Max</a:t>
            </a:r>
          </a:p>
        </p:txBody>
      </p:sp>
      <p:sp>
        <p:nvSpPr>
          <p:cNvPr name="TextBox 24" id="24"/>
          <p:cNvSpPr txBox="true"/>
          <p:nvPr/>
        </p:nvSpPr>
        <p:spPr>
          <a:xfrm rot="0">
            <a:off x="16383386" y="9669509"/>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C9- page  14</a:t>
            </a:r>
          </a:p>
        </p:txBody>
      </p:sp>
      <p:sp>
        <p:nvSpPr>
          <p:cNvPr name="TextBox 25" id="25"/>
          <p:cNvSpPr txBox="true"/>
          <p:nvPr/>
        </p:nvSpPr>
        <p:spPr>
          <a:xfrm rot="0">
            <a:off x="589224" y="9619620"/>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26" id="26"/>
          <p:cNvSpPr txBox="true"/>
          <p:nvPr/>
        </p:nvSpPr>
        <p:spPr>
          <a:xfrm rot="0">
            <a:off x="3192450" y="9635445"/>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5913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sp>
        <p:nvSpPr>
          <p:cNvPr name="Freeform 5" id="5"/>
          <p:cNvSpPr/>
          <p:nvPr/>
        </p:nvSpPr>
        <p:spPr>
          <a:xfrm flipH="false" flipV="false" rot="0">
            <a:off x="8480320" y="5143500"/>
            <a:ext cx="9276543" cy="4224142"/>
          </a:xfrm>
          <a:custGeom>
            <a:avLst/>
            <a:gdLst/>
            <a:ahLst/>
            <a:cxnLst/>
            <a:rect r="r" b="b" t="t" l="l"/>
            <a:pathLst>
              <a:path h="4224142" w="9276543">
                <a:moveTo>
                  <a:pt x="0" y="0"/>
                </a:moveTo>
                <a:lnTo>
                  <a:pt x="9276543" y="0"/>
                </a:lnTo>
                <a:lnTo>
                  <a:pt x="9276543" y="4224142"/>
                </a:lnTo>
                <a:lnTo>
                  <a:pt x="0" y="4224142"/>
                </a:lnTo>
                <a:lnTo>
                  <a:pt x="0" y="0"/>
                </a:lnTo>
                <a:close/>
              </a:path>
            </a:pathLst>
          </a:custGeom>
          <a:blipFill>
            <a:blip r:embed="rId2"/>
            <a:stretch>
              <a:fillRect l="-2484" t="0" r="-712" b="0"/>
            </a:stretch>
          </a:blipFill>
        </p:spPr>
      </p:sp>
      <p:graphicFrame>
        <p:nvGraphicFramePr>
          <p:cNvPr name="Object 6" id="6"/>
          <p:cNvGraphicFramePr/>
          <p:nvPr/>
        </p:nvGraphicFramePr>
        <p:xfrm>
          <a:off x="589224" y="3070589"/>
          <a:ext cx="12530138" cy="2828925"/>
        </p:xfrm>
        <a:graphic>
          <a:graphicData uri="http://schemas.openxmlformats.org/presentationml/2006/ole">
            <p:oleObj imgW="15036800" imgH="53340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Table 7" id="7"/>
          <p:cNvGraphicFramePr>
            <a:graphicFrameLocks noGrp="true"/>
          </p:cNvGraphicFramePr>
          <p:nvPr/>
        </p:nvGraphicFramePr>
        <p:xfrm>
          <a:off x="337128" y="6252497"/>
          <a:ext cx="7639613" cy="3115145"/>
        </p:xfrm>
        <a:graphic>
          <a:graphicData uri="http://schemas.openxmlformats.org/drawingml/2006/table">
            <a:tbl>
              <a:tblPr/>
              <a:tblGrid>
                <a:gridCol w="2609529"/>
                <a:gridCol w="5030083"/>
              </a:tblGrid>
              <a:tr h="733736">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$12.42</a:t>
                      </a:r>
                      <a:r>
                        <a:rPr lang="en-US" b="true" sz="1700">
                          <a:solidFill>
                            <a:srgbClr val="FFFFFF"/>
                          </a:solidFill>
                          <a:latin typeface="Canva Sans Bold"/>
                          <a:ea typeface="Canva Sans Bold"/>
                          <a:cs typeface="Canva Sans Bold"/>
                          <a:sym typeface="Canva Sans Bold"/>
                        </a:rPr>
                        <a:t> vs $4.65 — 2.67x LTV multiple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803">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Underbidding for</a:t>
                      </a:r>
                      <a:r>
                        <a:rPr lang="en-US" b="true" sz="1700">
                          <a:solidFill>
                            <a:srgbClr val="FFFFFF"/>
                          </a:solidFill>
                          <a:latin typeface="Canva Sans Bold"/>
                          <a:ea typeface="Canva Sans Bold"/>
                          <a:cs typeface="Canva Sans Bold"/>
                          <a:sym typeface="Canva Sans Bold"/>
                        </a:rPr>
                        <a:t> customers who will return and spend more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803">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Suppress</a:t>
                      </a:r>
                      <a:r>
                        <a:rPr lang="en-US" b="true" sz="1700">
                          <a:solidFill>
                            <a:srgbClr val="FFFFFF"/>
                          </a:solidFill>
                          <a:latin typeface="Canva Sans Bold"/>
                          <a:ea typeface="Canva Sans Bold"/>
                          <a:cs typeface="Canva Sans Bold"/>
                          <a:sym typeface="Canva Sans Bold"/>
                        </a:rPr>
                        <a:t> existing customers from nonbrand paid targeting</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3803">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Adjust max CAC to 2.67x multiplier within next campaign cycle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sp>
        <p:nvSpPr>
          <p:cNvPr name="TextBox 8" id="8"/>
          <p:cNvSpPr txBox="true"/>
          <p:nvPr/>
        </p:nvSpPr>
        <p:spPr>
          <a:xfrm rot="0">
            <a:off x="16383386" y="9669509"/>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C19- page  15</a:t>
            </a:r>
          </a:p>
        </p:txBody>
      </p:sp>
      <p:sp>
        <p:nvSpPr>
          <p:cNvPr name="TextBox 9" id="9"/>
          <p:cNvSpPr txBox="true"/>
          <p:nvPr/>
        </p:nvSpPr>
        <p:spPr>
          <a:xfrm rot="0">
            <a:off x="589224" y="9619620"/>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10" id="10"/>
          <p:cNvSpPr txBox="true"/>
          <p:nvPr/>
        </p:nvSpPr>
        <p:spPr>
          <a:xfrm rot="0">
            <a:off x="3192450" y="9654495"/>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11" id="11"/>
          <p:cNvSpPr txBox="true"/>
          <p:nvPr/>
        </p:nvSpPr>
        <p:spPr>
          <a:xfrm rot="0">
            <a:off x="337128" y="291554"/>
            <a:ext cx="10143054" cy="1047750"/>
          </a:xfrm>
          <a:prstGeom prst="rect">
            <a:avLst/>
          </a:prstGeom>
        </p:spPr>
        <p:txBody>
          <a:bodyPr anchor="t" rtlCol="false" tIns="0" lIns="0" bIns="0" rIns="0">
            <a:spAutoFit/>
          </a:bodyPr>
          <a:lstStyle/>
          <a:p>
            <a:pPr algn="l">
              <a:lnSpc>
                <a:spcPts val="5599"/>
              </a:lnSpc>
              <a:spcBef>
                <a:spcPct val="0"/>
              </a:spcBef>
            </a:pPr>
            <a:r>
              <a:rPr lang="en-US" b="true" sz="3999">
                <a:solidFill>
                  <a:srgbClr val="FFFFFF"/>
                </a:solidFill>
                <a:latin typeface="Montserrat Bold"/>
                <a:ea typeface="Montserrat Bold"/>
                <a:cs typeface="Montserrat Bold"/>
                <a:sym typeface="Montserrat Bold"/>
              </a:rPr>
              <a:t>LIFETIME VALUE</a:t>
            </a:r>
          </a:p>
          <a:p>
            <a:pPr algn="l">
              <a:lnSpc>
                <a:spcPts val="2800"/>
              </a:lnSpc>
              <a:spcBef>
                <a:spcPct val="0"/>
              </a:spcBef>
            </a:pPr>
            <a:r>
              <a:rPr lang="en-US" sz="2000">
                <a:solidFill>
                  <a:srgbClr val="FFFFFF"/>
                </a:solidFill>
                <a:latin typeface="Montserrat"/>
                <a:ea typeface="Montserrat"/>
                <a:cs typeface="Montserrat"/>
                <a:sym typeface="Montserrat"/>
              </a:rPr>
              <a:t>What Is a Returning Customer Actually Worth? Customer Lifetime Value — 2014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7128" y="9459137"/>
            <a:ext cx="99352" cy="451635"/>
            <a:chOff x="0" y="0"/>
            <a:chExt cx="26167" cy="118949"/>
          </a:xfrm>
        </p:grpSpPr>
        <p:sp>
          <p:nvSpPr>
            <p:cNvPr name="Freeform 3" id="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4" id="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sp>
        <p:nvSpPr>
          <p:cNvPr name="Freeform 5" id="5"/>
          <p:cNvSpPr/>
          <p:nvPr/>
        </p:nvSpPr>
        <p:spPr>
          <a:xfrm flipH="false" flipV="false" rot="0">
            <a:off x="436479" y="1339304"/>
            <a:ext cx="8103079" cy="7748569"/>
          </a:xfrm>
          <a:custGeom>
            <a:avLst/>
            <a:gdLst/>
            <a:ahLst/>
            <a:cxnLst/>
            <a:rect r="r" b="b" t="t" l="l"/>
            <a:pathLst>
              <a:path h="7748569" w="8103079">
                <a:moveTo>
                  <a:pt x="0" y="0"/>
                </a:moveTo>
                <a:lnTo>
                  <a:pt x="8103079" y="0"/>
                </a:lnTo>
                <a:lnTo>
                  <a:pt x="8103079" y="7748569"/>
                </a:lnTo>
                <a:lnTo>
                  <a:pt x="0" y="77485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428308" y="1771191"/>
            <a:ext cx="1136437" cy="1115129"/>
          </a:xfrm>
          <a:custGeom>
            <a:avLst/>
            <a:gdLst/>
            <a:ahLst/>
            <a:cxnLst/>
            <a:rect r="r" b="b" t="t" l="l"/>
            <a:pathLst>
              <a:path h="1115129" w="1136437">
                <a:moveTo>
                  <a:pt x="0" y="0"/>
                </a:moveTo>
                <a:lnTo>
                  <a:pt x="1136438" y="0"/>
                </a:lnTo>
                <a:lnTo>
                  <a:pt x="1136438" y="1115129"/>
                </a:lnTo>
                <a:lnTo>
                  <a:pt x="0" y="11151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572736" y="3707854"/>
            <a:ext cx="847583" cy="1145382"/>
          </a:xfrm>
          <a:custGeom>
            <a:avLst/>
            <a:gdLst/>
            <a:ahLst/>
            <a:cxnLst/>
            <a:rect r="r" b="b" t="t" l="l"/>
            <a:pathLst>
              <a:path h="1145382" w="847583">
                <a:moveTo>
                  <a:pt x="0" y="0"/>
                </a:moveTo>
                <a:lnTo>
                  <a:pt x="847582" y="0"/>
                </a:lnTo>
                <a:lnTo>
                  <a:pt x="847582" y="1145382"/>
                </a:lnTo>
                <a:lnTo>
                  <a:pt x="0" y="11453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428308" y="5613298"/>
            <a:ext cx="1308341" cy="1272362"/>
          </a:xfrm>
          <a:custGeom>
            <a:avLst/>
            <a:gdLst/>
            <a:ahLst/>
            <a:cxnLst/>
            <a:rect r="r" b="b" t="t" l="l"/>
            <a:pathLst>
              <a:path h="1272362" w="1308341">
                <a:moveTo>
                  <a:pt x="0" y="0"/>
                </a:moveTo>
                <a:lnTo>
                  <a:pt x="1308342" y="0"/>
                </a:lnTo>
                <a:lnTo>
                  <a:pt x="1308342" y="1272361"/>
                </a:lnTo>
                <a:lnTo>
                  <a:pt x="0" y="12723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392582" y="7574224"/>
            <a:ext cx="1172163" cy="1272362"/>
          </a:xfrm>
          <a:custGeom>
            <a:avLst/>
            <a:gdLst/>
            <a:ahLst/>
            <a:cxnLst/>
            <a:rect r="r" b="b" t="t" l="l"/>
            <a:pathLst>
              <a:path h="1272362" w="1172163">
                <a:moveTo>
                  <a:pt x="0" y="0"/>
                </a:moveTo>
                <a:lnTo>
                  <a:pt x="1172164" y="0"/>
                </a:lnTo>
                <a:lnTo>
                  <a:pt x="1172164" y="1272362"/>
                </a:lnTo>
                <a:lnTo>
                  <a:pt x="0" y="12723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589224" y="9939347"/>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C10- page  16</a:t>
            </a:r>
          </a:p>
        </p:txBody>
      </p:sp>
      <p:sp>
        <p:nvSpPr>
          <p:cNvPr name="TextBox 11" id="11"/>
          <p:cNvSpPr txBox="true"/>
          <p:nvPr/>
        </p:nvSpPr>
        <p:spPr>
          <a:xfrm rot="0">
            <a:off x="589224" y="9619620"/>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12" id="12"/>
          <p:cNvSpPr txBox="true"/>
          <p:nvPr/>
        </p:nvSpPr>
        <p:spPr>
          <a:xfrm rot="0">
            <a:off x="3192450" y="9654495"/>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13" id="13"/>
          <p:cNvSpPr txBox="true"/>
          <p:nvPr/>
        </p:nvSpPr>
        <p:spPr>
          <a:xfrm rot="0">
            <a:off x="337128" y="291554"/>
            <a:ext cx="15254764" cy="1047750"/>
          </a:xfrm>
          <a:prstGeom prst="rect">
            <a:avLst/>
          </a:prstGeom>
        </p:spPr>
        <p:txBody>
          <a:bodyPr anchor="t" rtlCol="false" tIns="0" lIns="0" bIns="0" rIns="0">
            <a:spAutoFit/>
          </a:bodyPr>
          <a:lstStyle/>
          <a:p>
            <a:pPr algn="l">
              <a:lnSpc>
                <a:spcPts val="5599"/>
              </a:lnSpc>
              <a:spcBef>
                <a:spcPct val="0"/>
              </a:spcBef>
            </a:pPr>
            <a:r>
              <a:rPr lang="en-US" b="true" sz="3999">
                <a:solidFill>
                  <a:srgbClr val="FFFFFF"/>
                </a:solidFill>
                <a:latin typeface="Montserrat Bold"/>
                <a:ea typeface="Montserrat Bold"/>
                <a:cs typeface="Montserrat Bold"/>
                <a:sym typeface="Montserrat Bold"/>
              </a:rPr>
              <a:t>Strategic Recommendation 1 Fix the Biggest </a:t>
            </a:r>
            <a:r>
              <a:rPr lang="en-US" b="true" sz="3999">
                <a:solidFill>
                  <a:srgbClr val="FFFFFF"/>
                </a:solidFill>
                <a:latin typeface="Montserrat Bold"/>
                <a:ea typeface="Montserrat Bold"/>
                <a:cs typeface="Montserrat Bold"/>
                <a:sym typeface="Montserrat Bold"/>
              </a:rPr>
              <a:t>Funnel Leak</a:t>
            </a:r>
          </a:p>
          <a:p>
            <a:pPr algn="l">
              <a:lnSpc>
                <a:spcPts val="2800"/>
              </a:lnSpc>
              <a:spcBef>
                <a:spcPct val="0"/>
              </a:spcBef>
            </a:pPr>
            <a:r>
              <a:rPr lang="en-US" sz="2000">
                <a:solidFill>
                  <a:srgbClr val="FFFFFF"/>
                </a:solidFill>
                <a:latin typeface="Montserrat"/>
                <a:ea typeface="Montserrat"/>
                <a:cs typeface="Montserrat"/>
                <a:sym typeface="Montserrat"/>
              </a:rPr>
              <a:t>What Is a Returning Customer Actually Worth? Customer Lifetime Value — 2014</a:t>
            </a:r>
          </a:p>
        </p:txBody>
      </p:sp>
      <p:sp>
        <p:nvSpPr>
          <p:cNvPr name="TextBox 14" id="14"/>
          <p:cNvSpPr txBox="true"/>
          <p:nvPr/>
        </p:nvSpPr>
        <p:spPr>
          <a:xfrm rot="0">
            <a:off x="13453496" y="2077219"/>
            <a:ext cx="2929890"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Montserrat Bold"/>
                <a:ea typeface="Montserrat Bold"/>
                <a:cs typeface="Montserrat Bold"/>
                <a:sym typeface="Montserrat Bold"/>
              </a:rPr>
              <a:t>OBSERVATION</a:t>
            </a:r>
          </a:p>
        </p:txBody>
      </p:sp>
      <p:sp>
        <p:nvSpPr>
          <p:cNvPr name="TextBox 15" id="15"/>
          <p:cNvSpPr txBox="true"/>
          <p:nvPr/>
        </p:nvSpPr>
        <p:spPr>
          <a:xfrm rot="0">
            <a:off x="14099469" y="4036840"/>
            <a:ext cx="1637943" cy="514350"/>
          </a:xfrm>
          <a:prstGeom prst="rect">
            <a:avLst/>
          </a:prstGeom>
        </p:spPr>
        <p:txBody>
          <a:bodyPr anchor="t" rtlCol="false" tIns="0" lIns="0" bIns="0" rIns="0">
            <a:spAutoFit/>
          </a:bodyPr>
          <a:lstStyle/>
          <a:p>
            <a:pPr algn="ctr" marL="0" indent="0" lvl="0">
              <a:lnSpc>
                <a:spcPts val="4200"/>
              </a:lnSpc>
              <a:spcBef>
                <a:spcPct val="0"/>
              </a:spcBef>
            </a:pPr>
            <a:r>
              <a:rPr lang="en-US" b="true" sz="3000" strike="noStrike" u="none">
                <a:solidFill>
                  <a:srgbClr val="FFFFFF"/>
                </a:solidFill>
                <a:latin typeface="Montserrat Bold"/>
                <a:ea typeface="Montserrat Bold"/>
                <a:cs typeface="Montserrat Bold"/>
                <a:sym typeface="Montserrat Bold"/>
              </a:rPr>
              <a:t>INSIGHT</a:t>
            </a:r>
          </a:p>
        </p:txBody>
      </p:sp>
      <p:sp>
        <p:nvSpPr>
          <p:cNvPr name="TextBox 16" id="16"/>
          <p:cNvSpPr txBox="true"/>
          <p:nvPr/>
        </p:nvSpPr>
        <p:spPr>
          <a:xfrm rot="0">
            <a:off x="14182932" y="5858194"/>
            <a:ext cx="1554480" cy="514350"/>
          </a:xfrm>
          <a:prstGeom prst="rect">
            <a:avLst/>
          </a:prstGeom>
        </p:spPr>
        <p:txBody>
          <a:bodyPr anchor="t" rtlCol="false" tIns="0" lIns="0" bIns="0" rIns="0">
            <a:spAutoFit/>
          </a:bodyPr>
          <a:lstStyle/>
          <a:p>
            <a:pPr algn="ctr" marL="0" indent="0" lvl="0">
              <a:lnSpc>
                <a:spcPts val="4200"/>
              </a:lnSpc>
              <a:spcBef>
                <a:spcPct val="0"/>
              </a:spcBef>
            </a:pPr>
            <a:r>
              <a:rPr lang="en-US" b="true" sz="3000" strike="noStrike" u="none">
                <a:solidFill>
                  <a:srgbClr val="FFFFFF"/>
                </a:solidFill>
                <a:latin typeface="Montserrat Bold"/>
                <a:ea typeface="Montserrat Bold"/>
                <a:cs typeface="Montserrat Bold"/>
                <a:sym typeface="Montserrat Bold"/>
              </a:rPr>
              <a:t>ACTION</a:t>
            </a:r>
          </a:p>
        </p:txBody>
      </p:sp>
      <p:sp>
        <p:nvSpPr>
          <p:cNvPr name="TextBox 17" id="17"/>
          <p:cNvSpPr txBox="true"/>
          <p:nvPr/>
        </p:nvSpPr>
        <p:spPr>
          <a:xfrm rot="0">
            <a:off x="14186742" y="7696055"/>
            <a:ext cx="1550670" cy="514350"/>
          </a:xfrm>
          <a:prstGeom prst="rect">
            <a:avLst/>
          </a:prstGeom>
        </p:spPr>
        <p:txBody>
          <a:bodyPr anchor="t" rtlCol="false" tIns="0" lIns="0" bIns="0" rIns="0">
            <a:spAutoFit/>
          </a:bodyPr>
          <a:lstStyle/>
          <a:p>
            <a:pPr algn="ctr" marL="0" indent="0" lvl="0">
              <a:lnSpc>
                <a:spcPts val="4200"/>
              </a:lnSpc>
              <a:spcBef>
                <a:spcPct val="0"/>
              </a:spcBef>
            </a:pPr>
            <a:r>
              <a:rPr lang="en-US" b="true" sz="3000" strike="noStrike" u="none">
                <a:solidFill>
                  <a:srgbClr val="FFFFFF"/>
                </a:solidFill>
                <a:latin typeface="Montserrat Bold"/>
                <a:ea typeface="Montserrat Bold"/>
                <a:cs typeface="Montserrat Bold"/>
                <a:sym typeface="Montserrat Bold"/>
              </a:rPr>
              <a:t>IMPACT</a:t>
            </a:r>
          </a:p>
        </p:txBody>
      </p:sp>
      <p:sp>
        <p:nvSpPr>
          <p:cNvPr name="TextBox 18" id="18"/>
          <p:cNvSpPr txBox="true"/>
          <p:nvPr/>
        </p:nvSpPr>
        <p:spPr>
          <a:xfrm rot="0">
            <a:off x="2885596" y="1801518"/>
            <a:ext cx="6642338" cy="1099393"/>
          </a:xfrm>
          <a:prstGeom prst="rect">
            <a:avLst/>
          </a:prstGeom>
        </p:spPr>
        <p:txBody>
          <a:bodyPr anchor="t" rtlCol="false" tIns="0" lIns="0" bIns="0" rIns="0">
            <a:spAutoFit/>
          </a:bodyPr>
          <a:lstStyle/>
          <a:p>
            <a:pPr algn="l">
              <a:lnSpc>
                <a:spcPts val="2928"/>
              </a:lnSpc>
              <a:spcBef>
                <a:spcPct val="0"/>
              </a:spcBef>
            </a:pPr>
            <a:r>
              <a:rPr lang="en-US" sz="2091">
                <a:solidFill>
                  <a:srgbClr val="FFFFFF"/>
                </a:solidFill>
                <a:latin typeface="Montserrat"/>
                <a:ea typeface="Montserrat"/>
                <a:cs typeface="Montserrat"/>
                <a:sym typeface="Montserrat"/>
              </a:rPr>
              <a:t>Product detail → cart converts at 43.4%. Every other funnel step converts at 68%+. 56.6% ofinterested visitors leave without adding to cart.</a:t>
            </a:r>
          </a:p>
        </p:txBody>
      </p:sp>
      <p:sp>
        <p:nvSpPr>
          <p:cNvPr name="TextBox 19" id="19"/>
          <p:cNvSpPr txBox="true"/>
          <p:nvPr/>
        </p:nvSpPr>
        <p:spPr>
          <a:xfrm rot="0">
            <a:off x="2890970" y="3711799"/>
            <a:ext cx="6874824" cy="1099393"/>
          </a:xfrm>
          <a:prstGeom prst="rect">
            <a:avLst/>
          </a:prstGeom>
        </p:spPr>
        <p:txBody>
          <a:bodyPr anchor="t" rtlCol="false" tIns="0" lIns="0" bIns="0" rIns="0">
            <a:spAutoFit/>
          </a:bodyPr>
          <a:lstStyle/>
          <a:p>
            <a:pPr algn="l" marL="0" indent="0" lvl="0">
              <a:lnSpc>
                <a:spcPts val="2928"/>
              </a:lnSpc>
              <a:spcBef>
                <a:spcPct val="0"/>
              </a:spcBef>
            </a:pPr>
            <a:r>
              <a:rPr lang="en-US" sz="2091" strike="noStrike" u="none">
                <a:solidFill>
                  <a:srgbClr val="FFFFFF"/>
                </a:solidFill>
                <a:latin typeface="Montserrat"/>
                <a:ea typeface="Montserrat"/>
                <a:cs typeface="Montserrat"/>
                <a:sym typeface="Montserrat"/>
              </a:rPr>
              <a:t>These </a:t>
            </a:r>
            <a:r>
              <a:rPr lang="en-US" sz="2091" strike="noStrike" u="none">
                <a:solidFill>
                  <a:srgbClr val="FFFFFF"/>
                </a:solidFill>
                <a:latin typeface="Montserrat"/>
                <a:ea typeface="Montserrat"/>
                <a:cs typeface="Montserrat"/>
                <a:sym typeface="Montserrat"/>
              </a:rPr>
              <a:t>are warm, already-interested </a:t>
            </a:r>
            <a:r>
              <a:rPr lang="en-US" sz="2091" strike="noStrike" u="none">
                <a:solidFill>
                  <a:srgbClr val="FFFFFF"/>
                </a:solidFill>
                <a:latin typeface="Montserrat"/>
                <a:ea typeface="Montserrat"/>
                <a:cs typeface="Montserrat"/>
                <a:sym typeface="Montserrat"/>
              </a:rPr>
              <a:t>visitors </a:t>
            </a:r>
            <a:r>
              <a:rPr lang="en-US" sz="2091" strike="noStrike" u="none">
                <a:solidFill>
                  <a:srgbClr val="FFFFFF"/>
                </a:solidFill>
                <a:latin typeface="Montserrat"/>
                <a:ea typeface="Montserrat"/>
                <a:cs typeface="Montserrat"/>
                <a:sym typeface="Montserrat"/>
              </a:rPr>
              <a:t>— th</a:t>
            </a:r>
            <a:r>
              <a:rPr lang="en-US" sz="2091" strike="noStrike" u="none">
                <a:solidFill>
                  <a:srgbClr val="FFFFFF"/>
                </a:solidFill>
                <a:latin typeface="Montserrat"/>
                <a:ea typeface="Montserrat"/>
                <a:cs typeface="Montserrat"/>
                <a:sym typeface="Montserrat"/>
              </a:rPr>
              <a:t>ey clicked </a:t>
            </a:r>
            <a:r>
              <a:rPr lang="en-US" sz="2091" strike="noStrike" u="none">
                <a:solidFill>
                  <a:srgbClr val="FFFFFF"/>
                </a:solidFill>
                <a:latin typeface="Montserrat"/>
                <a:ea typeface="Montserrat"/>
                <a:cs typeface="Montserrat"/>
                <a:sym typeface="Montserrat"/>
              </a:rPr>
              <a:t>through to </a:t>
            </a:r>
            <a:r>
              <a:rPr lang="en-US" sz="2091" strike="noStrike" u="none">
                <a:solidFill>
                  <a:srgbClr val="FFFFFF"/>
                </a:solidFill>
                <a:latin typeface="Montserrat"/>
                <a:ea typeface="Montserrat"/>
                <a:cs typeface="Montserrat"/>
                <a:sym typeface="Montserrat"/>
              </a:rPr>
              <a:t>a product</a:t>
            </a:r>
            <a:r>
              <a:rPr lang="en-US" sz="2091" strike="noStrike" u="none">
                <a:solidFill>
                  <a:srgbClr val="FFFFFF"/>
                </a:solidFill>
                <a:latin typeface="Montserrat"/>
                <a:ea typeface="Montserrat"/>
                <a:cs typeface="Montserrat"/>
                <a:sym typeface="Montserrat"/>
              </a:rPr>
              <a:t> page</a:t>
            </a:r>
            <a:r>
              <a:rPr lang="en-US" sz="2091" strike="noStrike" u="none">
                <a:solidFill>
                  <a:srgbClr val="FFFFFF"/>
                </a:solidFill>
                <a:latin typeface="Montserrat"/>
                <a:ea typeface="Montserrat"/>
                <a:cs typeface="Montserrat"/>
                <a:sym typeface="Montserrat"/>
              </a:rPr>
              <a:t>. The failure is at </a:t>
            </a:r>
            <a:r>
              <a:rPr lang="en-US" sz="2091" strike="noStrike" u="none">
                <a:solidFill>
                  <a:srgbClr val="FFFFFF"/>
                </a:solidFill>
                <a:latin typeface="Montserrat"/>
                <a:ea typeface="Montserrat"/>
                <a:cs typeface="Montserrat"/>
                <a:sym typeface="Montserrat"/>
              </a:rPr>
              <a:t>the </a:t>
            </a:r>
            <a:r>
              <a:rPr lang="en-US" sz="2091" strike="noStrike" u="none">
                <a:solidFill>
                  <a:srgbClr val="FFFFFF"/>
                </a:solidFill>
                <a:latin typeface="Montserrat"/>
                <a:ea typeface="Montserrat"/>
                <a:cs typeface="Montserrat"/>
                <a:sym typeface="Montserrat"/>
              </a:rPr>
              <a:t>presentation</a:t>
            </a:r>
            <a:r>
              <a:rPr lang="en-US" sz="2091" strike="noStrike" u="none">
                <a:solidFill>
                  <a:srgbClr val="FFFFFF"/>
                </a:solidFill>
                <a:latin typeface="Montserrat"/>
                <a:ea typeface="Montserrat"/>
                <a:cs typeface="Montserrat"/>
                <a:sym typeface="Montserrat"/>
              </a:rPr>
              <a:t> layer</a:t>
            </a:r>
            <a:r>
              <a:rPr lang="en-US" sz="2091" strike="noStrike" u="none">
                <a:solidFill>
                  <a:srgbClr val="FFFFFF"/>
                </a:solidFill>
                <a:latin typeface="Montserrat"/>
                <a:ea typeface="Montserrat"/>
                <a:cs typeface="Montserrat"/>
                <a:sym typeface="Montserrat"/>
              </a:rPr>
              <a:t>, not</a:t>
            </a:r>
            <a:r>
              <a:rPr lang="en-US" sz="2091" strike="noStrike" u="none">
                <a:solidFill>
                  <a:srgbClr val="FFFFFF"/>
                </a:solidFill>
                <a:latin typeface="Montserrat"/>
                <a:ea typeface="Montserrat"/>
                <a:cs typeface="Montserrat"/>
                <a:sym typeface="Montserrat"/>
              </a:rPr>
              <a:t> the</a:t>
            </a:r>
            <a:r>
              <a:rPr lang="en-US" sz="2091" strike="noStrike" u="none">
                <a:solidFill>
                  <a:srgbClr val="FFFFFF"/>
                </a:solidFill>
                <a:latin typeface="Montserrat"/>
                <a:ea typeface="Montserrat"/>
                <a:cs typeface="Montserrat"/>
                <a:sym typeface="Montserrat"/>
              </a:rPr>
              <a:t> acquisition la</a:t>
            </a:r>
            <a:r>
              <a:rPr lang="en-US" sz="2091" strike="noStrike" u="none">
                <a:solidFill>
                  <a:srgbClr val="FFFFFF"/>
                </a:solidFill>
                <a:latin typeface="Montserrat"/>
                <a:ea typeface="Montserrat"/>
                <a:cs typeface="Montserrat"/>
                <a:sym typeface="Montserrat"/>
              </a:rPr>
              <a:t>y</a:t>
            </a:r>
            <a:r>
              <a:rPr lang="en-US" sz="2091" strike="noStrike" u="none">
                <a:solidFill>
                  <a:srgbClr val="FFFFFF"/>
                </a:solidFill>
                <a:latin typeface="Montserrat"/>
                <a:ea typeface="Montserrat"/>
                <a:cs typeface="Montserrat"/>
                <a:sym typeface="Montserrat"/>
              </a:rPr>
              <a:t>e</a:t>
            </a:r>
            <a:r>
              <a:rPr lang="en-US" sz="2091" strike="noStrike" u="none">
                <a:solidFill>
                  <a:srgbClr val="FFFFFF"/>
                </a:solidFill>
                <a:latin typeface="Montserrat"/>
                <a:ea typeface="Montserrat"/>
                <a:cs typeface="Montserrat"/>
                <a:sym typeface="Montserrat"/>
              </a:rPr>
              <a:t>r</a:t>
            </a:r>
            <a:r>
              <a:rPr lang="en-US" sz="2091" strike="noStrike" u="none">
                <a:solidFill>
                  <a:srgbClr val="FFFFFF"/>
                </a:solidFill>
                <a:latin typeface="Montserrat"/>
                <a:ea typeface="Montserrat"/>
                <a:cs typeface="Montserrat"/>
                <a:sym typeface="Montserrat"/>
              </a:rPr>
              <a:t>.</a:t>
            </a:r>
          </a:p>
        </p:txBody>
      </p:sp>
      <p:sp>
        <p:nvSpPr>
          <p:cNvPr name="TextBox 20" id="20"/>
          <p:cNvSpPr txBox="true"/>
          <p:nvPr/>
        </p:nvSpPr>
        <p:spPr>
          <a:xfrm rot="0">
            <a:off x="2890970" y="5479910"/>
            <a:ext cx="7347895" cy="1378950"/>
          </a:xfrm>
          <a:prstGeom prst="rect">
            <a:avLst/>
          </a:prstGeom>
        </p:spPr>
        <p:txBody>
          <a:bodyPr anchor="t" rtlCol="false" tIns="0" lIns="0" bIns="0" rIns="0">
            <a:spAutoFit/>
          </a:bodyPr>
          <a:lstStyle/>
          <a:p>
            <a:pPr algn="l" marL="0" indent="0" lvl="0">
              <a:lnSpc>
                <a:spcPts val="2219"/>
              </a:lnSpc>
              <a:spcBef>
                <a:spcPct val="0"/>
              </a:spcBef>
            </a:pPr>
            <a:r>
              <a:rPr lang="en-US" sz="1585">
                <a:solidFill>
                  <a:srgbClr val="FFFFFF"/>
                </a:solidFill>
                <a:latin typeface="Montserrat"/>
                <a:ea typeface="Montserrat"/>
                <a:cs typeface="Montserrat"/>
                <a:sym typeface="Montserrat"/>
              </a:rPr>
              <a:t>Launch a structured </a:t>
            </a:r>
            <a:r>
              <a:rPr lang="en-US" sz="1585" strike="noStrike" u="none">
                <a:solidFill>
                  <a:srgbClr val="FFFFFF"/>
                </a:solidFill>
                <a:latin typeface="Montserrat"/>
                <a:ea typeface="Montserrat"/>
                <a:cs typeface="Montserrat"/>
                <a:sym typeface="Montserrat"/>
              </a:rPr>
              <a:t>A/B test</a:t>
            </a:r>
            <a:r>
              <a:rPr lang="en-US" sz="1585" strike="noStrike" u="none">
                <a:solidFill>
                  <a:srgbClr val="FFFFFF"/>
                </a:solidFill>
                <a:latin typeface="Montserrat"/>
                <a:ea typeface="Montserrat"/>
                <a:cs typeface="Montserrat"/>
                <a:sym typeface="Montserrat"/>
              </a:rPr>
              <a:t> on the</a:t>
            </a:r>
            <a:r>
              <a:rPr lang="en-US" sz="1585" strike="noStrike" u="none">
                <a:solidFill>
                  <a:srgbClr val="FFFFFF"/>
                </a:solidFill>
                <a:latin typeface="Montserrat"/>
                <a:ea typeface="Montserrat"/>
                <a:cs typeface="Montserrat"/>
                <a:sym typeface="Montserrat"/>
              </a:rPr>
              <a:t> product detail page within 30 days:</a:t>
            </a:r>
          </a:p>
          <a:p>
            <a:pPr algn="l" marL="342337" indent="-171168" lvl="1">
              <a:lnSpc>
                <a:spcPts val="2219"/>
              </a:lnSpc>
              <a:spcBef>
                <a:spcPct val="0"/>
              </a:spcBef>
              <a:buFont typeface="Arial"/>
              <a:buChar char="•"/>
            </a:pPr>
            <a:r>
              <a:rPr lang="en-US" sz="1585" strike="noStrike" u="none">
                <a:solidFill>
                  <a:srgbClr val="FFFFFF"/>
                </a:solidFill>
                <a:latin typeface="Montserrat"/>
                <a:ea typeface="Montserrat"/>
                <a:cs typeface="Montserrat"/>
                <a:sym typeface="Montserrat"/>
              </a:rPr>
              <a:t>Hero image:</a:t>
            </a:r>
            <a:r>
              <a:rPr lang="en-US" sz="1585" strike="noStrike" u="none">
                <a:solidFill>
                  <a:srgbClr val="FFFFFF"/>
                </a:solidFill>
                <a:latin typeface="Montserrat"/>
                <a:ea typeface="Montserrat"/>
                <a:cs typeface="Montserrat"/>
                <a:sym typeface="Montserrat"/>
              </a:rPr>
              <a:t> lifestyle photography </a:t>
            </a:r>
            <a:r>
              <a:rPr lang="en-US" sz="1585" strike="noStrike" u="none">
                <a:solidFill>
                  <a:srgbClr val="FFFFFF"/>
                </a:solidFill>
                <a:latin typeface="Montserrat"/>
                <a:ea typeface="Montserrat"/>
                <a:cs typeface="Montserrat"/>
                <a:sym typeface="Montserrat"/>
              </a:rPr>
              <a:t>vs product-only</a:t>
            </a:r>
          </a:p>
          <a:p>
            <a:pPr algn="l" marL="342337" indent="-171168" lvl="1">
              <a:lnSpc>
                <a:spcPts val="2219"/>
              </a:lnSpc>
              <a:spcBef>
                <a:spcPct val="0"/>
              </a:spcBef>
              <a:buFont typeface="Arial"/>
              <a:buChar char="•"/>
            </a:pPr>
            <a:r>
              <a:rPr lang="en-US" sz="1585" strike="noStrike" u="none">
                <a:solidFill>
                  <a:srgbClr val="FFFFFF"/>
                </a:solidFill>
                <a:latin typeface="Montserrat"/>
                <a:ea typeface="Montserrat"/>
                <a:cs typeface="Montserrat"/>
                <a:sym typeface="Montserrat"/>
              </a:rPr>
              <a:t>Social proof: customer</a:t>
            </a:r>
            <a:r>
              <a:rPr lang="en-US" sz="1585" strike="noStrike" u="none">
                <a:solidFill>
                  <a:srgbClr val="FFFFFF"/>
                </a:solidFill>
                <a:latin typeface="Montserrat"/>
                <a:ea typeface="Montserrat"/>
                <a:cs typeface="Montserrat"/>
                <a:sym typeface="Montserrat"/>
              </a:rPr>
              <a:t> review count </a:t>
            </a:r>
            <a:r>
              <a:rPr lang="en-US" sz="1585" strike="noStrike" u="none">
                <a:solidFill>
                  <a:srgbClr val="FFFFFF"/>
                </a:solidFill>
                <a:latin typeface="Montserrat"/>
                <a:ea typeface="Montserrat"/>
                <a:cs typeface="Montserrat"/>
                <a:sym typeface="Montserrat"/>
              </a:rPr>
              <a:t>+</a:t>
            </a:r>
            <a:r>
              <a:rPr lang="en-US" sz="1585" strike="noStrike" u="none">
                <a:solidFill>
                  <a:srgbClr val="FFFFFF"/>
                </a:solidFill>
                <a:latin typeface="Montserrat"/>
                <a:ea typeface="Montserrat"/>
                <a:cs typeface="Montserrat"/>
                <a:sym typeface="Montserrat"/>
              </a:rPr>
              <a:t> </a:t>
            </a:r>
            <a:r>
              <a:rPr lang="en-US" sz="1585" strike="noStrike" u="none">
                <a:solidFill>
                  <a:srgbClr val="FFFFFF"/>
                </a:solidFill>
                <a:latin typeface="Montserrat"/>
                <a:ea typeface="Montserrat"/>
                <a:cs typeface="Montserrat"/>
                <a:sym typeface="Montserrat"/>
              </a:rPr>
              <a:t>star rating</a:t>
            </a:r>
          </a:p>
          <a:p>
            <a:pPr algn="l" marL="342337" indent="-171168" lvl="1">
              <a:lnSpc>
                <a:spcPts val="2219"/>
              </a:lnSpc>
              <a:spcBef>
                <a:spcPct val="0"/>
              </a:spcBef>
              <a:buFont typeface="Arial"/>
              <a:buChar char="•"/>
            </a:pPr>
            <a:r>
              <a:rPr lang="en-US" sz="1585" strike="noStrike" u="none">
                <a:solidFill>
                  <a:srgbClr val="FFFFFF"/>
                </a:solidFill>
                <a:latin typeface="Montserrat"/>
                <a:ea typeface="Montserrat"/>
                <a:cs typeface="Montserrat"/>
                <a:sym typeface="Montserrat"/>
              </a:rPr>
              <a:t>CTA</a:t>
            </a:r>
            <a:r>
              <a:rPr lang="en-US" sz="1585" strike="noStrike" u="none">
                <a:solidFill>
                  <a:srgbClr val="FFFFFF"/>
                </a:solidFill>
                <a:latin typeface="Montserrat"/>
                <a:ea typeface="Montserrat"/>
                <a:cs typeface="Montserrat"/>
                <a:sym typeface="Montserrat"/>
              </a:rPr>
              <a:t>: button size, colour,</a:t>
            </a:r>
            <a:r>
              <a:rPr lang="en-US" sz="1585" strike="noStrike" u="none">
                <a:solidFill>
                  <a:srgbClr val="FFFFFF"/>
                </a:solidFill>
                <a:latin typeface="Montserrat"/>
                <a:ea typeface="Montserrat"/>
                <a:cs typeface="Montserrat"/>
                <a:sym typeface="Montserrat"/>
              </a:rPr>
              <a:t> wording</a:t>
            </a:r>
          </a:p>
          <a:p>
            <a:pPr algn="l" marL="342337" indent="-171168" lvl="1">
              <a:lnSpc>
                <a:spcPts val="2219"/>
              </a:lnSpc>
              <a:spcBef>
                <a:spcPct val="0"/>
              </a:spcBef>
              <a:buFont typeface="Arial"/>
              <a:buChar char="•"/>
            </a:pPr>
            <a:r>
              <a:rPr lang="en-US" sz="1585" strike="noStrike" u="none">
                <a:solidFill>
                  <a:srgbClr val="FFFFFF"/>
                </a:solidFill>
                <a:latin typeface="Montserrat"/>
                <a:ea typeface="Montserrat"/>
                <a:cs typeface="Montserrat"/>
                <a:sym typeface="Montserrat"/>
              </a:rPr>
              <a:t>G</a:t>
            </a:r>
            <a:r>
              <a:rPr lang="en-US" sz="1585" strike="noStrike" u="none">
                <a:solidFill>
                  <a:srgbClr val="FFFFFF"/>
                </a:solidFill>
                <a:latin typeface="Montserrat"/>
                <a:ea typeface="Montserrat"/>
                <a:cs typeface="Montserrat"/>
                <a:sym typeface="Montserrat"/>
              </a:rPr>
              <a:t>ift</a:t>
            </a:r>
            <a:r>
              <a:rPr lang="en-US" sz="1585" strike="noStrike" u="none">
                <a:solidFill>
                  <a:srgbClr val="FFFFFF"/>
                </a:solidFill>
                <a:latin typeface="Montserrat"/>
                <a:ea typeface="Montserrat"/>
                <a:cs typeface="Montserrat"/>
                <a:sym typeface="Montserrat"/>
              </a:rPr>
              <a:t>-use</a:t>
            </a:r>
            <a:r>
              <a:rPr lang="en-US" sz="1585" strike="noStrike" u="none">
                <a:solidFill>
                  <a:srgbClr val="FFFFFF"/>
                </a:solidFill>
                <a:latin typeface="Montserrat"/>
                <a:ea typeface="Montserrat"/>
                <a:cs typeface="Montserrat"/>
                <a:sym typeface="Montserrat"/>
              </a:rPr>
              <a:t> prompts</a:t>
            </a:r>
            <a:r>
              <a:rPr lang="en-US" sz="1585" strike="noStrike" u="none">
                <a:solidFill>
                  <a:srgbClr val="FFFFFF"/>
                </a:solidFill>
                <a:latin typeface="Montserrat"/>
                <a:ea typeface="Montserrat"/>
                <a:cs typeface="Montserrat"/>
                <a:sym typeface="Montserrat"/>
              </a:rPr>
              <a:t> and size guidance</a:t>
            </a:r>
          </a:p>
        </p:txBody>
      </p:sp>
      <p:sp>
        <p:nvSpPr>
          <p:cNvPr name="TextBox 21" id="21"/>
          <p:cNvSpPr txBox="true"/>
          <p:nvPr/>
        </p:nvSpPr>
        <p:spPr>
          <a:xfrm rot="0">
            <a:off x="2780796" y="7450782"/>
            <a:ext cx="7568243" cy="1395804"/>
          </a:xfrm>
          <a:prstGeom prst="rect">
            <a:avLst/>
          </a:prstGeom>
        </p:spPr>
        <p:txBody>
          <a:bodyPr anchor="t" rtlCol="false" tIns="0" lIns="0" bIns="0" rIns="0">
            <a:spAutoFit/>
          </a:bodyPr>
          <a:lstStyle/>
          <a:p>
            <a:pPr algn="l" marL="339848" indent="-169924" lvl="1">
              <a:lnSpc>
                <a:spcPts val="2203"/>
              </a:lnSpc>
              <a:buFont typeface="Arial"/>
              <a:buChar char="•"/>
            </a:pPr>
            <a:r>
              <a:rPr lang="en-US" sz="1574">
                <a:solidFill>
                  <a:srgbClr val="FFFFFF"/>
                </a:solidFill>
                <a:latin typeface="Montserrat"/>
                <a:ea typeface="Montserrat"/>
                <a:cs typeface="Montserrat"/>
                <a:sym typeface="Montserrat"/>
              </a:rPr>
              <a:t>+10pp lift = $2,446/month incremental revenue</a:t>
            </a:r>
          </a:p>
          <a:p>
            <a:pPr algn="l" marL="339848" indent="-169924" lvl="1">
              <a:lnSpc>
                <a:spcPts val="2203"/>
              </a:lnSpc>
              <a:buFont typeface="Arial"/>
              <a:buChar char="•"/>
            </a:pPr>
            <a:r>
              <a:rPr lang="en-US" sz="1574">
                <a:solidFill>
                  <a:srgbClr val="FFFFFF"/>
                </a:solidFill>
                <a:latin typeface="Montserrat"/>
                <a:ea typeface="Montserrat"/>
                <a:cs typeface="Montserrat"/>
                <a:sym typeface="Montserrat"/>
              </a:rPr>
              <a:t>Same methodology that returned $27,800/month from billing page</a:t>
            </a:r>
          </a:p>
          <a:p>
            <a:pPr algn="l" marL="339848" indent="-169924" lvl="1">
              <a:lnSpc>
                <a:spcPts val="2203"/>
              </a:lnSpc>
              <a:spcBef>
                <a:spcPct val="0"/>
              </a:spcBef>
              <a:buFont typeface="Arial"/>
              <a:buChar char="•"/>
            </a:pPr>
            <a:r>
              <a:rPr lang="en-US" sz="1574" strike="noStrike" u="none">
                <a:solidFill>
                  <a:srgbClr val="FFFFFF"/>
                </a:solidFill>
                <a:latin typeface="Montserrat"/>
                <a:ea typeface="Montserrat"/>
                <a:cs typeface="Montserrat"/>
                <a:sym typeface="Montserrat"/>
              </a:rPr>
              <a:t>Target: 43.4% → 53%+ within 90 days</a:t>
            </a:r>
          </a:p>
          <a:p>
            <a:pPr algn="l" marL="339848" indent="-169924" lvl="1">
              <a:lnSpc>
                <a:spcPts val="2203"/>
              </a:lnSpc>
              <a:spcBef>
                <a:spcPct val="0"/>
              </a:spcBef>
              <a:buFont typeface="Arial"/>
              <a:buChar char="•"/>
            </a:pPr>
            <a:r>
              <a:rPr lang="en-US" sz="1574" strike="noStrike" u="none">
                <a:solidFill>
                  <a:srgbClr val="FFFFFF"/>
                </a:solidFill>
                <a:latin typeface="Montserrat"/>
                <a:ea typeface="Montserrat"/>
                <a:cs typeface="Montserrat"/>
                <a:sym typeface="Montserrat"/>
              </a:rPr>
              <a:t>KPI: </a:t>
            </a:r>
            <a:r>
              <a:rPr lang="en-US" sz="1574" strike="noStrike" u="none">
                <a:solidFill>
                  <a:srgbClr val="FFFFFF"/>
                </a:solidFill>
                <a:latin typeface="Montserrat"/>
                <a:ea typeface="Montserrat"/>
                <a:cs typeface="Montserrat"/>
                <a:sym typeface="Montserrat"/>
              </a:rPr>
              <a:t>product </a:t>
            </a:r>
            <a:r>
              <a:rPr lang="en-US" sz="1574" strike="noStrike" u="none">
                <a:solidFill>
                  <a:srgbClr val="FFFFFF"/>
                </a:solidFill>
                <a:latin typeface="Montserrat"/>
                <a:ea typeface="Montserrat"/>
                <a:cs typeface="Montserrat"/>
                <a:sym typeface="Montserrat"/>
              </a:rPr>
              <a:t>detail</a:t>
            </a:r>
            <a:r>
              <a:rPr lang="en-US" sz="1574" strike="noStrike" u="none">
                <a:solidFill>
                  <a:srgbClr val="FFFFFF"/>
                </a:solidFill>
                <a:latin typeface="Montserrat"/>
                <a:ea typeface="Montserrat"/>
                <a:cs typeface="Montserrat"/>
                <a:sym typeface="Montserrat"/>
              </a:rPr>
              <a:t> </a:t>
            </a:r>
            <a:r>
              <a:rPr lang="en-US" sz="1574" strike="noStrike" u="none">
                <a:solidFill>
                  <a:srgbClr val="FFFFFF"/>
                </a:solidFill>
                <a:latin typeface="Montserrat"/>
                <a:ea typeface="Montserrat"/>
                <a:cs typeface="Montserrat"/>
                <a:sym typeface="Montserrat"/>
              </a:rPr>
              <a:t>→</a:t>
            </a:r>
            <a:r>
              <a:rPr lang="en-US" sz="1574" strike="noStrike" u="none">
                <a:solidFill>
                  <a:srgbClr val="FFFFFF"/>
                </a:solidFill>
                <a:latin typeface="Montserrat"/>
                <a:ea typeface="Montserrat"/>
                <a:cs typeface="Montserrat"/>
                <a:sym typeface="Montserrat"/>
              </a:rPr>
              <a:t> </a:t>
            </a:r>
            <a:r>
              <a:rPr lang="en-US" sz="1574" strike="noStrike" u="none">
                <a:solidFill>
                  <a:srgbClr val="FFFFFF"/>
                </a:solidFill>
                <a:latin typeface="Montserrat"/>
                <a:ea typeface="Montserrat"/>
                <a:cs typeface="Montserrat"/>
                <a:sym typeface="Montserrat"/>
              </a:rPr>
              <a:t>cart conversion rate </a:t>
            </a:r>
            <a:r>
              <a:rPr lang="en-US" sz="1574" strike="noStrike" u="none">
                <a:solidFill>
                  <a:srgbClr val="FFFFFF"/>
                </a:solidFill>
                <a:latin typeface="Montserrat"/>
                <a:ea typeface="Montserrat"/>
                <a:cs typeface="Montserrat"/>
                <a:sym typeface="Montserrat"/>
              </a:rPr>
              <a:t>—</a:t>
            </a:r>
            <a:r>
              <a:rPr lang="en-US" sz="1574" strike="noStrike" u="none">
                <a:solidFill>
                  <a:srgbClr val="FFFFFF"/>
                </a:solidFill>
                <a:latin typeface="Montserrat"/>
                <a:ea typeface="Montserrat"/>
                <a:cs typeface="Montserrat"/>
                <a:sym typeface="Montserrat"/>
              </a:rPr>
              <a:t> </a:t>
            </a:r>
            <a:r>
              <a:rPr lang="en-US" sz="1574" strike="noStrike" u="none">
                <a:solidFill>
                  <a:srgbClr val="FFFFFF"/>
                </a:solidFill>
                <a:latin typeface="Montserrat"/>
                <a:ea typeface="Montserrat"/>
                <a:cs typeface="Montserrat"/>
                <a:sym typeface="Montserrat"/>
              </a:rPr>
              <a:t>reviewed</a:t>
            </a:r>
            <a:r>
              <a:rPr lang="en-US" sz="1574" strike="noStrike" u="none">
                <a:solidFill>
                  <a:srgbClr val="FFFFFF"/>
                </a:solidFill>
                <a:latin typeface="Montserrat"/>
                <a:ea typeface="Montserrat"/>
                <a:cs typeface="Montserrat"/>
                <a:sym typeface="Montserrat"/>
              </a:rPr>
              <a:t> </a:t>
            </a:r>
            <a:r>
              <a:rPr lang="en-US" sz="1574" strike="noStrike" u="none">
                <a:solidFill>
                  <a:srgbClr val="FFFFFF"/>
                </a:solidFill>
                <a:latin typeface="Montserrat"/>
                <a:ea typeface="Montserrat"/>
                <a:cs typeface="Montserrat"/>
                <a:sym typeface="Montserrat"/>
              </a:rPr>
              <a:t>weekly</a:t>
            </a:r>
          </a:p>
          <a:p>
            <a:pPr algn="l" marL="0" indent="0" lvl="0">
              <a:lnSpc>
                <a:spcPts val="2203"/>
              </a:lnSpc>
              <a:spcBef>
                <a:spcPct val="0"/>
              </a:spcBef>
            </a:pPr>
          </a:p>
        </p:txBody>
      </p:sp>
      <p:sp>
        <p:nvSpPr>
          <p:cNvPr name="TextBox 22" id="22"/>
          <p:cNvSpPr txBox="true"/>
          <p:nvPr/>
        </p:nvSpPr>
        <p:spPr>
          <a:xfrm rot="0">
            <a:off x="7964510" y="9240878"/>
            <a:ext cx="9956874" cy="684359"/>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Montserrat"/>
                <a:ea typeface="Montserrat"/>
                <a:cs typeface="Montserrat"/>
                <a:sym typeface="Montserrat"/>
              </a:rPr>
              <a:t>Trade-off: Fixing this step requires dev + design time. Risk: if test fails to lift, no revenue gain. Mitigation: run test for minimum 2 weeks before declaring winner.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2194124" y="1424725"/>
            <a:ext cx="6063921" cy="3745338"/>
            <a:chOff x="0" y="0"/>
            <a:chExt cx="1597082" cy="986426"/>
          </a:xfrm>
        </p:grpSpPr>
        <p:sp>
          <p:nvSpPr>
            <p:cNvPr name="Freeform 3" id="3"/>
            <p:cNvSpPr/>
            <p:nvPr/>
          </p:nvSpPr>
          <p:spPr>
            <a:xfrm flipH="false" flipV="false" rot="0">
              <a:off x="0" y="0"/>
              <a:ext cx="1597082" cy="986426"/>
            </a:xfrm>
            <a:custGeom>
              <a:avLst/>
              <a:gdLst/>
              <a:ahLst/>
              <a:cxnLst/>
              <a:rect r="r" b="b" t="t" l="l"/>
              <a:pathLst>
                <a:path h="986426" w="1597082">
                  <a:moveTo>
                    <a:pt x="34471" y="0"/>
                  </a:moveTo>
                  <a:lnTo>
                    <a:pt x="1562611" y="0"/>
                  </a:lnTo>
                  <a:cubicBezTo>
                    <a:pt x="1581649" y="0"/>
                    <a:pt x="1597082" y="15433"/>
                    <a:pt x="1597082" y="34471"/>
                  </a:cubicBezTo>
                  <a:lnTo>
                    <a:pt x="1597082" y="951955"/>
                  </a:lnTo>
                  <a:cubicBezTo>
                    <a:pt x="1597082" y="961097"/>
                    <a:pt x="1593450" y="969865"/>
                    <a:pt x="1586986" y="976330"/>
                  </a:cubicBezTo>
                  <a:cubicBezTo>
                    <a:pt x="1580521" y="982795"/>
                    <a:pt x="1571753" y="986426"/>
                    <a:pt x="1562611" y="986426"/>
                  </a:cubicBezTo>
                  <a:lnTo>
                    <a:pt x="34471" y="986426"/>
                  </a:lnTo>
                  <a:cubicBezTo>
                    <a:pt x="25329" y="986426"/>
                    <a:pt x="16561" y="982795"/>
                    <a:pt x="10096" y="976330"/>
                  </a:cubicBezTo>
                  <a:cubicBezTo>
                    <a:pt x="3632" y="969865"/>
                    <a:pt x="0" y="961097"/>
                    <a:pt x="0" y="951955"/>
                  </a:cubicBezTo>
                  <a:lnTo>
                    <a:pt x="0" y="34471"/>
                  </a:lnTo>
                  <a:cubicBezTo>
                    <a:pt x="0" y="25329"/>
                    <a:pt x="3632" y="16561"/>
                    <a:pt x="10096" y="10096"/>
                  </a:cubicBezTo>
                  <a:cubicBezTo>
                    <a:pt x="16561" y="3632"/>
                    <a:pt x="25329" y="0"/>
                    <a:pt x="34471"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4" id="4"/>
            <p:cNvSpPr txBox="true"/>
            <p:nvPr/>
          </p:nvSpPr>
          <p:spPr>
            <a:xfrm>
              <a:off x="0" y="47625"/>
              <a:ext cx="1597082" cy="938801"/>
            </a:xfrm>
            <a:prstGeom prst="rect">
              <a:avLst/>
            </a:prstGeom>
          </p:spPr>
          <p:txBody>
            <a:bodyPr anchor="ctr" rtlCol="false" tIns="50800" lIns="50800" bIns="50800" rIns="50800"/>
            <a:lstStyle/>
            <a:p>
              <a:pPr algn="ctr">
                <a:lnSpc>
                  <a:spcPts val="1924"/>
                </a:lnSpc>
              </a:pPr>
            </a:p>
          </p:txBody>
        </p:sp>
      </p:grpSp>
      <p:grpSp>
        <p:nvGrpSpPr>
          <p:cNvPr name="Group 5" id="5"/>
          <p:cNvGrpSpPr/>
          <p:nvPr/>
        </p:nvGrpSpPr>
        <p:grpSpPr>
          <a:xfrm rot="0">
            <a:off x="9547241" y="1424725"/>
            <a:ext cx="6063921" cy="3745338"/>
            <a:chOff x="0" y="0"/>
            <a:chExt cx="1597082" cy="986426"/>
          </a:xfrm>
        </p:grpSpPr>
        <p:sp>
          <p:nvSpPr>
            <p:cNvPr name="Freeform 6" id="6"/>
            <p:cNvSpPr/>
            <p:nvPr/>
          </p:nvSpPr>
          <p:spPr>
            <a:xfrm flipH="false" flipV="false" rot="0">
              <a:off x="0" y="0"/>
              <a:ext cx="1597082" cy="986426"/>
            </a:xfrm>
            <a:custGeom>
              <a:avLst/>
              <a:gdLst/>
              <a:ahLst/>
              <a:cxnLst/>
              <a:rect r="r" b="b" t="t" l="l"/>
              <a:pathLst>
                <a:path h="986426" w="1597082">
                  <a:moveTo>
                    <a:pt x="34471" y="0"/>
                  </a:moveTo>
                  <a:lnTo>
                    <a:pt x="1562611" y="0"/>
                  </a:lnTo>
                  <a:cubicBezTo>
                    <a:pt x="1581649" y="0"/>
                    <a:pt x="1597082" y="15433"/>
                    <a:pt x="1597082" y="34471"/>
                  </a:cubicBezTo>
                  <a:lnTo>
                    <a:pt x="1597082" y="951955"/>
                  </a:lnTo>
                  <a:cubicBezTo>
                    <a:pt x="1597082" y="961097"/>
                    <a:pt x="1593450" y="969865"/>
                    <a:pt x="1586986" y="976330"/>
                  </a:cubicBezTo>
                  <a:cubicBezTo>
                    <a:pt x="1580521" y="982795"/>
                    <a:pt x="1571753" y="986426"/>
                    <a:pt x="1562611" y="986426"/>
                  </a:cubicBezTo>
                  <a:lnTo>
                    <a:pt x="34471" y="986426"/>
                  </a:lnTo>
                  <a:cubicBezTo>
                    <a:pt x="25329" y="986426"/>
                    <a:pt x="16561" y="982795"/>
                    <a:pt x="10096" y="976330"/>
                  </a:cubicBezTo>
                  <a:cubicBezTo>
                    <a:pt x="3632" y="969865"/>
                    <a:pt x="0" y="961097"/>
                    <a:pt x="0" y="951955"/>
                  </a:cubicBezTo>
                  <a:lnTo>
                    <a:pt x="0" y="34471"/>
                  </a:lnTo>
                  <a:cubicBezTo>
                    <a:pt x="0" y="25329"/>
                    <a:pt x="3632" y="16561"/>
                    <a:pt x="10096" y="10096"/>
                  </a:cubicBezTo>
                  <a:cubicBezTo>
                    <a:pt x="16561" y="3632"/>
                    <a:pt x="25329" y="0"/>
                    <a:pt x="34471"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7" id="7"/>
            <p:cNvSpPr txBox="true"/>
            <p:nvPr/>
          </p:nvSpPr>
          <p:spPr>
            <a:xfrm>
              <a:off x="0" y="47625"/>
              <a:ext cx="1597082" cy="938801"/>
            </a:xfrm>
            <a:prstGeom prst="rect">
              <a:avLst/>
            </a:prstGeom>
          </p:spPr>
          <p:txBody>
            <a:bodyPr anchor="ctr" rtlCol="false" tIns="50800" lIns="50800" bIns="50800" rIns="50800"/>
            <a:lstStyle/>
            <a:p>
              <a:pPr algn="ctr">
                <a:lnSpc>
                  <a:spcPts val="1924"/>
                </a:lnSpc>
              </a:pPr>
            </a:p>
          </p:txBody>
        </p:sp>
      </p:grpSp>
      <p:grpSp>
        <p:nvGrpSpPr>
          <p:cNvPr name="Group 8" id="8"/>
          <p:cNvGrpSpPr/>
          <p:nvPr/>
        </p:nvGrpSpPr>
        <p:grpSpPr>
          <a:xfrm rot="0">
            <a:off x="2194124" y="5170062"/>
            <a:ext cx="6063921" cy="3745338"/>
            <a:chOff x="0" y="0"/>
            <a:chExt cx="1597082" cy="986426"/>
          </a:xfrm>
        </p:grpSpPr>
        <p:sp>
          <p:nvSpPr>
            <p:cNvPr name="Freeform 9" id="9"/>
            <p:cNvSpPr/>
            <p:nvPr/>
          </p:nvSpPr>
          <p:spPr>
            <a:xfrm flipH="false" flipV="false" rot="0">
              <a:off x="0" y="0"/>
              <a:ext cx="1597082" cy="986426"/>
            </a:xfrm>
            <a:custGeom>
              <a:avLst/>
              <a:gdLst/>
              <a:ahLst/>
              <a:cxnLst/>
              <a:rect r="r" b="b" t="t" l="l"/>
              <a:pathLst>
                <a:path h="986426" w="1597082">
                  <a:moveTo>
                    <a:pt x="34471" y="0"/>
                  </a:moveTo>
                  <a:lnTo>
                    <a:pt x="1562611" y="0"/>
                  </a:lnTo>
                  <a:cubicBezTo>
                    <a:pt x="1581649" y="0"/>
                    <a:pt x="1597082" y="15433"/>
                    <a:pt x="1597082" y="34471"/>
                  </a:cubicBezTo>
                  <a:lnTo>
                    <a:pt x="1597082" y="951955"/>
                  </a:lnTo>
                  <a:cubicBezTo>
                    <a:pt x="1597082" y="961097"/>
                    <a:pt x="1593450" y="969865"/>
                    <a:pt x="1586986" y="976330"/>
                  </a:cubicBezTo>
                  <a:cubicBezTo>
                    <a:pt x="1580521" y="982795"/>
                    <a:pt x="1571753" y="986426"/>
                    <a:pt x="1562611" y="986426"/>
                  </a:cubicBezTo>
                  <a:lnTo>
                    <a:pt x="34471" y="986426"/>
                  </a:lnTo>
                  <a:cubicBezTo>
                    <a:pt x="25329" y="986426"/>
                    <a:pt x="16561" y="982795"/>
                    <a:pt x="10096" y="976330"/>
                  </a:cubicBezTo>
                  <a:cubicBezTo>
                    <a:pt x="3632" y="969865"/>
                    <a:pt x="0" y="961097"/>
                    <a:pt x="0" y="951955"/>
                  </a:cubicBezTo>
                  <a:lnTo>
                    <a:pt x="0" y="34471"/>
                  </a:lnTo>
                  <a:cubicBezTo>
                    <a:pt x="0" y="25329"/>
                    <a:pt x="3632" y="16561"/>
                    <a:pt x="10096" y="10096"/>
                  </a:cubicBezTo>
                  <a:cubicBezTo>
                    <a:pt x="16561" y="3632"/>
                    <a:pt x="25329" y="0"/>
                    <a:pt x="34471"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0" id="10"/>
            <p:cNvSpPr txBox="true"/>
            <p:nvPr/>
          </p:nvSpPr>
          <p:spPr>
            <a:xfrm>
              <a:off x="0" y="47625"/>
              <a:ext cx="1597082" cy="938801"/>
            </a:xfrm>
            <a:prstGeom prst="rect">
              <a:avLst/>
            </a:prstGeom>
          </p:spPr>
          <p:txBody>
            <a:bodyPr anchor="ctr" rtlCol="false" tIns="50800" lIns="50800" bIns="50800" rIns="50800"/>
            <a:lstStyle/>
            <a:p>
              <a:pPr algn="ctr">
                <a:lnSpc>
                  <a:spcPts val="1924"/>
                </a:lnSpc>
              </a:pPr>
            </a:p>
          </p:txBody>
        </p:sp>
      </p:grpSp>
      <p:grpSp>
        <p:nvGrpSpPr>
          <p:cNvPr name="Group 11" id="11"/>
          <p:cNvGrpSpPr/>
          <p:nvPr/>
        </p:nvGrpSpPr>
        <p:grpSpPr>
          <a:xfrm rot="0">
            <a:off x="9547241" y="5170062"/>
            <a:ext cx="6063921" cy="3745338"/>
            <a:chOff x="0" y="0"/>
            <a:chExt cx="1597082" cy="986426"/>
          </a:xfrm>
        </p:grpSpPr>
        <p:sp>
          <p:nvSpPr>
            <p:cNvPr name="Freeform 12" id="12"/>
            <p:cNvSpPr/>
            <p:nvPr/>
          </p:nvSpPr>
          <p:spPr>
            <a:xfrm flipH="false" flipV="false" rot="0">
              <a:off x="0" y="0"/>
              <a:ext cx="1597082" cy="986426"/>
            </a:xfrm>
            <a:custGeom>
              <a:avLst/>
              <a:gdLst/>
              <a:ahLst/>
              <a:cxnLst/>
              <a:rect r="r" b="b" t="t" l="l"/>
              <a:pathLst>
                <a:path h="986426" w="1597082">
                  <a:moveTo>
                    <a:pt x="34471" y="0"/>
                  </a:moveTo>
                  <a:lnTo>
                    <a:pt x="1562611" y="0"/>
                  </a:lnTo>
                  <a:cubicBezTo>
                    <a:pt x="1581649" y="0"/>
                    <a:pt x="1597082" y="15433"/>
                    <a:pt x="1597082" y="34471"/>
                  </a:cubicBezTo>
                  <a:lnTo>
                    <a:pt x="1597082" y="951955"/>
                  </a:lnTo>
                  <a:cubicBezTo>
                    <a:pt x="1597082" y="961097"/>
                    <a:pt x="1593450" y="969865"/>
                    <a:pt x="1586986" y="976330"/>
                  </a:cubicBezTo>
                  <a:cubicBezTo>
                    <a:pt x="1580521" y="982795"/>
                    <a:pt x="1571753" y="986426"/>
                    <a:pt x="1562611" y="986426"/>
                  </a:cubicBezTo>
                  <a:lnTo>
                    <a:pt x="34471" y="986426"/>
                  </a:lnTo>
                  <a:cubicBezTo>
                    <a:pt x="25329" y="986426"/>
                    <a:pt x="16561" y="982795"/>
                    <a:pt x="10096" y="976330"/>
                  </a:cubicBezTo>
                  <a:cubicBezTo>
                    <a:pt x="3632" y="969865"/>
                    <a:pt x="0" y="961097"/>
                    <a:pt x="0" y="951955"/>
                  </a:cubicBezTo>
                  <a:lnTo>
                    <a:pt x="0" y="34471"/>
                  </a:lnTo>
                  <a:cubicBezTo>
                    <a:pt x="0" y="25329"/>
                    <a:pt x="3632" y="16561"/>
                    <a:pt x="10096" y="10096"/>
                  </a:cubicBezTo>
                  <a:cubicBezTo>
                    <a:pt x="16561" y="3632"/>
                    <a:pt x="25329" y="0"/>
                    <a:pt x="34471"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3" id="13"/>
            <p:cNvSpPr txBox="true"/>
            <p:nvPr/>
          </p:nvSpPr>
          <p:spPr>
            <a:xfrm>
              <a:off x="0" y="47625"/>
              <a:ext cx="1597082" cy="938801"/>
            </a:xfrm>
            <a:prstGeom prst="rect">
              <a:avLst/>
            </a:prstGeom>
          </p:spPr>
          <p:txBody>
            <a:bodyPr anchor="ctr" rtlCol="false" tIns="50800" lIns="50800" bIns="50800" rIns="50800"/>
            <a:lstStyle/>
            <a:p>
              <a:pPr algn="ctr">
                <a:lnSpc>
                  <a:spcPts val="1924"/>
                </a:lnSpc>
              </a:pPr>
            </a:p>
          </p:txBody>
        </p:sp>
      </p:grpSp>
      <p:sp>
        <p:nvSpPr>
          <p:cNvPr name="TextBox 14" id="14"/>
          <p:cNvSpPr txBox="true"/>
          <p:nvPr/>
        </p:nvSpPr>
        <p:spPr>
          <a:xfrm rot="0">
            <a:off x="3288202" y="1705847"/>
            <a:ext cx="3875765"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Montserrat Bold"/>
                <a:ea typeface="Montserrat Bold"/>
                <a:cs typeface="Montserrat Bold"/>
                <a:sym typeface="Montserrat Bold"/>
              </a:rPr>
              <a:t>OBSERVATION</a:t>
            </a:r>
          </a:p>
        </p:txBody>
      </p:sp>
      <p:sp>
        <p:nvSpPr>
          <p:cNvPr name="TextBox 15" id="15"/>
          <p:cNvSpPr txBox="true"/>
          <p:nvPr/>
        </p:nvSpPr>
        <p:spPr>
          <a:xfrm rot="0">
            <a:off x="11859935" y="1705847"/>
            <a:ext cx="1696487" cy="520127"/>
          </a:xfrm>
          <a:prstGeom prst="rect">
            <a:avLst/>
          </a:prstGeom>
        </p:spPr>
        <p:txBody>
          <a:bodyPr anchor="t" rtlCol="false" tIns="0" lIns="0" bIns="0" rIns="0">
            <a:spAutoFit/>
          </a:bodyPr>
          <a:lstStyle/>
          <a:p>
            <a:pPr algn="ctr" marL="0" indent="0" lvl="0">
              <a:lnSpc>
                <a:spcPts val="4350"/>
              </a:lnSpc>
              <a:spcBef>
                <a:spcPct val="0"/>
              </a:spcBef>
            </a:pPr>
            <a:r>
              <a:rPr lang="en-US" b="true" sz="3107" strike="noStrike" u="none">
                <a:solidFill>
                  <a:srgbClr val="FFFFFF"/>
                </a:solidFill>
                <a:latin typeface="Montserrat Bold"/>
                <a:ea typeface="Montserrat Bold"/>
                <a:cs typeface="Montserrat Bold"/>
                <a:sym typeface="Montserrat Bold"/>
              </a:rPr>
              <a:t>INSIGHT</a:t>
            </a:r>
          </a:p>
        </p:txBody>
      </p:sp>
      <p:sp>
        <p:nvSpPr>
          <p:cNvPr name="Freeform 16" id="16"/>
          <p:cNvSpPr/>
          <p:nvPr/>
        </p:nvSpPr>
        <p:spPr>
          <a:xfrm flipH="false" flipV="false" rot="0">
            <a:off x="3082438" y="1556103"/>
            <a:ext cx="606006" cy="802656"/>
          </a:xfrm>
          <a:custGeom>
            <a:avLst/>
            <a:gdLst/>
            <a:ahLst/>
            <a:cxnLst/>
            <a:rect r="r" b="b" t="t" l="l"/>
            <a:pathLst>
              <a:path h="802656" w="606006">
                <a:moveTo>
                  <a:pt x="0" y="0"/>
                </a:moveTo>
                <a:lnTo>
                  <a:pt x="606006" y="0"/>
                </a:lnTo>
                <a:lnTo>
                  <a:pt x="606006" y="802657"/>
                </a:lnTo>
                <a:lnTo>
                  <a:pt x="0" y="8026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301554" y="1424725"/>
            <a:ext cx="558381" cy="754568"/>
          </a:xfrm>
          <a:custGeom>
            <a:avLst/>
            <a:gdLst/>
            <a:ahLst/>
            <a:cxnLst/>
            <a:rect r="r" b="b" t="t" l="l"/>
            <a:pathLst>
              <a:path h="754568" w="558381">
                <a:moveTo>
                  <a:pt x="0" y="0"/>
                </a:moveTo>
                <a:lnTo>
                  <a:pt x="558381" y="0"/>
                </a:lnTo>
                <a:lnTo>
                  <a:pt x="558381" y="754568"/>
                </a:lnTo>
                <a:lnTo>
                  <a:pt x="0" y="7545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3581932" y="5474608"/>
            <a:ext cx="575048" cy="500292"/>
          </a:xfrm>
          <a:custGeom>
            <a:avLst/>
            <a:gdLst/>
            <a:ahLst/>
            <a:cxnLst/>
            <a:rect r="r" b="b" t="t" l="l"/>
            <a:pathLst>
              <a:path h="500292" w="575048">
                <a:moveTo>
                  <a:pt x="0" y="0"/>
                </a:moveTo>
                <a:lnTo>
                  <a:pt x="575048" y="0"/>
                </a:lnTo>
                <a:lnTo>
                  <a:pt x="575048" y="500292"/>
                </a:lnTo>
                <a:lnTo>
                  <a:pt x="0" y="5002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1133214" y="5323458"/>
            <a:ext cx="726721" cy="726721"/>
          </a:xfrm>
          <a:custGeom>
            <a:avLst/>
            <a:gdLst/>
            <a:ahLst/>
            <a:cxnLst/>
            <a:rect r="r" b="b" t="t" l="l"/>
            <a:pathLst>
              <a:path h="726721" w="726721">
                <a:moveTo>
                  <a:pt x="0" y="0"/>
                </a:moveTo>
                <a:lnTo>
                  <a:pt x="726721" y="0"/>
                </a:lnTo>
                <a:lnTo>
                  <a:pt x="726721" y="726720"/>
                </a:lnTo>
                <a:lnTo>
                  <a:pt x="0" y="7267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0" id="20"/>
          <p:cNvGrpSpPr/>
          <p:nvPr/>
        </p:nvGrpSpPr>
        <p:grpSpPr>
          <a:xfrm rot="0">
            <a:off x="337128" y="9459137"/>
            <a:ext cx="99352" cy="451635"/>
            <a:chOff x="0" y="0"/>
            <a:chExt cx="26167" cy="118949"/>
          </a:xfrm>
        </p:grpSpPr>
        <p:sp>
          <p:nvSpPr>
            <p:cNvPr name="Freeform 21" id="21"/>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22" id="22"/>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sp>
        <p:nvSpPr>
          <p:cNvPr name="TextBox 23" id="23"/>
          <p:cNvSpPr txBox="true"/>
          <p:nvPr/>
        </p:nvSpPr>
        <p:spPr>
          <a:xfrm rot="0">
            <a:off x="524062" y="496510"/>
            <a:ext cx="15659507" cy="532190"/>
          </a:xfrm>
          <a:prstGeom prst="rect">
            <a:avLst/>
          </a:prstGeom>
        </p:spPr>
        <p:txBody>
          <a:bodyPr anchor="t" rtlCol="false" tIns="0" lIns="0" bIns="0" rIns="0">
            <a:spAutoFit/>
          </a:bodyPr>
          <a:lstStyle/>
          <a:p>
            <a:pPr algn="l" marL="0" indent="0" lvl="0">
              <a:lnSpc>
                <a:spcPts val="4321"/>
              </a:lnSpc>
              <a:spcBef>
                <a:spcPct val="0"/>
              </a:spcBef>
            </a:pPr>
            <a:r>
              <a:rPr lang="en-US" b="true" sz="3086" strike="noStrike" u="none">
                <a:solidFill>
                  <a:srgbClr val="FFFFFF"/>
                </a:solidFill>
                <a:latin typeface="Montserrat Bold"/>
                <a:ea typeface="Montserrat Bold"/>
                <a:cs typeface="Montserrat Bold"/>
                <a:sym typeface="Montserrat Bold"/>
              </a:rPr>
              <a:t> Strategic Recommendation 2 Formalise the Free Channel Flywheel</a:t>
            </a:r>
          </a:p>
        </p:txBody>
      </p:sp>
      <p:sp>
        <p:nvSpPr>
          <p:cNvPr name="TextBox 24" id="24"/>
          <p:cNvSpPr txBox="true"/>
          <p:nvPr/>
        </p:nvSpPr>
        <p:spPr>
          <a:xfrm rot="0">
            <a:off x="4156980" y="5519507"/>
            <a:ext cx="1610201" cy="530671"/>
          </a:xfrm>
          <a:prstGeom prst="rect">
            <a:avLst/>
          </a:prstGeom>
        </p:spPr>
        <p:txBody>
          <a:bodyPr anchor="t" rtlCol="false" tIns="0" lIns="0" bIns="0" rIns="0">
            <a:spAutoFit/>
          </a:bodyPr>
          <a:lstStyle/>
          <a:p>
            <a:pPr algn="ctr" marL="0" indent="0" lvl="0">
              <a:lnSpc>
                <a:spcPts val="4350"/>
              </a:lnSpc>
              <a:spcBef>
                <a:spcPct val="0"/>
              </a:spcBef>
            </a:pPr>
            <a:r>
              <a:rPr lang="en-US" b="true" sz="3107" strike="noStrike" u="none">
                <a:solidFill>
                  <a:srgbClr val="FFFFFF"/>
                </a:solidFill>
                <a:latin typeface="Montserrat Bold"/>
                <a:ea typeface="Montserrat Bold"/>
                <a:cs typeface="Montserrat Bold"/>
                <a:sym typeface="Montserrat Bold"/>
              </a:rPr>
              <a:t>ACTION</a:t>
            </a:r>
          </a:p>
        </p:txBody>
      </p:sp>
      <p:sp>
        <p:nvSpPr>
          <p:cNvPr name="TextBox 25" id="25"/>
          <p:cNvSpPr txBox="true"/>
          <p:nvPr/>
        </p:nvSpPr>
        <p:spPr>
          <a:xfrm rot="0">
            <a:off x="11859935" y="5370294"/>
            <a:ext cx="1955571" cy="642245"/>
          </a:xfrm>
          <a:prstGeom prst="rect">
            <a:avLst/>
          </a:prstGeom>
        </p:spPr>
        <p:txBody>
          <a:bodyPr anchor="t" rtlCol="false" tIns="0" lIns="0" bIns="0" rIns="0">
            <a:spAutoFit/>
          </a:bodyPr>
          <a:lstStyle/>
          <a:p>
            <a:pPr algn="ctr">
              <a:lnSpc>
                <a:spcPts val="5297"/>
              </a:lnSpc>
              <a:spcBef>
                <a:spcPct val="0"/>
              </a:spcBef>
            </a:pPr>
            <a:r>
              <a:rPr lang="en-US" b="true" sz="3783">
                <a:solidFill>
                  <a:srgbClr val="FFFFFF"/>
                </a:solidFill>
                <a:latin typeface="Montserrat Bold"/>
                <a:ea typeface="Montserrat Bold"/>
                <a:cs typeface="Montserrat Bold"/>
                <a:sym typeface="Montserrat Bold"/>
              </a:rPr>
              <a:t>IMPACT</a:t>
            </a:r>
          </a:p>
        </p:txBody>
      </p:sp>
      <p:sp>
        <p:nvSpPr>
          <p:cNvPr name="TextBox 26" id="26"/>
          <p:cNvSpPr txBox="true"/>
          <p:nvPr/>
        </p:nvSpPr>
        <p:spPr>
          <a:xfrm rot="0">
            <a:off x="2634392" y="2906808"/>
            <a:ext cx="4788726" cy="1544320"/>
          </a:xfrm>
          <a:prstGeom prst="rect">
            <a:avLst/>
          </a:prstGeom>
        </p:spPr>
        <p:txBody>
          <a:bodyPr anchor="t" rtlCol="false" tIns="0" lIns="0" bIns="0" rIns="0">
            <a:spAutoFit/>
          </a:bodyPr>
          <a:lstStyle/>
          <a:p>
            <a:pPr algn="ctr">
              <a:lnSpc>
                <a:spcPts val="3079"/>
              </a:lnSpc>
              <a:spcBef>
                <a:spcPct val="0"/>
              </a:spcBef>
            </a:pPr>
            <a:r>
              <a:rPr lang="en-US" b="true" sz="2199">
                <a:solidFill>
                  <a:srgbClr val="FFFFFF"/>
                </a:solidFill>
                <a:latin typeface="Montserrat Bold"/>
                <a:ea typeface="Montserrat Bold"/>
                <a:cs typeface="Montserrat Bold"/>
                <a:sym typeface="Montserrat Bold"/>
              </a:rPr>
              <a:t>Channel Resilience Score:</a:t>
            </a:r>
            <a:r>
              <a:rPr lang="en-US" sz="2199">
                <a:solidFill>
                  <a:srgbClr val="FFFFFF"/>
                </a:solidFill>
                <a:latin typeface="Montserrat"/>
                <a:ea typeface="Montserrat"/>
                <a:cs typeface="Montserrat"/>
                <a:sym typeface="Montserrat"/>
              </a:rPr>
              <a:t> 29.2%. Free + brand orders grew from 0% → 33.5% of total. Built with zero SEO or referral investment.</a:t>
            </a:r>
          </a:p>
        </p:txBody>
      </p:sp>
      <p:sp>
        <p:nvSpPr>
          <p:cNvPr name="TextBox 27" id="27"/>
          <p:cNvSpPr txBox="true"/>
          <p:nvPr/>
        </p:nvSpPr>
        <p:spPr>
          <a:xfrm rot="0">
            <a:off x="9999549" y="2321021"/>
            <a:ext cx="5159305" cy="2715895"/>
          </a:xfrm>
          <a:prstGeom prst="rect">
            <a:avLst/>
          </a:prstGeom>
        </p:spPr>
        <p:txBody>
          <a:bodyPr anchor="t" rtlCol="false" tIns="0" lIns="0" bIns="0" rIns="0">
            <a:spAutoFit/>
          </a:bodyPr>
          <a:lstStyle/>
          <a:p>
            <a:pPr algn="ctr">
              <a:lnSpc>
                <a:spcPts val="3079"/>
              </a:lnSpc>
            </a:pPr>
            <a:r>
              <a:rPr lang="en-US" sz="2199">
                <a:solidFill>
                  <a:srgbClr val="FFFFFF"/>
                </a:solidFill>
                <a:latin typeface="Montserrat"/>
                <a:ea typeface="Montserrat"/>
                <a:cs typeface="Montserrat"/>
                <a:sym typeface="Montserrat"/>
              </a:rPr>
              <a:t>The flywheel is already spinning on its own momentum. A small deliberate investment accelerates what is already working for free. Repeat visitors convert 11.9% better and generate $0.52 more per session.</a:t>
            </a:r>
          </a:p>
        </p:txBody>
      </p:sp>
      <p:sp>
        <p:nvSpPr>
          <p:cNvPr name="TextBox 28" id="28"/>
          <p:cNvSpPr txBox="true"/>
          <p:nvPr/>
        </p:nvSpPr>
        <p:spPr>
          <a:xfrm rot="0">
            <a:off x="2305158" y="6145264"/>
            <a:ext cx="5841852" cy="2519482"/>
          </a:xfrm>
          <a:prstGeom prst="rect">
            <a:avLst/>
          </a:prstGeom>
        </p:spPr>
        <p:txBody>
          <a:bodyPr anchor="t" rtlCol="false" tIns="0" lIns="0" bIns="0" rIns="0">
            <a:spAutoFit/>
          </a:bodyPr>
          <a:lstStyle/>
          <a:p>
            <a:pPr algn="l">
              <a:lnSpc>
                <a:spcPts val="2880"/>
              </a:lnSpc>
              <a:spcBef>
                <a:spcPct val="0"/>
              </a:spcBef>
            </a:pPr>
            <a:r>
              <a:rPr lang="en-US" b="true" sz="2057">
                <a:solidFill>
                  <a:srgbClr val="FFFFFF"/>
                </a:solidFill>
                <a:latin typeface="Montserrat Bold"/>
                <a:ea typeface="Montserrat Bold"/>
                <a:cs typeface="Montserrat Bold"/>
                <a:sym typeface="Montserrat Bold"/>
              </a:rPr>
              <a:t>3 low-cost initiatives:</a:t>
            </a:r>
          </a:p>
          <a:p>
            <a:pPr algn="l" marL="444275" indent="-222138" lvl="1">
              <a:lnSpc>
                <a:spcPts val="2880"/>
              </a:lnSpc>
              <a:buFont typeface="Arial"/>
              <a:buChar char="•"/>
            </a:pPr>
            <a:r>
              <a:rPr lang="en-US" sz="2057">
                <a:solidFill>
                  <a:srgbClr val="FFFFFF"/>
                </a:solidFill>
                <a:latin typeface="Montserrat"/>
                <a:ea typeface="Montserrat"/>
                <a:cs typeface="Montserrat"/>
                <a:sym typeface="Montserrat"/>
              </a:rPr>
              <a:t>Content program — seasonal gift guides targeting organic search</a:t>
            </a:r>
          </a:p>
          <a:p>
            <a:pPr algn="l" marL="444275" indent="-222138" lvl="1">
              <a:lnSpc>
                <a:spcPts val="2880"/>
              </a:lnSpc>
              <a:buFont typeface="Arial"/>
              <a:buChar char="•"/>
            </a:pPr>
            <a:r>
              <a:rPr lang="en-US" sz="2057">
                <a:solidFill>
                  <a:srgbClr val="FFFFFF"/>
                </a:solidFill>
                <a:latin typeface="Montserrat"/>
                <a:ea typeface="Montserrat"/>
                <a:cs typeface="Montserrat"/>
                <a:sym typeface="Montserrat"/>
              </a:rPr>
              <a:t>Review generation — email prompt post-delivery</a:t>
            </a:r>
          </a:p>
          <a:p>
            <a:pPr algn="l" marL="444275" indent="-222138" lvl="1">
              <a:lnSpc>
                <a:spcPts val="2880"/>
              </a:lnSpc>
              <a:buFont typeface="Arial"/>
              <a:buChar char="•"/>
            </a:pPr>
            <a:r>
              <a:rPr lang="en-US" sz="2057">
                <a:solidFill>
                  <a:srgbClr val="FFFFFF"/>
                </a:solidFill>
                <a:latin typeface="Montserrat"/>
                <a:ea typeface="Montserrat"/>
                <a:cs typeface="Montserrat"/>
                <a:sym typeface="Montserrat"/>
              </a:rPr>
              <a:t>Re-engagement email sequence — timed to 32.5-day average return window</a:t>
            </a:r>
          </a:p>
        </p:txBody>
      </p:sp>
      <p:sp>
        <p:nvSpPr>
          <p:cNvPr name="TextBox 29" id="29"/>
          <p:cNvSpPr txBox="true"/>
          <p:nvPr/>
        </p:nvSpPr>
        <p:spPr>
          <a:xfrm rot="0">
            <a:off x="10111065" y="6242320"/>
            <a:ext cx="4936273" cy="2325370"/>
          </a:xfrm>
          <a:prstGeom prst="rect">
            <a:avLst/>
          </a:prstGeom>
        </p:spPr>
        <p:txBody>
          <a:bodyPr anchor="t" rtlCol="false" tIns="0" lIns="0" bIns="0" rIns="0">
            <a:spAutoFit/>
          </a:bodyPr>
          <a:lstStyle/>
          <a:p>
            <a:pPr algn="ctr" marL="0" indent="0" lvl="1">
              <a:lnSpc>
                <a:spcPts val="3079"/>
              </a:lnSpc>
              <a:spcBef>
                <a:spcPct val="0"/>
              </a:spcBef>
            </a:pPr>
            <a:r>
              <a:rPr lang="en-US" sz="2199" strike="noStrike" u="none">
                <a:solidFill>
                  <a:srgbClr val="FFFFFF"/>
                </a:solidFill>
                <a:latin typeface="Montserrat"/>
                <a:ea typeface="Montserrat"/>
                <a:cs typeface="Montserrat"/>
                <a:sym typeface="Montserrat"/>
              </a:rPr>
              <a:t>Target: Resilience Score 29.2% → 40% within 12 months KPI: free + brand share of total orders — reviewed monthly Every order shifted from paid to free = direct margin improvement</a:t>
            </a:r>
          </a:p>
        </p:txBody>
      </p:sp>
      <p:sp>
        <p:nvSpPr>
          <p:cNvPr name="TextBox 30" id="30"/>
          <p:cNvSpPr txBox="true"/>
          <p:nvPr/>
        </p:nvSpPr>
        <p:spPr>
          <a:xfrm rot="0">
            <a:off x="471967" y="8972550"/>
            <a:ext cx="17344067" cy="365962"/>
          </a:xfrm>
          <a:prstGeom prst="rect">
            <a:avLst/>
          </a:prstGeom>
        </p:spPr>
        <p:txBody>
          <a:bodyPr anchor="t" rtlCol="false" tIns="0" lIns="0" bIns="0" rIns="0">
            <a:spAutoFit/>
          </a:bodyPr>
          <a:lstStyle/>
          <a:p>
            <a:pPr algn="ctr">
              <a:lnSpc>
                <a:spcPts val="2928"/>
              </a:lnSpc>
              <a:spcBef>
                <a:spcPct val="0"/>
              </a:spcBef>
            </a:pPr>
            <a:r>
              <a:rPr lang="en-US" b="true" sz="2092">
                <a:solidFill>
                  <a:srgbClr val="FFFFFF"/>
                </a:solidFill>
                <a:latin typeface="DM Sans Bold"/>
                <a:ea typeface="DM Sans Bold"/>
                <a:cs typeface="DM Sans Bold"/>
                <a:sym typeface="DM Sans Bold"/>
              </a:rPr>
              <a:t>Trade-off: Content and email programs take 60–90 days to show results. Start with review generation — lowest cost, fastest impact.</a:t>
            </a:r>
          </a:p>
        </p:txBody>
      </p:sp>
      <p:sp>
        <p:nvSpPr>
          <p:cNvPr name="TextBox 31" id="31"/>
          <p:cNvSpPr txBox="true"/>
          <p:nvPr/>
        </p:nvSpPr>
        <p:spPr>
          <a:xfrm rot="0">
            <a:off x="16064205" y="9788338"/>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C10- page  17</a:t>
            </a:r>
          </a:p>
        </p:txBody>
      </p:sp>
      <p:sp>
        <p:nvSpPr>
          <p:cNvPr name="TextBox 32" id="32"/>
          <p:cNvSpPr txBox="true"/>
          <p:nvPr/>
        </p:nvSpPr>
        <p:spPr>
          <a:xfrm rot="0">
            <a:off x="589224" y="9619620"/>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33" id="33"/>
          <p:cNvSpPr txBox="true"/>
          <p:nvPr/>
        </p:nvSpPr>
        <p:spPr>
          <a:xfrm rot="0">
            <a:off x="3192450" y="9654495"/>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26847" y="2041288"/>
            <a:ext cx="3746680" cy="1760688"/>
            <a:chOff x="0" y="0"/>
            <a:chExt cx="986780" cy="463720"/>
          </a:xfrm>
        </p:grpSpPr>
        <p:sp>
          <p:nvSpPr>
            <p:cNvPr name="Freeform 3" id="3"/>
            <p:cNvSpPr/>
            <p:nvPr/>
          </p:nvSpPr>
          <p:spPr>
            <a:xfrm flipH="false" flipV="false" rot="0">
              <a:off x="0" y="0"/>
              <a:ext cx="986780" cy="463720"/>
            </a:xfrm>
            <a:custGeom>
              <a:avLst/>
              <a:gdLst/>
              <a:ahLst/>
              <a:cxnLst/>
              <a:rect r="r" b="b" t="t" l="l"/>
              <a:pathLst>
                <a:path h="463720" w="986780">
                  <a:moveTo>
                    <a:pt x="55791" y="0"/>
                  </a:moveTo>
                  <a:lnTo>
                    <a:pt x="930989" y="0"/>
                  </a:lnTo>
                  <a:cubicBezTo>
                    <a:pt x="961801" y="0"/>
                    <a:pt x="986780" y="24979"/>
                    <a:pt x="986780" y="55791"/>
                  </a:cubicBezTo>
                  <a:lnTo>
                    <a:pt x="986780" y="407929"/>
                  </a:lnTo>
                  <a:cubicBezTo>
                    <a:pt x="986780" y="422726"/>
                    <a:pt x="980902" y="436916"/>
                    <a:pt x="970439" y="447379"/>
                  </a:cubicBezTo>
                  <a:cubicBezTo>
                    <a:pt x="959976" y="457842"/>
                    <a:pt x="945785" y="463720"/>
                    <a:pt x="930989" y="463720"/>
                  </a:cubicBezTo>
                  <a:lnTo>
                    <a:pt x="55791" y="463720"/>
                  </a:lnTo>
                  <a:cubicBezTo>
                    <a:pt x="40994" y="463720"/>
                    <a:pt x="26804" y="457842"/>
                    <a:pt x="16341" y="447379"/>
                  </a:cubicBezTo>
                  <a:cubicBezTo>
                    <a:pt x="5878" y="436916"/>
                    <a:pt x="0" y="422726"/>
                    <a:pt x="0" y="407929"/>
                  </a:cubicBezTo>
                  <a:lnTo>
                    <a:pt x="0" y="55791"/>
                  </a:lnTo>
                  <a:cubicBezTo>
                    <a:pt x="0" y="40994"/>
                    <a:pt x="5878" y="26804"/>
                    <a:pt x="16341" y="16341"/>
                  </a:cubicBezTo>
                  <a:cubicBezTo>
                    <a:pt x="26804" y="5878"/>
                    <a:pt x="40994" y="0"/>
                    <a:pt x="55791"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4" id="4"/>
            <p:cNvSpPr txBox="true"/>
            <p:nvPr/>
          </p:nvSpPr>
          <p:spPr>
            <a:xfrm>
              <a:off x="0" y="47625"/>
              <a:ext cx="986780" cy="416095"/>
            </a:xfrm>
            <a:prstGeom prst="rect">
              <a:avLst/>
            </a:prstGeom>
          </p:spPr>
          <p:txBody>
            <a:bodyPr anchor="ctr" rtlCol="false" tIns="50800" lIns="50800" bIns="50800" rIns="50800"/>
            <a:lstStyle/>
            <a:p>
              <a:pPr algn="l">
                <a:lnSpc>
                  <a:spcPts val="1924"/>
                </a:lnSpc>
              </a:pPr>
            </a:p>
          </p:txBody>
        </p:sp>
      </p:grpSp>
      <p:graphicFrame>
        <p:nvGraphicFramePr>
          <p:cNvPr name="Object 5" id="5"/>
          <p:cNvGraphicFramePr/>
          <p:nvPr/>
        </p:nvGraphicFramePr>
        <p:xfrm>
          <a:off x="9739028" y="1672702"/>
          <a:ext cx="5657850" cy="4400550"/>
        </p:xfrm>
        <a:graphic>
          <a:graphicData uri="http://schemas.openxmlformats.org/presentationml/2006/ole">
            <p:oleObj imgW="6781800" imgH="5524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pSp>
        <p:nvGrpSpPr>
          <p:cNvPr name="Group 6" id="6"/>
          <p:cNvGrpSpPr/>
          <p:nvPr/>
        </p:nvGrpSpPr>
        <p:grpSpPr>
          <a:xfrm rot="0">
            <a:off x="4791098" y="2041288"/>
            <a:ext cx="4586517" cy="1868359"/>
            <a:chOff x="0" y="0"/>
            <a:chExt cx="1207972" cy="492078"/>
          </a:xfrm>
        </p:grpSpPr>
        <p:sp>
          <p:nvSpPr>
            <p:cNvPr name="Freeform 7" id="7"/>
            <p:cNvSpPr/>
            <p:nvPr/>
          </p:nvSpPr>
          <p:spPr>
            <a:xfrm flipH="false" flipV="false" rot="0">
              <a:off x="0" y="0"/>
              <a:ext cx="1207972" cy="492078"/>
            </a:xfrm>
            <a:custGeom>
              <a:avLst/>
              <a:gdLst/>
              <a:ahLst/>
              <a:cxnLst/>
              <a:rect r="r" b="b" t="t" l="l"/>
              <a:pathLst>
                <a:path h="492078" w="1207972">
                  <a:moveTo>
                    <a:pt x="45575" y="0"/>
                  </a:moveTo>
                  <a:lnTo>
                    <a:pt x="1162396" y="0"/>
                  </a:lnTo>
                  <a:cubicBezTo>
                    <a:pt x="1187567" y="0"/>
                    <a:pt x="1207972" y="20405"/>
                    <a:pt x="1207972" y="45575"/>
                  </a:cubicBezTo>
                  <a:lnTo>
                    <a:pt x="1207972" y="446503"/>
                  </a:lnTo>
                  <a:cubicBezTo>
                    <a:pt x="1207972" y="471673"/>
                    <a:pt x="1187567" y="492078"/>
                    <a:pt x="1162396" y="492078"/>
                  </a:cubicBezTo>
                  <a:lnTo>
                    <a:pt x="45575" y="492078"/>
                  </a:lnTo>
                  <a:cubicBezTo>
                    <a:pt x="20405" y="492078"/>
                    <a:pt x="0" y="471673"/>
                    <a:pt x="0" y="446503"/>
                  </a:cubicBezTo>
                  <a:lnTo>
                    <a:pt x="0" y="45575"/>
                  </a:lnTo>
                  <a:cubicBezTo>
                    <a:pt x="0" y="20405"/>
                    <a:pt x="20405" y="0"/>
                    <a:pt x="45575"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8" id="8"/>
            <p:cNvSpPr txBox="true"/>
            <p:nvPr/>
          </p:nvSpPr>
          <p:spPr>
            <a:xfrm>
              <a:off x="0" y="47625"/>
              <a:ext cx="1207972" cy="444453"/>
            </a:xfrm>
            <a:prstGeom prst="rect">
              <a:avLst/>
            </a:prstGeom>
          </p:spPr>
          <p:txBody>
            <a:bodyPr anchor="ctr" rtlCol="false" tIns="50800" lIns="50800" bIns="50800" rIns="50800"/>
            <a:lstStyle/>
            <a:p>
              <a:pPr algn="l">
                <a:lnSpc>
                  <a:spcPts val="1924"/>
                </a:lnSpc>
              </a:pPr>
            </a:p>
          </p:txBody>
        </p:sp>
      </p:grpSp>
      <p:graphicFrame>
        <p:nvGraphicFramePr>
          <p:cNvPr name="Table 9" id="9"/>
          <p:cNvGraphicFramePr>
            <a:graphicFrameLocks noGrp="true"/>
          </p:cNvGraphicFramePr>
          <p:nvPr/>
        </p:nvGraphicFramePr>
        <p:xfrm>
          <a:off x="626847" y="4824047"/>
          <a:ext cx="7267660" cy="4356068"/>
        </p:xfrm>
        <a:graphic>
          <a:graphicData uri="http://schemas.openxmlformats.org/drawingml/2006/table">
            <a:tbl>
              <a:tblPr/>
              <a:tblGrid>
                <a:gridCol w="2609751"/>
                <a:gridCol w="4657908"/>
              </a:tblGrid>
              <a:tr h="1089017">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OBSERVATION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3</a:t>
                      </a:r>
                      <a:r>
                        <a:rPr lang="en-US" b="true" sz="1700">
                          <a:solidFill>
                            <a:srgbClr val="FFFFFF"/>
                          </a:solidFill>
                          <a:latin typeface="Canva Sans Bold"/>
                          <a:ea typeface="Canva Sans Bold"/>
                          <a:cs typeface="Canva Sans Bold"/>
                          <a:sym typeface="Canva Sans Bold"/>
                        </a:rPr>
                        <a:t> proven levers identified — conversion testing, cross-sell, and free channel growth — all with confirmed numbers.</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792881">
                <a:tc>
                  <a:txBody>
                    <a:bodyPr anchor="t" rtlCol="false"/>
                    <a:lstStyle/>
                    <a:p>
                      <a:pPr algn="ctr" marL="0" indent="0" lvl="0">
                        <a:lnSpc>
                          <a:spcPts val="2940"/>
                        </a:lnSpc>
                        <a:spcBef>
                          <a:spcPct val="0"/>
                        </a:spcBef>
                        <a:defRPr/>
                      </a:pPr>
                      <a:r>
                        <a:rPr lang="en-US" b="true" sz="2100" strike="noStrike" u="none">
                          <a:solidFill>
                            <a:srgbClr val="FFFFFF"/>
                          </a:solidFill>
                          <a:latin typeface="Canva Sans Bold"/>
                          <a:ea typeface="Canva Sans Bold"/>
                          <a:cs typeface="Canva Sans Bold"/>
                          <a:sym typeface="Canva Sans Bold"/>
                        </a:rPr>
                        <a:t>INSIGHT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Every dollar follows a confirmed number. Nothing is</a:t>
                      </a:r>
                      <a:r>
                        <a:rPr lang="en-US" b="true" sz="1700">
                          <a:solidFill>
                            <a:srgbClr val="FFFFFF"/>
                          </a:solidFill>
                          <a:latin typeface="Canva Sans Bold"/>
                          <a:ea typeface="Canva Sans Bold"/>
                          <a:cs typeface="Canva Sans Bold"/>
                          <a:sym typeface="Canva Sans Bold"/>
                        </a:rPr>
                        <a:t> speculative.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1089017">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ACTION</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Allo</a:t>
                      </a:r>
                      <a:r>
                        <a:rPr lang="en-US" b="true" sz="1700">
                          <a:solidFill>
                            <a:srgbClr val="FFFFFF"/>
                          </a:solidFill>
                          <a:latin typeface="Canva Sans Bold"/>
                          <a:ea typeface="Canva Sans Bold"/>
                          <a:cs typeface="Canva Sans Bold"/>
                          <a:sym typeface="Canva Sans Bold"/>
                        </a:rPr>
                        <a:t>cate $100K as per table above. Start with product detail test — highest return per dollar.</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r h="1385153">
                <a:tc>
                  <a:txBody>
                    <a:bodyPr anchor="t" rtlCol="false"/>
                    <a:lstStyle/>
                    <a:p>
                      <a:pPr algn="ctr">
                        <a:lnSpc>
                          <a:spcPts val="2940"/>
                        </a:lnSpc>
                        <a:defRPr/>
                      </a:pPr>
                      <a:r>
                        <a:rPr lang="en-US" b="true" sz="2100">
                          <a:solidFill>
                            <a:srgbClr val="FFFFFF"/>
                          </a:solidFill>
                          <a:latin typeface="Canva Sans Bold"/>
                          <a:ea typeface="Canva Sans Bold"/>
                          <a:cs typeface="Canva Sans Bold"/>
                          <a:sym typeface="Canva Sans Bold"/>
                        </a:rPr>
                        <a:t>IMPACT</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1A3A5C"/>
                    </a:solidFill>
                  </a:tcPr>
                </a:tc>
                <a:tc>
                  <a:txBody>
                    <a:bodyPr anchor="t" rtlCol="false"/>
                    <a:lstStyle/>
                    <a:p>
                      <a:pPr algn="l">
                        <a:lnSpc>
                          <a:spcPts val="2380"/>
                        </a:lnSpc>
                        <a:defRPr/>
                      </a:pPr>
                      <a:r>
                        <a:rPr lang="en-US" sz="1700" b="true">
                          <a:solidFill>
                            <a:srgbClr val="FFFFFF"/>
                          </a:solidFill>
                          <a:latin typeface="Canva Sans Bold"/>
                          <a:ea typeface="Canva Sans Bold"/>
                          <a:cs typeface="Canva Sans Bold"/>
                          <a:sym typeface="Canva Sans Bold"/>
                        </a:rPr>
                        <a:t>$4,046+/month proven return · Resilience Score 29.2% → 40% · KPI: conversion rate · attachment rate · resilience score · repeat rate.</a:t>
                      </a:r>
                      <a:endParaRPr lang="en-US" sz="1100"/>
                    </a:p>
                  </a:txBody>
                  <a:tcPr marL="76200" marR="76200" marT="76200" marB="76200" anchor="ctr">
                    <a:lnL cmpd="sng" algn="ctr" cap="flat" w="12668">
                      <a:solidFill>
                        <a:srgbClr val="CCCCCC"/>
                      </a:solidFill>
                      <a:prstDash val="solid"/>
                      <a:round/>
                      <a:headEnd type="none" w="med" len="med"/>
                      <a:tailEnd type="none" w="med" len="med"/>
                    </a:lnL>
                    <a:lnR cmpd="sng" algn="ctr" cap="flat" w="12668">
                      <a:solidFill>
                        <a:srgbClr val="CCCCCC"/>
                      </a:solidFill>
                      <a:prstDash val="solid"/>
                      <a:round/>
                      <a:headEnd type="none" w="med" len="med"/>
                      <a:tailEnd type="none" w="med" len="med"/>
                    </a:lnR>
                    <a:lnT cmpd="sng" algn="ctr" cap="flat" w="12668">
                      <a:solidFill>
                        <a:srgbClr val="CCCCCC"/>
                      </a:solidFill>
                      <a:prstDash val="solid"/>
                      <a:round/>
                      <a:headEnd type="none" w="med" len="med"/>
                      <a:tailEnd type="none" w="med" len="med"/>
                    </a:lnT>
                    <a:lnB cmpd="sng" algn="ctr" cap="flat" w="12668">
                      <a:solidFill>
                        <a:srgbClr val="CCCCCC"/>
                      </a:solidFill>
                      <a:prstDash val="solid"/>
                      <a:round/>
                      <a:headEnd type="none" w="med" len="med"/>
                      <a:tailEnd type="none" w="med" len="med"/>
                    </a:lnB>
                    <a:solidFill>
                      <a:srgbClr val="2F5972"/>
                    </a:solidFill>
                  </a:tcPr>
                </a:tc>
              </a:tr>
            </a:tbl>
          </a:graphicData>
        </a:graphic>
      </p:graphicFrame>
      <p:sp>
        <p:nvSpPr>
          <p:cNvPr name="Freeform 10" id="10"/>
          <p:cNvSpPr/>
          <p:nvPr/>
        </p:nvSpPr>
        <p:spPr>
          <a:xfrm flipH="false" flipV="false" rot="0">
            <a:off x="10051141" y="6284638"/>
            <a:ext cx="7187098" cy="2973662"/>
          </a:xfrm>
          <a:custGeom>
            <a:avLst/>
            <a:gdLst/>
            <a:ahLst/>
            <a:cxnLst/>
            <a:rect r="r" b="b" t="t" l="l"/>
            <a:pathLst>
              <a:path h="2973662" w="7187098">
                <a:moveTo>
                  <a:pt x="0" y="0"/>
                </a:moveTo>
                <a:lnTo>
                  <a:pt x="7187098" y="0"/>
                </a:lnTo>
                <a:lnTo>
                  <a:pt x="7187098" y="2973662"/>
                </a:lnTo>
                <a:lnTo>
                  <a:pt x="0" y="2973662"/>
                </a:lnTo>
                <a:lnTo>
                  <a:pt x="0" y="0"/>
                </a:lnTo>
                <a:close/>
              </a:path>
            </a:pathLst>
          </a:custGeom>
          <a:blipFill>
            <a:blip r:embed="rId4"/>
            <a:stretch>
              <a:fillRect l="0" t="0" r="0" b="0"/>
            </a:stretch>
          </a:blipFill>
        </p:spPr>
      </p:sp>
      <p:sp>
        <p:nvSpPr>
          <p:cNvPr name="TextBox 11" id="11"/>
          <p:cNvSpPr txBox="true"/>
          <p:nvPr/>
        </p:nvSpPr>
        <p:spPr>
          <a:xfrm rot="0">
            <a:off x="244851" y="471487"/>
            <a:ext cx="15414903" cy="1047750"/>
          </a:xfrm>
          <a:prstGeom prst="rect">
            <a:avLst/>
          </a:prstGeom>
        </p:spPr>
        <p:txBody>
          <a:bodyPr anchor="t" rtlCol="false" tIns="0" lIns="0" bIns="0" rIns="0">
            <a:spAutoFit/>
          </a:bodyPr>
          <a:lstStyle/>
          <a:p>
            <a:pPr algn="l">
              <a:lnSpc>
                <a:spcPts val="5599"/>
              </a:lnSpc>
              <a:spcBef>
                <a:spcPct val="0"/>
              </a:spcBef>
            </a:pPr>
            <a:r>
              <a:rPr lang="en-US" b="true" sz="3999">
                <a:solidFill>
                  <a:srgbClr val="FFFFFF"/>
                </a:solidFill>
                <a:latin typeface="Montserrat Bold"/>
                <a:ea typeface="Montserrat Bold"/>
                <a:cs typeface="Montserrat Bold"/>
                <a:sym typeface="Montserrat Bold"/>
              </a:rPr>
              <a:t>Strategic Recommendation 3 $100,000 Budget Allocation </a:t>
            </a:r>
          </a:p>
          <a:p>
            <a:pPr algn="l">
              <a:lnSpc>
                <a:spcPts val="2800"/>
              </a:lnSpc>
              <a:spcBef>
                <a:spcPct val="0"/>
              </a:spcBef>
            </a:pPr>
            <a:r>
              <a:rPr lang="en-US" b="true" sz="2000">
                <a:solidFill>
                  <a:srgbClr val="FFFFFF"/>
                </a:solidFill>
                <a:latin typeface="Montserrat Bold"/>
                <a:ea typeface="Montserrat Bold"/>
                <a:cs typeface="Montserrat Bold"/>
                <a:sym typeface="Montserrat Bold"/>
              </a:rPr>
              <a:t>Every Dollar Traces to a Confirmed Number</a:t>
            </a:r>
          </a:p>
        </p:txBody>
      </p:sp>
      <p:sp>
        <p:nvSpPr>
          <p:cNvPr name="TextBox 12" id="12"/>
          <p:cNvSpPr txBox="true"/>
          <p:nvPr/>
        </p:nvSpPr>
        <p:spPr>
          <a:xfrm rot="0">
            <a:off x="1028700" y="2384189"/>
            <a:ext cx="3034903" cy="1027259"/>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Montserrat"/>
                <a:ea typeface="Montserrat"/>
                <a:cs typeface="Montserrat"/>
                <a:sym typeface="Montserrat"/>
              </a:rPr>
              <a:t>$4,046+/month Proven monthly return from top 2 investments alone</a:t>
            </a:r>
          </a:p>
        </p:txBody>
      </p:sp>
      <p:sp>
        <p:nvSpPr>
          <p:cNvPr name="TextBox 13" id="13"/>
          <p:cNvSpPr txBox="true"/>
          <p:nvPr/>
        </p:nvSpPr>
        <p:spPr>
          <a:xfrm rot="0">
            <a:off x="5027976" y="2088916"/>
            <a:ext cx="4116024" cy="1713059"/>
          </a:xfrm>
          <a:prstGeom prst="rect">
            <a:avLst/>
          </a:prstGeom>
        </p:spPr>
        <p:txBody>
          <a:bodyPr anchor="t" rtlCol="false" tIns="0" lIns="0" bIns="0" rIns="0">
            <a:spAutoFit/>
          </a:bodyPr>
          <a:lstStyle/>
          <a:p>
            <a:pPr algn="l">
              <a:lnSpc>
                <a:spcPts val="2704"/>
              </a:lnSpc>
              <a:spcBef>
                <a:spcPct val="0"/>
              </a:spcBef>
            </a:pPr>
            <a:r>
              <a:rPr lang="en-US" b="true" sz="1931">
                <a:solidFill>
                  <a:srgbClr val="FF3131"/>
                </a:solidFill>
                <a:latin typeface="Montserrat Bold"/>
                <a:ea typeface="Montserrat Bold"/>
                <a:cs typeface="Montserrat Bold"/>
                <a:sym typeface="Montserrat Bold"/>
              </a:rPr>
              <a:t>Key Risk:</a:t>
            </a:r>
          </a:p>
          <a:p>
            <a:pPr algn="l">
              <a:lnSpc>
                <a:spcPts val="2704"/>
              </a:lnSpc>
              <a:spcBef>
                <a:spcPct val="0"/>
              </a:spcBef>
            </a:pPr>
            <a:r>
              <a:rPr lang="en-US" b="true" sz="1931">
                <a:solidFill>
                  <a:srgbClr val="FF3131"/>
                </a:solidFill>
                <a:latin typeface="Montserrat Bold"/>
                <a:ea typeface="Montserrat Bold"/>
                <a:cs typeface="Montserrat Bold"/>
                <a:sym typeface="Montserrat Bold"/>
              </a:rPr>
              <a:t> </a:t>
            </a:r>
            <a:r>
              <a:rPr lang="en-US" sz="1931">
                <a:solidFill>
                  <a:srgbClr val="FFFFFF"/>
                </a:solidFill>
                <a:latin typeface="Montserrat"/>
                <a:ea typeface="Montserrat"/>
                <a:cs typeface="Montserrat"/>
                <a:sym typeface="Montserrat"/>
              </a:rPr>
              <a:t>70% of traffic still paid. Channel concentration = biggest vulnerability in the business. This budget directly reduces it.</a:t>
            </a:r>
          </a:p>
        </p:txBody>
      </p:sp>
      <p:sp>
        <p:nvSpPr>
          <p:cNvPr name="TextBox 14" id="14"/>
          <p:cNvSpPr txBox="true"/>
          <p:nvPr/>
        </p:nvSpPr>
        <p:spPr>
          <a:xfrm rot="0">
            <a:off x="16383386" y="9669509"/>
            <a:ext cx="1751828" cy="197343"/>
          </a:xfrm>
          <a:prstGeom prst="rect">
            <a:avLst/>
          </a:prstGeom>
        </p:spPr>
        <p:txBody>
          <a:bodyPr anchor="t" rtlCol="false" tIns="0" lIns="0" bIns="0" rIns="0">
            <a:spAutoFit/>
          </a:bodyPr>
          <a:lstStyle/>
          <a:p>
            <a:pPr algn="l">
              <a:lnSpc>
                <a:spcPts val="1409"/>
              </a:lnSpc>
            </a:pPr>
            <a:r>
              <a:rPr lang="en-US" sz="1531">
                <a:solidFill>
                  <a:srgbClr val="FFFFFF"/>
                </a:solidFill>
                <a:latin typeface="Montserrat"/>
                <a:ea typeface="Montserrat"/>
                <a:cs typeface="Montserrat"/>
                <a:sym typeface="Montserrat"/>
              </a:rPr>
              <a:t>C10- page  18</a:t>
            </a:r>
          </a:p>
        </p:txBody>
      </p:sp>
      <p:grpSp>
        <p:nvGrpSpPr>
          <p:cNvPr name="Group 15" id="15"/>
          <p:cNvGrpSpPr/>
          <p:nvPr/>
        </p:nvGrpSpPr>
        <p:grpSpPr>
          <a:xfrm rot="0">
            <a:off x="337128" y="9459137"/>
            <a:ext cx="99352" cy="451635"/>
            <a:chOff x="0" y="0"/>
            <a:chExt cx="26167" cy="118949"/>
          </a:xfrm>
        </p:grpSpPr>
        <p:sp>
          <p:nvSpPr>
            <p:cNvPr name="Freeform 16" id="16"/>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17" id="17"/>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sp>
        <p:nvSpPr>
          <p:cNvPr name="TextBox 18" id="18"/>
          <p:cNvSpPr txBox="true"/>
          <p:nvPr/>
        </p:nvSpPr>
        <p:spPr>
          <a:xfrm rot="0">
            <a:off x="589224" y="9619620"/>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19" id="19"/>
          <p:cNvSpPr txBox="true"/>
          <p:nvPr/>
        </p:nvSpPr>
        <p:spPr>
          <a:xfrm rot="0">
            <a:off x="3192450" y="9654495"/>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Tree>
  </p:cSld>
  <p:clrMapOvr>
    <a:masterClrMapping/>
  </p:clrMapOvr>
</p:sld>
</file>

<file path=ppt/slides/slide19.xml><?xml version="1.0" encoding="utf-8"?>
<p:sld xmlns:p="http://schemas.openxmlformats.org/presentationml/2006/main" xmlns:a="http://schemas.openxmlformats.org/drawingml/2006/main">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2482414" y="433637"/>
            <a:ext cx="12370118" cy="669925"/>
          </a:xfrm>
          <a:prstGeom prst="rect">
            <a:avLst/>
          </a:prstGeom>
        </p:spPr>
        <p:txBody>
          <a:bodyPr anchor="t" rtlCol="false" tIns="0" lIns="0" bIns="0" rIns="0">
            <a:spAutoFit/>
          </a:bodyPr>
          <a:lstStyle/>
          <a:p>
            <a:pPr algn="ctr">
              <a:lnSpc>
                <a:spcPts val="5599"/>
              </a:lnSpc>
              <a:spcBef>
                <a:spcPct val="0"/>
              </a:spcBef>
            </a:pPr>
            <a:r>
              <a:rPr lang="en-US" b="true" sz="3999">
                <a:solidFill>
                  <a:srgbClr val="FFFFFF"/>
                </a:solidFill>
                <a:latin typeface="Montserrat Bold"/>
                <a:ea typeface="Montserrat Bold"/>
                <a:cs typeface="Montserrat Bold"/>
                <a:sym typeface="Montserrat Bold"/>
              </a:rPr>
              <a:t>Appendix — Methodology, Data Quality &amp; Files</a:t>
            </a:r>
          </a:p>
        </p:txBody>
      </p:sp>
      <p:grpSp>
        <p:nvGrpSpPr>
          <p:cNvPr name="Group 3" id="3"/>
          <p:cNvGrpSpPr/>
          <p:nvPr/>
        </p:nvGrpSpPr>
        <p:grpSpPr>
          <a:xfrm rot="0">
            <a:off x="243553" y="1429989"/>
            <a:ext cx="6264978" cy="8358860"/>
            <a:chOff x="0" y="0"/>
            <a:chExt cx="1943937" cy="2593640"/>
          </a:xfrm>
        </p:grpSpPr>
        <p:sp>
          <p:nvSpPr>
            <p:cNvPr name="Freeform 4" id="4"/>
            <p:cNvSpPr/>
            <p:nvPr/>
          </p:nvSpPr>
          <p:spPr>
            <a:xfrm flipH="false" flipV="false" rot="0">
              <a:off x="0" y="0"/>
              <a:ext cx="1943937" cy="2593640"/>
            </a:xfrm>
            <a:custGeom>
              <a:avLst/>
              <a:gdLst/>
              <a:ahLst/>
              <a:cxnLst/>
              <a:rect r="r" b="b" t="t" l="l"/>
              <a:pathLst>
                <a:path h="2593640" w="1943937">
                  <a:moveTo>
                    <a:pt x="33365" y="0"/>
                  </a:moveTo>
                  <a:lnTo>
                    <a:pt x="1910572" y="0"/>
                  </a:lnTo>
                  <a:cubicBezTo>
                    <a:pt x="1928999" y="0"/>
                    <a:pt x="1943937" y="14938"/>
                    <a:pt x="1943937" y="33365"/>
                  </a:cubicBezTo>
                  <a:lnTo>
                    <a:pt x="1943937" y="2560275"/>
                  </a:lnTo>
                  <a:cubicBezTo>
                    <a:pt x="1943937" y="2578702"/>
                    <a:pt x="1928999" y="2593640"/>
                    <a:pt x="1910572" y="2593640"/>
                  </a:cubicBezTo>
                  <a:lnTo>
                    <a:pt x="33365" y="2593640"/>
                  </a:lnTo>
                  <a:cubicBezTo>
                    <a:pt x="14938" y="2593640"/>
                    <a:pt x="0" y="2578702"/>
                    <a:pt x="0" y="2560275"/>
                  </a:cubicBezTo>
                  <a:lnTo>
                    <a:pt x="0" y="33365"/>
                  </a:lnTo>
                  <a:cubicBezTo>
                    <a:pt x="0" y="14938"/>
                    <a:pt x="14938" y="0"/>
                    <a:pt x="33365"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5" id="5"/>
            <p:cNvSpPr txBox="true"/>
            <p:nvPr/>
          </p:nvSpPr>
          <p:spPr>
            <a:xfrm>
              <a:off x="0" y="47625"/>
              <a:ext cx="1943937" cy="2546015"/>
            </a:xfrm>
            <a:prstGeom prst="rect">
              <a:avLst/>
            </a:prstGeom>
          </p:spPr>
          <p:txBody>
            <a:bodyPr anchor="ctr" rtlCol="false" tIns="50800" lIns="50800" bIns="50800" rIns="50800"/>
            <a:lstStyle/>
            <a:p>
              <a:pPr algn="l">
                <a:lnSpc>
                  <a:spcPts val="1924"/>
                </a:lnSpc>
              </a:pPr>
            </a:p>
          </p:txBody>
        </p:sp>
      </p:grpSp>
      <p:sp>
        <p:nvSpPr>
          <p:cNvPr name="TextBox 6" id="6"/>
          <p:cNvSpPr txBox="true"/>
          <p:nvPr/>
        </p:nvSpPr>
        <p:spPr>
          <a:xfrm rot="0">
            <a:off x="401700" y="1574653"/>
            <a:ext cx="3539581" cy="435701"/>
          </a:xfrm>
          <a:prstGeom prst="rect">
            <a:avLst/>
          </a:prstGeom>
        </p:spPr>
        <p:txBody>
          <a:bodyPr anchor="t" rtlCol="false" tIns="0" lIns="0" bIns="0" rIns="0">
            <a:spAutoFit/>
          </a:bodyPr>
          <a:lstStyle/>
          <a:p>
            <a:pPr algn="ctr">
              <a:lnSpc>
                <a:spcPts val="3565"/>
              </a:lnSpc>
              <a:spcBef>
                <a:spcPct val="0"/>
              </a:spcBef>
            </a:pPr>
            <a:r>
              <a:rPr lang="en-US" b="true" sz="2546">
                <a:solidFill>
                  <a:srgbClr val="FFFFFF"/>
                </a:solidFill>
                <a:latin typeface="Montserrat Bold"/>
                <a:ea typeface="Montserrat Bold"/>
                <a:cs typeface="Montserrat Bold"/>
                <a:sym typeface="Montserrat Bold"/>
              </a:rPr>
              <a:t>A. Dataset Overview:</a:t>
            </a:r>
          </a:p>
        </p:txBody>
      </p:sp>
      <p:sp>
        <p:nvSpPr>
          <p:cNvPr name="TextBox 7" id="7"/>
          <p:cNvSpPr txBox="true"/>
          <p:nvPr/>
        </p:nvSpPr>
        <p:spPr>
          <a:xfrm rot="0">
            <a:off x="385357" y="2038461"/>
            <a:ext cx="5419246" cy="844178"/>
          </a:xfrm>
          <a:prstGeom prst="rect">
            <a:avLst/>
          </a:prstGeom>
        </p:spPr>
        <p:txBody>
          <a:bodyPr anchor="t" rtlCol="false" tIns="0" lIns="0" bIns="0" rIns="0">
            <a:spAutoFit/>
          </a:bodyPr>
          <a:lstStyle/>
          <a:p>
            <a:pPr algn="l">
              <a:lnSpc>
                <a:spcPts val="2295"/>
              </a:lnSpc>
            </a:pPr>
            <a:r>
              <a:rPr lang="en-US" sz="1639">
                <a:solidFill>
                  <a:srgbClr val="FFFFFF"/>
                </a:solidFill>
                <a:latin typeface="Montserrat"/>
                <a:ea typeface="Montserrat"/>
                <a:cs typeface="Montserrat"/>
                <a:sym typeface="Montserrat"/>
              </a:rPr>
              <a:t>472,871 sessions · 1,188,124 pageviews · 32,313 orders</a:t>
            </a:r>
          </a:p>
          <a:p>
            <a:pPr algn="l">
              <a:lnSpc>
                <a:spcPts val="2295"/>
              </a:lnSpc>
            </a:pPr>
            <a:r>
              <a:rPr lang="en-US" sz="1639">
                <a:solidFill>
                  <a:srgbClr val="FFFFFF"/>
                </a:solidFill>
                <a:latin typeface="Montserrat"/>
                <a:ea typeface="Montserrat"/>
                <a:cs typeface="Montserrat"/>
                <a:sym typeface="Montserrat"/>
              </a:rPr>
              <a:t> 40,025 order items · 1,731 refunds · 4 products</a:t>
            </a:r>
          </a:p>
          <a:p>
            <a:pPr algn="l">
              <a:lnSpc>
                <a:spcPts val="2295"/>
              </a:lnSpc>
            </a:pPr>
            <a:r>
              <a:rPr lang="en-US" sz="1639">
                <a:solidFill>
                  <a:srgbClr val="FFFFFF"/>
                </a:solidFill>
                <a:latin typeface="Montserrat"/>
                <a:ea typeface="Montserrat"/>
                <a:cs typeface="Montserrat"/>
                <a:sym typeface="Montserrat"/>
              </a:rPr>
              <a:t>Data range: March 19, 2012 – March 19, 2015</a:t>
            </a:r>
          </a:p>
        </p:txBody>
      </p:sp>
      <p:sp>
        <p:nvSpPr>
          <p:cNvPr name="TextBox 8" id="8"/>
          <p:cNvSpPr txBox="true"/>
          <p:nvPr/>
        </p:nvSpPr>
        <p:spPr>
          <a:xfrm rot="0">
            <a:off x="264919" y="3357034"/>
            <a:ext cx="5660122" cy="1735883"/>
          </a:xfrm>
          <a:prstGeom prst="rect">
            <a:avLst/>
          </a:prstGeom>
        </p:spPr>
        <p:txBody>
          <a:bodyPr anchor="t" rtlCol="false" tIns="0" lIns="0" bIns="0" rIns="0">
            <a:spAutoFit/>
          </a:bodyPr>
          <a:lstStyle/>
          <a:p>
            <a:pPr algn="l" marL="354545" indent="-177273" lvl="1">
              <a:lnSpc>
                <a:spcPts val="2299"/>
              </a:lnSpc>
              <a:buFont typeface="Arial"/>
              <a:buChar char="•"/>
            </a:pPr>
            <a:r>
              <a:rPr lang="en-US" sz="1642" strike="noStrike" u="none">
                <a:solidFill>
                  <a:srgbClr val="FFFFFF"/>
                </a:solidFill>
                <a:latin typeface="Montserrat"/>
                <a:ea typeface="Montserrat"/>
                <a:cs typeface="Montserrat"/>
                <a:sym typeface="Montserrat"/>
              </a:rPr>
              <a:t>LOWER(TRIM()) applied to all text fields</a:t>
            </a:r>
          </a:p>
          <a:p>
            <a:pPr algn="l" marL="354545" indent="-177273" lvl="1">
              <a:lnSpc>
                <a:spcPts val="2299"/>
              </a:lnSpc>
              <a:buFont typeface="Arial"/>
              <a:buChar char="•"/>
            </a:pPr>
            <a:r>
              <a:rPr lang="en-US" sz="1642" strike="noStrike" u="none">
                <a:solidFill>
                  <a:srgbClr val="FFFFFF"/>
                </a:solidFill>
                <a:latin typeface="Montserrat"/>
                <a:ea typeface="Montserrat"/>
                <a:cs typeface="Montserrat"/>
                <a:sym typeface="Montserrat"/>
              </a:rPr>
              <a:t>Socialbook excluded — undocumented channel</a:t>
            </a:r>
          </a:p>
          <a:p>
            <a:pPr algn="l" marL="354545" indent="-177273" lvl="1">
              <a:lnSpc>
                <a:spcPts val="2299"/>
              </a:lnSpc>
              <a:buFont typeface="Arial"/>
              <a:buChar char="•"/>
            </a:pPr>
            <a:r>
              <a:rPr lang="en-US" sz="1642" strike="noStrike" u="none">
                <a:solidFill>
                  <a:srgbClr val="FFFFFF"/>
                </a:solidFill>
                <a:latin typeface="Montserrat"/>
                <a:ea typeface="Montserrat"/>
                <a:cs typeface="Montserrat"/>
                <a:sym typeface="Montserrat"/>
              </a:rPr>
              <a:t>price_usd &gt; 0 enforced in all order joins</a:t>
            </a:r>
          </a:p>
          <a:p>
            <a:pPr algn="l" marL="354545" indent="-177273" lvl="1">
              <a:lnSpc>
                <a:spcPts val="2299"/>
              </a:lnSpc>
              <a:buFont typeface="Arial"/>
              <a:buChar char="•"/>
            </a:pPr>
            <a:r>
              <a:rPr lang="en-US" sz="1642" strike="noStrike" u="none">
                <a:solidFill>
                  <a:srgbClr val="FFFFFF"/>
                </a:solidFill>
                <a:latin typeface="Montserrat"/>
                <a:ea typeface="Montserrat"/>
                <a:cs typeface="Montserrat"/>
                <a:sym typeface="Montserrat"/>
              </a:rPr>
              <a:t>product_id ≠ 99 enforced in all order_items queries</a:t>
            </a:r>
          </a:p>
          <a:p>
            <a:pPr algn="l" marL="354545" indent="-177273" lvl="1">
              <a:lnSpc>
                <a:spcPts val="2299"/>
              </a:lnSpc>
              <a:buFont typeface="Arial"/>
              <a:buChar char="•"/>
            </a:pPr>
            <a:r>
              <a:rPr lang="en-US" sz="1642" strike="noStrike" u="none">
                <a:solidFill>
                  <a:srgbClr val="FFFFFF"/>
                </a:solidFill>
                <a:latin typeface="Montserrat"/>
                <a:ea typeface="Montserrat"/>
                <a:cs typeface="Montserrat"/>
                <a:sym typeface="Montserrat"/>
              </a:rPr>
              <a:t>COALESCE(TRIM(http_referer)) for organic vs direct</a:t>
            </a:r>
          </a:p>
          <a:p>
            <a:pPr algn="l" marL="354545" indent="-177273" lvl="1">
              <a:lnSpc>
                <a:spcPts val="2299"/>
              </a:lnSpc>
              <a:buFont typeface="Arial"/>
              <a:buChar char="•"/>
            </a:pPr>
            <a:r>
              <a:rPr lang="en-US" sz="1642" strike="noStrike" u="none">
                <a:solidFill>
                  <a:srgbClr val="FFFFFF"/>
                </a:solidFill>
                <a:latin typeface="Montserrat"/>
                <a:ea typeface="Montserrat"/>
                <a:cs typeface="Montserrat"/>
                <a:sym typeface="Montserrat"/>
              </a:rPr>
              <a:t>34 records excluded (0.002%)</a:t>
            </a:r>
          </a:p>
        </p:txBody>
      </p:sp>
      <p:sp>
        <p:nvSpPr>
          <p:cNvPr name="TextBox 9" id="9"/>
          <p:cNvSpPr txBox="true"/>
          <p:nvPr/>
        </p:nvSpPr>
        <p:spPr>
          <a:xfrm rot="0">
            <a:off x="355122" y="2892163"/>
            <a:ext cx="4362831" cy="436296"/>
          </a:xfrm>
          <a:prstGeom prst="rect">
            <a:avLst/>
          </a:prstGeom>
        </p:spPr>
        <p:txBody>
          <a:bodyPr anchor="t" rtlCol="false" tIns="0" lIns="0" bIns="0" rIns="0">
            <a:spAutoFit/>
          </a:bodyPr>
          <a:lstStyle/>
          <a:p>
            <a:pPr algn="ctr" marL="0" indent="0" lvl="0">
              <a:lnSpc>
                <a:spcPts val="3570"/>
              </a:lnSpc>
              <a:spcBef>
                <a:spcPct val="0"/>
              </a:spcBef>
            </a:pPr>
            <a:r>
              <a:rPr lang="en-US" b="true" sz="2550" strike="noStrike" u="none">
                <a:solidFill>
                  <a:srgbClr val="FFFFFF"/>
                </a:solidFill>
                <a:latin typeface="Montserrat Bold"/>
                <a:ea typeface="Montserrat Bold"/>
                <a:cs typeface="Montserrat Bold"/>
                <a:sym typeface="Montserrat Bold"/>
              </a:rPr>
              <a:t>B. Data Quality Decisions:</a:t>
            </a:r>
          </a:p>
        </p:txBody>
      </p:sp>
      <p:grpSp>
        <p:nvGrpSpPr>
          <p:cNvPr name="Group 10" id="10"/>
          <p:cNvGrpSpPr/>
          <p:nvPr/>
        </p:nvGrpSpPr>
        <p:grpSpPr>
          <a:xfrm rot="0">
            <a:off x="6595434" y="2117844"/>
            <a:ext cx="11248973" cy="2421230"/>
            <a:chOff x="0" y="0"/>
            <a:chExt cx="3485064" cy="750125"/>
          </a:xfrm>
        </p:grpSpPr>
        <p:sp>
          <p:nvSpPr>
            <p:cNvPr name="Freeform 11" id="11"/>
            <p:cNvSpPr/>
            <p:nvPr/>
          </p:nvSpPr>
          <p:spPr>
            <a:xfrm flipH="false" flipV="false" rot="0">
              <a:off x="0" y="0"/>
              <a:ext cx="3485064" cy="750125"/>
            </a:xfrm>
            <a:custGeom>
              <a:avLst/>
              <a:gdLst/>
              <a:ahLst/>
              <a:cxnLst/>
              <a:rect r="r" b="b" t="t" l="l"/>
              <a:pathLst>
                <a:path h="750125" w="3485064">
                  <a:moveTo>
                    <a:pt x="18582" y="0"/>
                  </a:moveTo>
                  <a:lnTo>
                    <a:pt x="3466481" y="0"/>
                  </a:lnTo>
                  <a:cubicBezTo>
                    <a:pt x="3471410" y="0"/>
                    <a:pt x="3476136" y="1958"/>
                    <a:pt x="3479621" y="5443"/>
                  </a:cubicBezTo>
                  <a:cubicBezTo>
                    <a:pt x="3483106" y="8927"/>
                    <a:pt x="3485064" y="13654"/>
                    <a:pt x="3485064" y="18582"/>
                  </a:cubicBezTo>
                  <a:lnTo>
                    <a:pt x="3485064" y="731543"/>
                  </a:lnTo>
                  <a:cubicBezTo>
                    <a:pt x="3485064" y="736472"/>
                    <a:pt x="3483106" y="741198"/>
                    <a:pt x="3479621" y="744683"/>
                  </a:cubicBezTo>
                  <a:cubicBezTo>
                    <a:pt x="3476136" y="748168"/>
                    <a:pt x="3471410" y="750125"/>
                    <a:pt x="3466481" y="750125"/>
                  </a:cubicBezTo>
                  <a:lnTo>
                    <a:pt x="18582" y="750125"/>
                  </a:lnTo>
                  <a:cubicBezTo>
                    <a:pt x="8320" y="750125"/>
                    <a:pt x="0" y="741806"/>
                    <a:pt x="0" y="731543"/>
                  </a:cubicBezTo>
                  <a:lnTo>
                    <a:pt x="0" y="18582"/>
                  </a:lnTo>
                  <a:cubicBezTo>
                    <a:pt x="0" y="13654"/>
                    <a:pt x="1958" y="8927"/>
                    <a:pt x="5443" y="5443"/>
                  </a:cubicBezTo>
                  <a:cubicBezTo>
                    <a:pt x="8927" y="1958"/>
                    <a:pt x="13654" y="0"/>
                    <a:pt x="18582"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2" id="12"/>
            <p:cNvSpPr txBox="true"/>
            <p:nvPr/>
          </p:nvSpPr>
          <p:spPr>
            <a:xfrm>
              <a:off x="0" y="47625"/>
              <a:ext cx="3485064" cy="702500"/>
            </a:xfrm>
            <a:prstGeom prst="rect">
              <a:avLst/>
            </a:prstGeom>
          </p:spPr>
          <p:txBody>
            <a:bodyPr anchor="ctr" rtlCol="false" tIns="50800" lIns="50800" bIns="50800" rIns="50800"/>
            <a:lstStyle/>
            <a:p>
              <a:pPr algn="l" marL="0" indent="0" lvl="0">
                <a:lnSpc>
                  <a:spcPts val="1924"/>
                </a:lnSpc>
                <a:spcBef>
                  <a:spcPct val="0"/>
                </a:spcBef>
              </a:pPr>
            </a:p>
          </p:txBody>
        </p:sp>
      </p:grpSp>
      <p:grpSp>
        <p:nvGrpSpPr>
          <p:cNvPr name="Group 13" id="13"/>
          <p:cNvGrpSpPr/>
          <p:nvPr/>
        </p:nvGrpSpPr>
        <p:grpSpPr>
          <a:xfrm rot="0">
            <a:off x="6617747" y="5092917"/>
            <a:ext cx="11248973" cy="3492257"/>
            <a:chOff x="0" y="0"/>
            <a:chExt cx="3485064" cy="1081942"/>
          </a:xfrm>
        </p:grpSpPr>
        <p:sp>
          <p:nvSpPr>
            <p:cNvPr name="Freeform 14" id="14"/>
            <p:cNvSpPr/>
            <p:nvPr/>
          </p:nvSpPr>
          <p:spPr>
            <a:xfrm flipH="false" flipV="false" rot="0">
              <a:off x="0" y="0"/>
              <a:ext cx="3485064" cy="1081942"/>
            </a:xfrm>
            <a:custGeom>
              <a:avLst/>
              <a:gdLst/>
              <a:ahLst/>
              <a:cxnLst/>
              <a:rect r="r" b="b" t="t" l="l"/>
              <a:pathLst>
                <a:path h="1081942" w="3485064">
                  <a:moveTo>
                    <a:pt x="18582" y="0"/>
                  </a:moveTo>
                  <a:lnTo>
                    <a:pt x="3466481" y="0"/>
                  </a:lnTo>
                  <a:cubicBezTo>
                    <a:pt x="3471410" y="0"/>
                    <a:pt x="3476136" y="1958"/>
                    <a:pt x="3479621" y="5443"/>
                  </a:cubicBezTo>
                  <a:cubicBezTo>
                    <a:pt x="3483106" y="8927"/>
                    <a:pt x="3485064" y="13654"/>
                    <a:pt x="3485064" y="18582"/>
                  </a:cubicBezTo>
                  <a:lnTo>
                    <a:pt x="3485064" y="1063360"/>
                  </a:lnTo>
                  <a:cubicBezTo>
                    <a:pt x="3485064" y="1068288"/>
                    <a:pt x="3483106" y="1073015"/>
                    <a:pt x="3479621" y="1076500"/>
                  </a:cubicBezTo>
                  <a:cubicBezTo>
                    <a:pt x="3476136" y="1079985"/>
                    <a:pt x="3471410" y="1081942"/>
                    <a:pt x="3466481" y="1081942"/>
                  </a:cubicBezTo>
                  <a:lnTo>
                    <a:pt x="18582" y="1081942"/>
                  </a:lnTo>
                  <a:cubicBezTo>
                    <a:pt x="8320" y="1081942"/>
                    <a:pt x="0" y="1073623"/>
                    <a:pt x="0" y="1063360"/>
                  </a:cubicBezTo>
                  <a:lnTo>
                    <a:pt x="0" y="18582"/>
                  </a:lnTo>
                  <a:cubicBezTo>
                    <a:pt x="0" y="13654"/>
                    <a:pt x="1958" y="8927"/>
                    <a:pt x="5443" y="5443"/>
                  </a:cubicBezTo>
                  <a:cubicBezTo>
                    <a:pt x="8927" y="1958"/>
                    <a:pt x="13654" y="0"/>
                    <a:pt x="18582" y="0"/>
                  </a:cubicBezTo>
                  <a:close/>
                </a:path>
              </a:pathLst>
            </a:custGeom>
            <a:gradFill rotWithShape="true">
              <a:gsLst>
                <a:gs pos="0">
                  <a:srgbClr val="114664">
                    <a:alpha val="100000"/>
                  </a:srgbClr>
                </a:gs>
                <a:gs pos="100000">
                  <a:srgbClr val="071449">
                    <a:alpha val="100000"/>
                  </a:srgbClr>
                </a:gs>
              </a:gsLst>
              <a:lin ang="0"/>
            </a:gradFill>
            <a:ln w="19050" cap="rnd">
              <a:solidFill>
                <a:srgbClr val="FFFFFF"/>
              </a:solidFill>
              <a:prstDash val="solid"/>
              <a:round/>
            </a:ln>
          </p:spPr>
        </p:sp>
        <p:sp>
          <p:nvSpPr>
            <p:cNvPr name="TextBox 15" id="15"/>
            <p:cNvSpPr txBox="true"/>
            <p:nvPr/>
          </p:nvSpPr>
          <p:spPr>
            <a:xfrm>
              <a:off x="0" y="47625"/>
              <a:ext cx="3485064" cy="1034317"/>
            </a:xfrm>
            <a:prstGeom prst="rect">
              <a:avLst/>
            </a:prstGeom>
          </p:spPr>
          <p:txBody>
            <a:bodyPr anchor="ctr" rtlCol="false" tIns="50800" lIns="50800" bIns="50800" rIns="50800"/>
            <a:lstStyle/>
            <a:p>
              <a:pPr algn="l" marL="0" indent="0" lvl="0">
                <a:lnSpc>
                  <a:spcPts val="1924"/>
                </a:lnSpc>
                <a:spcBef>
                  <a:spcPct val="0"/>
                </a:spcBef>
              </a:pPr>
            </a:p>
          </p:txBody>
        </p:sp>
      </p:grpSp>
      <p:sp>
        <p:nvSpPr>
          <p:cNvPr name="TextBox 16" id="16"/>
          <p:cNvSpPr txBox="true"/>
          <p:nvPr/>
        </p:nvSpPr>
        <p:spPr>
          <a:xfrm rot="0">
            <a:off x="243553" y="5679421"/>
            <a:ext cx="6351881" cy="2027386"/>
          </a:xfrm>
          <a:prstGeom prst="rect">
            <a:avLst/>
          </a:prstGeom>
        </p:spPr>
        <p:txBody>
          <a:bodyPr anchor="t" rtlCol="false" tIns="0" lIns="0" bIns="0" rIns="0">
            <a:spAutoFit/>
          </a:bodyPr>
          <a:lstStyle/>
          <a:p>
            <a:pPr algn="l" marL="354545" indent="-177273" lvl="1">
              <a:lnSpc>
                <a:spcPts val="2299"/>
              </a:lnSpc>
              <a:buFont typeface="Arial"/>
              <a:buChar char="•"/>
            </a:pPr>
            <a:r>
              <a:rPr lang="en-US" sz="1642">
                <a:solidFill>
                  <a:srgbClr val="FFFFFF"/>
                </a:solidFill>
                <a:latin typeface="Montserrat"/>
                <a:ea typeface="Montserrat"/>
                <a:cs typeface="Montserrat"/>
                <a:sym typeface="Montserrat"/>
              </a:rPr>
              <a:t>Channel Resilience Score = (free + brand orders ÷ total orders) × 100</a:t>
            </a:r>
          </a:p>
          <a:p>
            <a:pPr algn="l" marL="354545" indent="-177273" lvl="1">
              <a:lnSpc>
                <a:spcPts val="2299"/>
              </a:lnSpc>
              <a:buFont typeface="Arial"/>
              <a:buChar char="•"/>
            </a:pPr>
            <a:r>
              <a:rPr lang="en-US" sz="1642">
                <a:solidFill>
                  <a:srgbClr val="FFFFFF"/>
                </a:solidFill>
                <a:latin typeface="Montserrat"/>
                <a:ea typeface="Montserrat"/>
                <a:cs typeface="Montserrat"/>
                <a:sym typeface="Montserrat"/>
              </a:rPr>
              <a:t>Funnel analysis: gsearch nonbrand from /lander-1, August 5, 2012 onwards</a:t>
            </a:r>
          </a:p>
          <a:p>
            <a:pPr algn="l" marL="354545" indent="-177273" lvl="1">
              <a:lnSpc>
                <a:spcPts val="2299"/>
              </a:lnSpc>
              <a:buFont typeface="Arial"/>
              <a:buChar char="•"/>
            </a:pPr>
            <a:r>
              <a:rPr lang="en-US" sz="1642">
                <a:solidFill>
                  <a:srgbClr val="FFFFFF"/>
                </a:solidFill>
                <a:latin typeface="Montserrat"/>
                <a:ea typeface="Montserrat"/>
                <a:cs typeface="Montserrat"/>
                <a:sym typeface="Montserrat"/>
              </a:rPr>
              <a:t>Cross-sell matrix: orders after December 5, 2014 only</a:t>
            </a:r>
          </a:p>
          <a:p>
            <a:pPr algn="l" marL="354545" indent="-177273" lvl="1">
              <a:lnSpc>
                <a:spcPts val="2299"/>
              </a:lnSpc>
              <a:buFont typeface="Arial"/>
              <a:buChar char="•"/>
            </a:pPr>
            <a:r>
              <a:rPr lang="en-US" sz="1642">
                <a:solidFill>
                  <a:srgbClr val="FFFFFF"/>
                </a:solidFill>
                <a:latin typeface="Montserrat"/>
                <a:ea typeface="Montserrat"/>
                <a:cs typeface="Montserrat"/>
                <a:sym typeface="Montserrat"/>
              </a:rPr>
              <a:t>LTV estimate: 2014 year-to-date, Socialbook excluded</a:t>
            </a:r>
          </a:p>
          <a:p>
            <a:pPr algn="l" marL="354545" indent="-177273" lvl="1">
              <a:lnSpc>
                <a:spcPts val="2299"/>
              </a:lnSpc>
              <a:buFont typeface="Arial"/>
              <a:buChar char="•"/>
            </a:pPr>
            <a:r>
              <a:rPr lang="en-US" sz="1642">
                <a:solidFill>
                  <a:srgbClr val="FFFFFF"/>
                </a:solidFill>
                <a:latin typeface="Montserrat"/>
                <a:ea typeface="Montserrat"/>
                <a:cs typeface="Montserrat"/>
                <a:sym typeface="Montserrat"/>
              </a:rPr>
              <a:t>Repeat visitor analysis: is_repeat_session flag</a:t>
            </a:r>
          </a:p>
        </p:txBody>
      </p:sp>
      <p:sp>
        <p:nvSpPr>
          <p:cNvPr name="TextBox 17" id="17"/>
          <p:cNvSpPr txBox="true"/>
          <p:nvPr/>
        </p:nvSpPr>
        <p:spPr>
          <a:xfrm rot="0">
            <a:off x="243553" y="5102442"/>
            <a:ext cx="4052153" cy="436296"/>
          </a:xfrm>
          <a:prstGeom prst="rect">
            <a:avLst/>
          </a:prstGeom>
        </p:spPr>
        <p:txBody>
          <a:bodyPr anchor="t" rtlCol="false" tIns="0" lIns="0" bIns="0" rIns="0">
            <a:spAutoFit/>
          </a:bodyPr>
          <a:lstStyle/>
          <a:p>
            <a:pPr algn="ctr" marL="0" indent="0" lvl="0">
              <a:lnSpc>
                <a:spcPts val="3570"/>
              </a:lnSpc>
              <a:spcBef>
                <a:spcPct val="0"/>
              </a:spcBef>
            </a:pPr>
            <a:r>
              <a:rPr lang="en-US" b="true" sz="2550">
                <a:solidFill>
                  <a:srgbClr val="FFFFFF"/>
                </a:solidFill>
                <a:latin typeface="Montserrat Bold"/>
                <a:ea typeface="Montserrat Bold"/>
                <a:cs typeface="Montserrat Bold"/>
                <a:sym typeface="Montserrat Bold"/>
              </a:rPr>
              <a:t>C</a:t>
            </a:r>
            <a:r>
              <a:rPr lang="en-US" b="true" sz="2550" strike="noStrike" u="none">
                <a:solidFill>
                  <a:srgbClr val="FFFFFF"/>
                </a:solidFill>
                <a:latin typeface="Montserrat Bold"/>
                <a:ea typeface="Montserrat Bold"/>
                <a:cs typeface="Montserrat Bold"/>
                <a:sym typeface="Montserrat Bold"/>
              </a:rPr>
              <a:t>. Methodology Notes:</a:t>
            </a:r>
          </a:p>
        </p:txBody>
      </p:sp>
      <p:sp>
        <p:nvSpPr>
          <p:cNvPr name="TextBox 18" id="18"/>
          <p:cNvSpPr txBox="true"/>
          <p:nvPr/>
        </p:nvSpPr>
        <p:spPr>
          <a:xfrm rot="0">
            <a:off x="6798575" y="2777653"/>
            <a:ext cx="11290858" cy="1547580"/>
          </a:xfrm>
          <a:prstGeom prst="rect">
            <a:avLst/>
          </a:prstGeom>
        </p:spPr>
        <p:txBody>
          <a:bodyPr anchor="t" rtlCol="false" tIns="0" lIns="0" bIns="0" rIns="0">
            <a:spAutoFit/>
          </a:bodyPr>
          <a:lstStyle/>
          <a:p>
            <a:pPr algn="l">
              <a:lnSpc>
                <a:spcPts val="2451"/>
              </a:lnSpc>
              <a:spcBef>
                <a:spcPct val="0"/>
              </a:spcBef>
            </a:pPr>
            <a:r>
              <a:rPr lang="en-US" sz="1750">
                <a:solidFill>
                  <a:srgbClr val="FFFFFF"/>
                </a:solidFill>
                <a:latin typeface="Montserrat"/>
                <a:ea typeface="Montserrat"/>
                <a:cs typeface="Montserrat"/>
                <a:sym typeface="Montserrat"/>
              </a:rPr>
              <a:t>·</a:t>
            </a:r>
            <a:r>
              <a:rPr lang="en-US" sz="1750">
                <a:solidFill>
                  <a:srgbClr val="FFFFFF"/>
                </a:solidFill>
                <a:latin typeface="Montserrat"/>
                <a:ea typeface="Montserrat"/>
                <a:cs typeface="Montserrat"/>
                <a:sym typeface="Montserrat"/>
              </a:rPr>
              <a:t>challenge_01_data_quality.sql                                           ·challenge_02_the_growth_story.sql </a:t>
            </a:r>
          </a:p>
          <a:p>
            <a:pPr algn="l">
              <a:lnSpc>
                <a:spcPts val="2451"/>
              </a:lnSpc>
              <a:spcBef>
                <a:spcPct val="0"/>
              </a:spcBef>
            </a:pPr>
            <a:r>
              <a:rPr lang="en-US" sz="1750">
                <a:solidFill>
                  <a:srgbClr val="FFFFFF"/>
                </a:solidFill>
                <a:latin typeface="Montserrat"/>
                <a:ea typeface="Montserrat"/>
                <a:cs typeface="Montserrat"/>
                <a:sym typeface="Montserrat"/>
              </a:rPr>
              <a:t>·challenge_03_04_efficiency_resilience_FINAL.sql      ·challenge_05_conversion_funnel.sql</a:t>
            </a:r>
          </a:p>
          <a:p>
            <a:pPr algn="l">
              <a:lnSpc>
                <a:spcPts val="2451"/>
              </a:lnSpc>
              <a:spcBef>
                <a:spcPct val="0"/>
              </a:spcBef>
            </a:pPr>
            <a:r>
              <a:rPr lang="en-US" sz="1750">
                <a:solidFill>
                  <a:srgbClr val="FFFFFF"/>
                </a:solidFill>
                <a:latin typeface="Montserrat"/>
                <a:ea typeface="Montserrat"/>
                <a:cs typeface="Montserrat"/>
                <a:sym typeface="Montserrat"/>
              </a:rPr>
              <a:t>·challenge_06_website_AB_test_roi.sql                          ·challenge_07_ Product_Performance.sql </a:t>
            </a:r>
          </a:p>
          <a:p>
            <a:pPr algn="l">
              <a:lnSpc>
                <a:spcPts val="2451"/>
              </a:lnSpc>
              <a:spcBef>
                <a:spcPct val="0"/>
              </a:spcBef>
            </a:pPr>
            <a:r>
              <a:rPr lang="en-US" sz="1750">
                <a:solidFill>
                  <a:srgbClr val="FFFFFF"/>
                </a:solidFill>
                <a:latin typeface="Montserrat"/>
                <a:ea typeface="Montserrat"/>
                <a:cs typeface="Montserrat"/>
                <a:sym typeface="Montserrat"/>
              </a:rPr>
              <a:t>·challenge_08_cross_sell_analysis.sql                             ·challenge_09_repeat_customer_behaviour.sql</a:t>
            </a:r>
          </a:p>
          <a:p>
            <a:pPr algn="l">
              <a:lnSpc>
                <a:spcPts val="2451"/>
              </a:lnSpc>
              <a:spcBef>
                <a:spcPct val="0"/>
              </a:spcBef>
            </a:pPr>
            <a:r>
              <a:rPr lang="en-US" sz="1750">
                <a:solidFill>
                  <a:srgbClr val="FFFFFF"/>
                </a:solidFill>
                <a:latin typeface="Montserrat"/>
                <a:ea typeface="Montserrat"/>
                <a:cs typeface="Montserrat"/>
                <a:sym typeface="Montserrat"/>
              </a:rPr>
              <a:t> ·MavenFuzzyFactory.pptx                                                  ·View.sql                                                    </a:t>
            </a:r>
          </a:p>
        </p:txBody>
      </p:sp>
      <p:sp>
        <p:nvSpPr>
          <p:cNvPr name="TextBox 19" id="19"/>
          <p:cNvSpPr txBox="true"/>
          <p:nvPr/>
        </p:nvSpPr>
        <p:spPr>
          <a:xfrm rot="0">
            <a:off x="6798575" y="2279621"/>
            <a:ext cx="3693170" cy="514350"/>
          </a:xfrm>
          <a:prstGeom prst="rect">
            <a:avLst/>
          </a:prstGeom>
        </p:spPr>
        <p:txBody>
          <a:bodyPr anchor="t" rtlCol="false" tIns="0" lIns="0" bIns="0" rIns="0">
            <a:spAutoFit/>
          </a:bodyPr>
          <a:lstStyle/>
          <a:p>
            <a:pPr algn="ctr" marL="0" indent="0" lvl="0">
              <a:lnSpc>
                <a:spcPts val="4200"/>
              </a:lnSpc>
              <a:spcBef>
                <a:spcPct val="0"/>
              </a:spcBef>
            </a:pPr>
            <a:r>
              <a:rPr lang="en-US" b="true" sz="3000">
                <a:solidFill>
                  <a:srgbClr val="FFFFFF"/>
                </a:solidFill>
                <a:latin typeface="Montserrat Bold"/>
                <a:ea typeface="Montserrat Bold"/>
                <a:cs typeface="Montserrat Bold"/>
                <a:sym typeface="Montserrat Bold"/>
              </a:rPr>
              <a:t>E</a:t>
            </a:r>
            <a:r>
              <a:rPr lang="en-US" b="true" sz="3000" strike="noStrike" u="none">
                <a:solidFill>
                  <a:srgbClr val="FFFFFF"/>
                </a:solidFill>
                <a:latin typeface="Montserrat Bold"/>
                <a:ea typeface="Montserrat Bold"/>
                <a:cs typeface="Montserrat Bold"/>
                <a:sym typeface="Montserrat Bold"/>
              </a:rPr>
              <a:t>. Files Submitted:</a:t>
            </a:r>
          </a:p>
        </p:txBody>
      </p:sp>
      <p:sp>
        <p:nvSpPr>
          <p:cNvPr name="TextBox 20" id="20"/>
          <p:cNvSpPr txBox="true"/>
          <p:nvPr/>
        </p:nvSpPr>
        <p:spPr>
          <a:xfrm rot="0">
            <a:off x="355122" y="8239396"/>
            <a:ext cx="5383502" cy="1151157"/>
          </a:xfrm>
          <a:prstGeom prst="rect">
            <a:avLst/>
          </a:prstGeom>
        </p:spPr>
        <p:txBody>
          <a:bodyPr anchor="t" rtlCol="false" tIns="0" lIns="0" bIns="0" rIns="0">
            <a:spAutoFit/>
          </a:bodyPr>
          <a:lstStyle/>
          <a:p>
            <a:pPr algn="l">
              <a:lnSpc>
                <a:spcPts val="2295"/>
              </a:lnSpc>
            </a:pPr>
            <a:r>
              <a:rPr lang="en-US" sz="1639" strike="noStrike" u="none">
                <a:solidFill>
                  <a:srgbClr val="FFFFFF"/>
                </a:solidFill>
                <a:latin typeface="Montserrat"/>
                <a:ea typeface="Montserrat"/>
                <a:cs typeface="Montserrat"/>
                <a:sym typeface="Montserrat"/>
              </a:rPr>
              <a:t>Customer Acquisition Cost (CPC/CPM by channel) — would enable true CAC payback period, LTV-to-CAC ratio, and sharper budget allocation. The single most valuable missing input.</a:t>
            </a:r>
          </a:p>
        </p:txBody>
      </p:sp>
      <p:sp>
        <p:nvSpPr>
          <p:cNvPr name="TextBox 21" id="21"/>
          <p:cNvSpPr txBox="true"/>
          <p:nvPr/>
        </p:nvSpPr>
        <p:spPr>
          <a:xfrm rot="0">
            <a:off x="385357" y="7797738"/>
            <a:ext cx="5172635" cy="298783"/>
          </a:xfrm>
          <a:prstGeom prst="rect">
            <a:avLst/>
          </a:prstGeom>
        </p:spPr>
        <p:txBody>
          <a:bodyPr anchor="t" rtlCol="false" tIns="0" lIns="0" bIns="0" rIns="0">
            <a:spAutoFit/>
          </a:bodyPr>
          <a:lstStyle/>
          <a:p>
            <a:pPr algn="ctr">
              <a:lnSpc>
                <a:spcPts val="2486"/>
              </a:lnSpc>
              <a:spcBef>
                <a:spcPct val="0"/>
              </a:spcBef>
            </a:pPr>
            <a:r>
              <a:rPr lang="en-US" b="true" sz="1775">
                <a:solidFill>
                  <a:srgbClr val="FFFFFF"/>
                </a:solidFill>
                <a:latin typeface="DM Sans Bold"/>
                <a:ea typeface="DM Sans Bold"/>
                <a:cs typeface="DM Sans Bold"/>
                <a:sym typeface="DM Sans Bold"/>
              </a:rPr>
              <a:t>D</a:t>
            </a:r>
            <a:r>
              <a:rPr lang="en-US" b="true" sz="1775">
                <a:solidFill>
                  <a:srgbClr val="FFFFFF"/>
                </a:solidFill>
                <a:latin typeface="DM Sans Bold"/>
                <a:ea typeface="DM Sans Bold"/>
                <a:cs typeface="DM Sans Bold"/>
                <a:sym typeface="DM Sans Bold"/>
              </a:rPr>
              <a:t>. What One Dataset Would Change Everything:</a:t>
            </a:r>
          </a:p>
        </p:txBody>
      </p:sp>
      <p:grpSp>
        <p:nvGrpSpPr>
          <p:cNvPr name="Group 22" id="22"/>
          <p:cNvGrpSpPr/>
          <p:nvPr/>
        </p:nvGrpSpPr>
        <p:grpSpPr>
          <a:xfrm rot="0">
            <a:off x="13682292" y="9005611"/>
            <a:ext cx="99352" cy="451635"/>
            <a:chOff x="0" y="0"/>
            <a:chExt cx="26167" cy="118949"/>
          </a:xfrm>
        </p:grpSpPr>
        <p:sp>
          <p:nvSpPr>
            <p:cNvPr name="Freeform 23" id="23"/>
            <p:cNvSpPr/>
            <p:nvPr/>
          </p:nvSpPr>
          <p:spPr>
            <a:xfrm flipH="false" flipV="false" rot="0">
              <a:off x="0" y="0"/>
              <a:ext cx="26167" cy="118949"/>
            </a:xfrm>
            <a:custGeom>
              <a:avLst/>
              <a:gdLst/>
              <a:ahLst/>
              <a:cxnLst/>
              <a:rect r="r" b="b" t="t" l="l"/>
              <a:pathLst>
                <a:path h="118949" w="26167">
                  <a:moveTo>
                    <a:pt x="0" y="0"/>
                  </a:moveTo>
                  <a:lnTo>
                    <a:pt x="26167" y="0"/>
                  </a:lnTo>
                  <a:lnTo>
                    <a:pt x="26167" y="118949"/>
                  </a:lnTo>
                  <a:lnTo>
                    <a:pt x="0" y="118949"/>
                  </a:lnTo>
                  <a:close/>
                </a:path>
              </a:pathLst>
            </a:custGeom>
            <a:solidFill>
              <a:srgbClr val="B7E6F3"/>
            </a:solidFill>
          </p:spPr>
        </p:sp>
        <p:sp>
          <p:nvSpPr>
            <p:cNvPr name="TextBox 24" id="24"/>
            <p:cNvSpPr txBox="true"/>
            <p:nvPr/>
          </p:nvSpPr>
          <p:spPr>
            <a:xfrm>
              <a:off x="0" y="47625"/>
              <a:ext cx="26167" cy="71324"/>
            </a:xfrm>
            <a:prstGeom prst="rect">
              <a:avLst/>
            </a:prstGeom>
          </p:spPr>
          <p:txBody>
            <a:bodyPr anchor="ctr" rtlCol="false" tIns="50800" lIns="50800" bIns="50800" rIns="50800"/>
            <a:lstStyle/>
            <a:p>
              <a:pPr algn="ctr">
                <a:lnSpc>
                  <a:spcPts val="1924"/>
                </a:lnSpc>
              </a:pPr>
            </a:p>
          </p:txBody>
        </p:sp>
      </p:grpSp>
      <p:sp>
        <p:nvSpPr>
          <p:cNvPr name="TextBox 25" id="25"/>
          <p:cNvSpPr txBox="true"/>
          <p:nvPr/>
        </p:nvSpPr>
        <p:spPr>
          <a:xfrm rot="0">
            <a:off x="13934389" y="9166094"/>
            <a:ext cx="2773437" cy="471476"/>
          </a:xfrm>
          <a:prstGeom prst="rect">
            <a:avLst/>
          </a:prstGeom>
        </p:spPr>
        <p:txBody>
          <a:bodyPr anchor="t" rtlCol="false" tIns="0" lIns="0" bIns="0" rIns="0">
            <a:spAutoFit/>
          </a:bodyPr>
          <a:lstStyle/>
          <a:p>
            <a:pPr algn="l">
              <a:lnSpc>
                <a:spcPts val="1777"/>
              </a:lnSpc>
            </a:pPr>
            <a:r>
              <a:rPr lang="en-US" sz="1931">
                <a:solidFill>
                  <a:srgbClr val="FFFFFF"/>
                </a:solidFill>
                <a:latin typeface="Montserrat"/>
                <a:ea typeface="Montserrat"/>
                <a:cs typeface="Montserrat"/>
                <a:sym typeface="Montserrat"/>
              </a:rPr>
              <a:t>MavenFuzzyFactory</a:t>
            </a:r>
          </a:p>
          <a:p>
            <a:pPr algn="l">
              <a:lnSpc>
                <a:spcPts val="1777"/>
              </a:lnSpc>
            </a:pPr>
          </a:p>
        </p:txBody>
      </p:sp>
      <p:sp>
        <p:nvSpPr>
          <p:cNvPr name="TextBox 26" id="26"/>
          <p:cNvSpPr txBox="true"/>
          <p:nvPr/>
        </p:nvSpPr>
        <p:spPr>
          <a:xfrm rot="0">
            <a:off x="16537614" y="9200969"/>
            <a:ext cx="1329106" cy="246421"/>
          </a:xfrm>
          <a:prstGeom prst="rect">
            <a:avLst/>
          </a:prstGeom>
        </p:spPr>
        <p:txBody>
          <a:bodyPr anchor="t" rtlCol="false" tIns="0" lIns="0" bIns="0" rIns="0">
            <a:spAutoFit/>
          </a:bodyPr>
          <a:lstStyle/>
          <a:p>
            <a:pPr algn="l">
              <a:lnSpc>
                <a:spcPts val="1777"/>
              </a:lnSpc>
            </a:pPr>
            <a:r>
              <a:rPr lang="en-US" sz="1931" b="true">
                <a:solidFill>
                  <a:srgbClr val="B7E6F3"/>
                </a:solidFill>
                <a:latin typeface="Montserrat Heavy"/>
                <a:ea typeface="Montserrat Heavy"/>
                <a:cs typeface="Montserrat Heavy"/>
                <a:sym typeface="Montserrat Heavy"/>
              </a:rPr>
              <a:t>Analysis</a:t>
            </a:r>
          </a:p>
        </p:txBody>
      </p:sp>
      <p:sp>
        <p:nvSpPr>
          <p:cNvPr name="TextBox 27" id="27"/>
          <p:cNvSpPr txBox="true"/>
          <p:nvPr/>
        </p:nvSpPr>
        <p:spPr>
          <a:xfrm rot="0">
            <a:off x="14249179" y="9447389"/>
            <a:ext cx="2958227" cy="341459"/>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Montserrat"/>
                <a:ea typeface="Montserrat"/>
                <a:cs typeface="Montserrat"/>
                <a:sym typeface="Montserrat"/>
              </a:rPr>
              <a:t>All Challenges - page 19 </a:t>
            </a:r>
          </a:p>
        </p:txBody>
      </p:sp>
      <p:sp>
        <p:nvSpPr>
          <p:cNvPr name="TextBox 28" id="28"/>
          <p:cNvSpPr txBox="true"/>
          <p:nvPr/>
        </p:nvSpPr>
        <p:spPr>
          <a:xfrm rot="0">
            <a:off x="6798575" y="5332090"/>
            <a:ext cx="10423412" cy="2966287"/>
          </a:xfrm>
          <a:prstGeom prst="rect">
            <a:avLst/>
          </a:prstGeom>
        </p:spPr>
        <p:txBody>
          <a:bodyPr anchor="t" rtlCol="false" tIns="0" lIns="0" bIns="0" rIns="0">
            <a:spAutoFit/>
          </a:bodyPr>
          <a:lstStyle/>
          <a:p>
            <a:pPr algn="ctr">
              <a:lnSpc>
                <a:spcPts val="2928"/>
              </a:lnSpc>
              <a:spcBef>
                <a:spcPct val="0"/>
              </a:spcBef>
            </a:pPr>
            <a:r>
              <a:rPr lang="en-US" sz="2092">
                <a:solidFill>
                  <a:srgbClr val="FFFFFF"/>
                </a:solidFill>
                <a:latin typeface="DM Sans"/>
                <a:ea typeface="DM Sans"/>
                <a:cs typeface="DM Sans"/>
                <a:sym typeface="DM Sans"/>
              </a:rPr>
              <a:t>During the data preparation phase, several data quality issues were identified and resolved. These included duplicate sessions, orders with zero or negative prices, invalid timestamps where pageviews occurred before sessions, and orphan product IDs not present in the products table. A total of 34 records (0.002% of the dataset) were removed. Additionally, text fields were standardized using LOWER(TRIM()). These steps ensured the dataset is clean, consistent, and reliable for analysis.</a:t>
            </a:r>
          </a:p>
          <a:p>
            <a:pPr algn="ctr">
              <a:lnSpc>
                <a:spcPts val="2928"/>
              </a:lnSpc>
              <a:spcBef>
                <a:spcPct val="0"/>
              </a:spcBef>
            </a:pPr>
            <a:r>
              <a:rPr lang="en-US" b="true" sz="2092">
                <a:solidFill>
                  <a:srgbClr val="FFFFFF"/>
                </a:solidFill>
                <a:latin typeface="DM Sans Bold"/>
                <a:ea typeface="DM Sans Bold"/>
                <a:cs typeface="DM Sans Bold"/>
                <a:sym typeface="DM Sans Bold"/>
              </a:rPr>
              <a:t>All charts are generated from SQL queries and views, ensuring consistency and reproducibility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4664">
                <a:alpha val="100000"/>
              </a:srgbClr>
            </a:gs>
            <a:gs pos="100000">
              <a:srgbClr val="07144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578288" y="2591917"/>
            <a:ext cx="12611837" cy="3921135"/>
          </a:xfrm>
          <a:custGeom>
            <a:avLst/>
            <a:gdLst/>
            <a:ahLst/>
            <a:cxnLst/>
            <a:rect r="r" b="b" t="t" l="l"/>
            <a:pathLst>
              <a:path h="3921135" w="12611837">
                <a:moveTo>
                  <a:pt x="0" y="0"/>
                </a:moveTo>
                <a:lnTo>
                  <a:pt x="12611837" y="0"/>
                </a:lnTo>
                <a:lnTo>
                  <a:pt x="12611837" y="3921134"/>
                </a:lnTo>
                <a:lnTo>
                  <a:pt x="0" y="3921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56576" y="7310298"/>
            <a:ext cx="5296051" cy="1635156"/>
          </a:xfrm>
          <a:custGeom>
            <a:avLst/>
            <a:gdLst/>
            <a:ahLst/>
            <a:cxnLst/>
            <a:rect r="r" b="b" t="t" l="l"/>
            <a:pathLst>
              <a:path h="1635156" w="5296051">
                <a:moveTo>
                  <a:pt x="0" y="0"/>
                </a:moveTo>
                <a:lnTo>
                  <a:pt x="5296050" y="0"/>
                </a:lnTo>
                <a:lnTo>
                  <a:pt x="5296050" y="1635156"/>
                </a:lnTo>
                <a:lnTo>
                  <a:pt x="0" y="1635156"/>
                </a:lnTo>
                <a:lnTo>
                  <a:pt x="0" y="0"/>
                </a:lnTo>
                <a:close/>
              </a:path>
            </a:pathLst>
          </a:custGeom>
          <a:blipFill>
            <a:blip r:embed="rId4"/>
            <a:stretch>
              <a:fillRect l="0" t="0" r="0" b="0"/>
            </a:stretch>
          </a:blipFill>
        </p:spPr>
      </p:sp>
      <p:sp>
        <p:nvSpPr>
          <p:cNvPr name="TextBox 4" id="4"/>
          <p:cNvSpPr txBox="true"/>
          <p:nvPr/>
        </p:nvSpPr>
        <p:spPr>
          <a:xfrm rot="0">
            <a:off x="3786442" y="6114357"/>
            <a:ext cx="10715116" cy="1108912"/>
          </a:xfrm>
          <a:prstGeom prst="rect">
            <a:avLst/>
          </a:prstGeom>
        </p:spPr>
        <p:txBody>
          <a:bodyPr anchor="t" rtlCol="false" tIns="0" lIns="0" bIns="0" rIns="0">
            <a:spAutoFit/>
          </a:bodyPr>
          <a:lstStyle/>
          <a:p>
            <a:pPr algn="ctr">
              <a:lnSpc>
                <a:spcPts val="2928"/>
              </a:lnSpc>
              <a:spcBef>
                <a:spcPct val="0"/>
              </a:spcBef>
            </a:pPr>
            <a:r>
              <a:rPr lang="en-US" sz="2092">
                <a:solidFill>
                  <a:srgbClr val="FFFFFF"/>
                </a:solidFill>
                <a:latin typeface="DM Sans"/>
                <a:ea typeface="DM Sans"/>
                <a:cs typeface="DM Sans"/>
                <a:sym typeface="DM Sans"/>
              </a:rPr>
              <a:t>Every number in this deck is sourced from clean, audited data and every recommendation traces back to a confirmed result. </a:t>
            </a:r>
          </a:p>
          <a:p>
            <a:pPr algn="ctr">
              <a:lnSpc>
                <a:spcPts val="2928"/>
              </a:lnSpc>
              <a:spcBef>
                <a:spcPct val="0"/>
              </a:spcBef>
            </a:pPr>
            <a:r>
              <a:rPr lang="en-US" sz="2092">
                <a:solidFill>
                  <a:srgbClr val="FFFFFF"/>
                </a:solidFill>
                <a:latin typeface="DM Sans"/>
                <a:ea typeface="DM Sans"/>
                <a:cs typeface="DM Sans"/>
                <a:sym typeface="DM Sans"/>
              </a:rPr>
              <a:t>We are ready for your questions.</a:t>
            </a:r>
          </a:p>
        </p:txBody>
      </p:sp>
      <p:sp>
        <p:nvSpPr>
          <p:cNvPr name="TextBox 5" id="5"/>
          <p:cNvSpPr txBox="true"/>
          <p:nvPr/>
        </p:nvSpPr>
        <p:spPr>
          <a:xfrm rot="0">
            <a:off x="6702485" y="8823790"/>
            <a:ext cx="4363444" cy="224277"/>
          </a:xfrm>
          <a:prstGeom prst="rect">
            <a:avLst/>
          </a:prstGeom>
        </p:spPr>
        <p:txBody>
          <a:bodyPr anchor="t" rtlCol="false" tIns="0" lIns="0" bIns="0" rIns="0">
            <a:spAutoFit/>
          </a:bodyPr>
          <a:lstStyle/>
          <a:p>
            <a:pPr algn="ctr">
              <a:lnSpc>
                <a:spcPts val="1888"/>
              </a:lnSpc>
              <a:spcBef>
                <a:spcPct val="0"/>
              </a:spcBef>
            </a:pPr>
            <a:r>
              <a:rPr lang="en-US" sz="1348">
                <a:solidFill>
                  <a:srgbClr val="FFFFFF"/>
                </a:solidFill>
                <a:latin typeface="DM Sans"/>
                <a:ea typeface="DM Sans"/>
                <a:cs typeface="DM Sans"/>
                <a:sym typeface="DM Sans"/>
              </a:rPr>
              <a:t>Zesto Team | MavenFuzzyFactory Analysis | March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DAHE5jxGSOI</dc:identifier>
  <dcterms:modified xsi:type="dcterms:W3CDTF">2011-08-01T06:04:30Z</dcterms:modified>
  <cp:revision>1</cp:revision>
  <dc:title>MavenFuzzyFactory</dc:title>
</cp:coreProperties>
</file>